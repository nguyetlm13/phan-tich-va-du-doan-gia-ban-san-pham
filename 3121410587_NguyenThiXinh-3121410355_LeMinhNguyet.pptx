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x="18288000" cy="10287000"/>
  <p:notesSz cx="6858000" cy="9144000"/>
  <p:embeddedFontLst>
    <p:embeddedFont>
      <p:font typeface="Cormorant Garamond Bold" charset="1" panose="00000800000000000000"/>
      <p:regular r:id="rId74"/>
    </p:embeddedFont>
    <p:embeddedFont>
      <p:font typeface="Nunito Ultra-Bold" charset="1" panose="00000000000000000000"/>
      <p:regular r:id="rId75"/>
    </p:embeddedFont>
    <p:embeddedFont>
      <p:font typeface="Noto Serif Display" charset="1" panose="02020502080505020204"/>
      <p:regular r:id="rId76"/>
    </p:embeddedFont>
    <p:embeddedFont>
      <p:font typeface="Inter" charset="1" panose="020B0502030000000004"/>
      <p:regular r:id="rId77"/>
    </p:embeddedFont>
    <p:embeddedFont>
      <p:font typeface="Inter Bold" charset="1" panose="020B0802030000000004"/>
      <p:regular r:id="rId78"/>
    </p:embeddedFont>
    <p:embeddedFont>
      <p:font typeface="Inter Italics" charset="1" panose="020B0502030000000004"/>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jpeg" Type="http://schemas.openxmlformats.org/officeDocument/2006/relationships/image"/><Relationship Id="rId11"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16" Target="../media/image22.png" Type="http://schemas.openxmlformats.org/officeDocument/2006/relationships/image"/><Relationship Id="rId17" Target="../media/image23.svg" Type="http://schemas.openxmlformats.org/officeDocument/2006/relationships/image"/><Relationship Id="rId18" Target="../media/image24.png" Type="http://schemas.openxmlformats.org/officeDocument/2006/relationships/image"/><Relationship Id="rId19" Target="../media/image25.svg" Type="http://schemas.openxmlformats.org/officeDocument/2006/relationships/image"/><Relationship Id="rId2" Target="../media/image1.png" Type="http://schemas.openxmlformats.org/officeDocument/2006/relationships/image"/><Relationship Id="rId20" Target="../media/image26.png" Type="http://schemas.openxmlformats.org/officeDocument/2006/relationships/image"/><Relationship Id="rId21" Target="../media/image27.png" Type="http://schemas.openxmlformats.org/officeDocument/2006/relationships/image"/><Relationship Id="rId22" Target="../media/image28.png" Type="http://schemas.openxmlformats.org/officeDocument/2006/relationships/image"/><Relationship Id="rId23" Target="../media/image29.png" Type="http://schemas.openxmlformats.org/officeDocument/2006/relationships/image"/><Relationship Id="rId24" Target="../media/image30.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4.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42.png" Type="http://schemas.openxmlformats.org/officeDocument/2006/relationships/image"/><Relationship Id="rId7"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41.png" Type="http://schemas.openxmlformats.org/officeDocument/2006/relationships/image"/><Relationship Id="rId7" Target="../media/image4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6.png" Type="http://schemas.openxmlformats.org/officeDocument/2006/relationships/image"/><Relationship Id="rId7" Target="../media/image4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7.png" Type="http://schemas.openxmlformats.org/officeDocument/2006/relationships/image"/><Relationship Id="rId7" Target="../media/image4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7.png" Type="http://schemas.openxmlformats.org/officeDocument/2006/relationships/image"/><Relationship Id="rId7" Target="../media/image5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8.png" Type="http://schemas.openxmlformats.org/officeDocument/2006/relationships/image"/><Relationship Id="rId7" Target="../media/image5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8.png" Type="http://schemas.openxmlformats.org/officeDocument/2006/relationships/image"/><Relationship Id="rId7" Target="../media/image6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0.png" Type="http://schemas.openxmlformats.org/officeDocument/2006/relationships/image"/><Relationship Id="rId7" Target="../media/image7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2.png" Type="http://schemas.openxmlformats.org/officeDocument/2006/relationships/image"/><Relationship Id="rId7" Target="../media/image7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4.png" Type="http://schemas.openxmlformats.org/officeDocument/2006/relationships/image"/><Relationship Id="rId7" Target="../media/image7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6.png" Type="http://schemas.openxmlformats.org/officeDocument/2006/relationships/image"/><Relationship Id="rId7" Target="../media/image77.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8.png" Type="http://schemas.openxmlformats.org/officeDocument/2006/relationships/image"/><Relationship Id="rId7" Target="../media/image79.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0.png" Type="http://schemas.openxmlformats.org/officeDocument/2006/relationships/image"/><Relationship Id="rId7" Target="../media/image8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3.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4.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5.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7.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8.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9.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0.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1.png" Type="http://schemas.openxmlformats.org/officeDocument/2006/relationships/image"/><Relationship Id="rId7" Target="../media/image92.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3.png" Type="http://schemas.openxmlformats.org/officeDocument/2006/relationships/image"/><Relationship Id="rId7" Target="../media/image92.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4.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5.png" Type="http://schemas.openxmlformats.org/officeDocument/2006/relationships/image"/><Relationship Id="rId7" Target="../media/image96.svg" Type="http://schemas.openxmlformats.org/officeDocument/2006/relationships/image"/><Relationship Id="rId8" Target="../media/image30.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7.png" Type="http://schemas.openxmlformats.org/officeDocument/2006/relationships/image"/><Relationship Id="rId9" Target="../media/image98.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9.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0.png" Type="http://schemas.openxmlformats.org/officeDocument/2006/relationships/image"/><Relationship Id="rId7" Target="../media/image101.svg" Type="http://schemas.openxmlformats.org/officeDocument/2006/relationships/image"/><Relationship Id="rId8" Target="../media/image27.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2.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3.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4.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126611" y="3538786"/>
            <a:ext cx="7481802" cy="3920396"/>
          </a:xfrm>
          <a:prstGeom prst="rect">
            <a:avLst/>
          </a:prstGeom>
        </p:spPr>
        <p:txBody>
          <a:bodyPr anchor="t" rtlCol="false" tIns="0" lIns="0" bIns="0" rIns="0">
            <a:spAutoFit/>
          </a:bodyPr>
          <a:lstStyle/>
          <a:p>
            <a:pPr algn="l">
              <a:lnSpc>
                <a:spcPts val="10030"/>
              </a:lnSpc>
            </a:pPr>
            <a:r>
              <a:rPr lang="en-US" sz="11145" b="true">
                <a:solidFill>
                  <a:srgbClr val="2B7695"/>
                </a:solidFill>
                <a:latin typeface="Cormorant Garamond Bold"/>
                <a:ea typeface="Cormorant Garamond Bold"/>
                <a:cs typeface="Cormorant Garamond Bold"/>
                <a:sym typeface="Cormorant Garamond Bold"/>
              </a:rPr>
              <a:t>Phân tích</a:t>
            </a:r>
            <a:r>
              <a:rPr lang="en-US" sz="11145" b="true">
                <a:solidFill>
                  <a:srgbClr val="161613"/>
                </a:solidFill>
                <a:latin typeface="Cormorant Garamond Bold"/>
                <a:ea typeface="Cormorant Garamond Bold"/>
                <a:cs typeface="Cormorant Garamond Bold"/>
                <a:sym typeface="Cormorant Garamond Bold"/>
              </a:rPr>
              <a:t> sàn TMĐT</a:t>
            </a:r>
            <a:r>
              <a:rPr lang="en-US" sz="11145" b="true">
                <a:solidFill>
                  <a:srgbClr val="2B7695"/>
                </a:solidFill>
                <a:latin typeface="Cormorant Garamond Bold"/>
                <a:ea typeface="Cormorant Garamond Bold"/>
                <a:cs typeface="Cormorant Garamond Bold"/>
                <a:sym typeface="Cormorant Garamond Bold"/>
              </a:rPr>
              <a:t> Shopee</a:t>
            </a:r>
          </a:p>
        </p:txBody>
      </p:sp>
      <p:grpSp>
        <p:nvGrpSpPr>
          <p:cNvPr name="Group 11" id="11"/>
          <p:cNvGrpSpPr/>
          <p:nvPr/>
        </p:nvGrpSpPr>
        <p:grpSpPr>
          <a:xfrm rot="0">
            <a:off x="9001700" y="7612648"/>
            <a:ext cx="7780649" cy="679961"/>
            <a:chOff x="0" y="0"/>
            <a:chExt cx="2117034" cy="185010"/>
          </a:xfrm>
        </p:grpSpPr>
        <p:sp>
          <p:nvSpPr>
            <p:cNvPr name="Freeform 12" id="12"/>
            <p:cNvSpPr/>
            <p:nvPr/>
          </p:nvSpPr>
          <p:spPr>
            <a:xfrm flipH="false" flipV="false" rot="0">
              <a:off x="0" y="0"/>
              <a:ext cx="2117034" cy="185010"/>
            </a:xfrm>
            <a:custGeom>
              <a:avLst/>
              <a:gdLst/>
              <a:ahLst/>
              <a:cxnLst/>
              <a:rect r="r" b="b" t="t" l="l"/>
              <a:pathLst>
                <a:path h="185010" w="2117034">
                  <a:moveTo>
                    <a:pt x="52736" y="0"/>
                  </a:moveTo>
                  <a:lnTo>
                    <a:pt x="2064298" y="0"/>
                  </a:lnTo>
                  <a:cubicBezTo>
                    <a:pt x="2078284" y="0"/>
                    <a:pt x="2091698" y="5556"/>
                    <a:pt x="2101588" y="15446"/>
                  </a:cubicBezTo>
                  <a:cubicBezTo>
                    <a:pt x="2111478" y="25336"/>
                    <a:pt x="2117034" y="38750"/>
                    <a:pt x="2117034" y="52736"/>
                  </a:cubicBezTo>
                  <a:lnTo>
                    <a:pt x="2117034" y="132274"/>
                  </a:lnTo>
                  <a:cubicBezTo>
                    <a:pt x="2117034" y="146261"/>
                    <a:pt x="2111478" y="159674"/>
                    <a:pt x="2101588" y="169564"/>
                  </a:cubicBezTo>
                  <a:cubicBezTo>
                    <a:pt x="2091698" y="179454"/>
                    <a:pt x="2078284" y="185010"/>
                    <a:pt x="2064298" y="185010"/>
                  </a:cubicBezTo>
                  <a:lnTo>
                    <a:pt x="52736" y="185010"/>
                  </a:lnTo>
                  <a:cubicBezTo>
                    <a:pt x="38750" y="185010"/>
                    <a:pt x="25336" y="179454"/>
                    <a:pt x="15446" y="169564"/>
                  </a:cubicBezTo>
                  <a:cubicBezTo>
                    <a:pt x="5556" y="159674"/>
                    <a:pt x="0" y="146261"/>
                    <a:pt x="0" y="132274"/>
                  </a:cubicBezTo>
                  <a:lnTo>
                    <a:pt x="0" y="52736"/>
                  </a:lnTo>
                  <a:cubicBezTo>
                    <a:pt x="0" y="38750"/>
                    <a:pt x="5556" y="25336"/>
                    <a:pt x="15446" y="15446"/>
                  </a:cubicBezTo>
                  <a:cubicBezTo>
                    <a:pt x="25336" y="5556"/>
                    <a:pt x="38750" y="0"/>
                    <a:pt x="52736" y="0"/>
                  </a:cubicBezTo>
                  <a:close/>
                </a:path>
              </a:pathLst>
            </a:custGeom>
            <a:solidFill>
              <a:srgbClr val="FBE099"/>
            </a:solidFill>
          </p:spPr>
        </p:sp>
        <p:sp>
          <p:nvSpPr>
            <p:cNvPr name="TextBox 13" id="13"/>
            <p:cNvSpPr txBox="true"/>
            <p:nvPr/>
          </p:nvSpPr>
          <p:spPr>
            <a:xfrm>
              <a:off x="0" y="-38100"/>
              <a:ext cx="2117034" cy="22311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97649" y="7612648"/>
            <a:ext cx="5896743" cy="679961"/>
            <a:chOff x="0" y="0"/>
            <a:chExt cx="1604443" cy="185010"/>
          </a:xfrm>
        </p:grpSpPr>
        <p:sp>
          <p:nvSpPr>
            <p:cNvPr name="Freeform 15" id="15"/>
            <p:cNvSpPr/>
            <p:nvPr/>
          </p:nvSpPr>
          <p:spPr>
            <a:xfrm flipH="false" flipV="false" rot="0">
              <a:off x="0" y="0"/>
              <a:ext cx="1604443" cy="185010"/>
            </a:xfrm>
            <a:custGeom>
              <a:avLst/>
              <a:gdLst/>
              <a:ahLst/>
              <a:cxnLst/>
              <a:rect r="r" b="b" t="t" l="l"/>
              <a:pathLst>
                <a:path h="185010" w="1604443">
                  <a:moveTo>
                    <a:pt x="69584" y="0"/>
                  </a:moveTo>
                  <a:lnTo>
                    <a:pt x="1534858" y="0"/>
                  </a:lnTo>
                  <a:cubicBezTo>
                    <a:pt x="1553313" y="0"/>
                    <a:pt x="1571012" y="7331"/>
                    <a:pt x="1584062" y="20381"/>
                  </a:cubicBezTo>
                  <a:cubicBezTo>
                    <a:pt x="1597112" y="33430"/>
                    <a:pt x="1604443" y="51130"/>
                    <a:pt x="1604443" y="69584"/>
                  </a:cubicBezTo>
                  <a:lnTo>
                    <a:pt x="1604443" y="115426"/>
                  </a:lnTo>
                  <a:cubicBezTo>
                    <a:pt x="1604443" y="133881"/>
                    <a:pt x="1597112" y="151580"/>
                    <a:pt x="1584062" y="164630"/>
                  </a:cubicBezTo>
                  <a:cubicBezTo>
                    <a:pt x="1571012" y="177679"/>
                    <a:pt x="1553313" y="185010"/>
                    <a:pt x="1534858" y="185010"/>
                  </a:cubicBezTo>
                  <a:lnTo>
                    <a:pt x="69584" y="185010"/>
                  </a:lnTo>
                  <a:cubicBezTo>
                    <a:pt x="31154" y="185010"/>
                    <a:pt x="0" y="153856"/>
                    <a:pt x="0" y="115426"/>
                  </a:cubicBezTo>
                  <a:lnTo>
                    <a:pt x="0" y="69584"/>
                  </a:lnTo>
                  <a:cubicBezTo>
                    <a:pt x="0" y="31154"/>
                    <a:pt x="31154" y="0"/>
                    <a:pt x="69584" y="0"/>
                  </a:cubicBezTo>
                  <a:close/>
                </a:path>
              </a:pathLst>
            </a:custGeom>
            <a:solidFill>
              <a:srgbClr val="BCE6E9"/>
            </a:solidFill>
          </p:spPr>
        </p:sp>
        <p:sp>
          <p:nvSpPr>
            <p:cNvPr name="TextBox 16" id="16"/>
            <p:cNvSpPr txBox="true"/>
            <p:nvPr/>
          </p:nvSpPr>
          <p:spPr>
            <a:xfrm>
              <a:off x="0" y="-38100"/>
              <a:ext cx="1604443" cy="22311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7879406" y="7872968"/>
            <a:ext cx="637281" cy="159320"/>
          </a:xfrm>
          <a:custGeom>
            <a:avLst/>
            <a:gdLst/>
            <a:ahLst/>
            <a:cxnLst/>
            <a:rect r="r" b="b" t="t" l="l"/>
            <a:pathLst>
              <a:path h="159320" w="637281">
                <a:moveTo>
                  <a:pt x="0" y="0"/>
                </a:moveTo>
                <a:lnTo>
                  <a:pt x="637281" y="0"/>
                </a:lnTo>
                <a:lnTo>
                  <a:pt x="637281" y="159320"/>
                </a:lnTo>
                <a:lnTo>
                  <a:pt x="0" y="1593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592652" y="2266865"/>
            <a:ext cx="533959" cy="544856"/>
          </a:xfrm>
          <a:custGeom>
            <a:avLst/>
            <a:gdLst/>
            <a:ahLst/>
            <a:cxnLst/>
            <a:rect r="r" b="b" t="t" l="l"/>
            <a:pathLst>
              <a:path h="544856" w="533959">
                <a:moveTo>
                  <a:pt x="0" y="0"/>
                </a:moveTo>
                <a:lnTo>
                  <a:pt x="533959" y="0"/>
                </a:lnTo>
                <a:lnTo>
                  <a:pt x="533959" y="544856"/>
                </a:lnTo>
                <a:lnTo>
                  <a:pt x="0" y="5448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0374254" y="1575404"/>
            <a:ext cx="5861385" cy="5746003"/>
          </a:xfrm>
          <a:custGeom>
            <a:avLst/>
            <a:gdLst/>
            <a:ahLst/>
            <a:cxnLst/>
            <a:rect r="r" b="b" t="t" l="l"/>
            <a:pathLst>
              <a:path h="5746003" w="5861385">
                <a:moveTo>
                  <a:pt x="0" y="0"/>
                </a:moveTo>
                <a:lnTo>
                  <a:pt x="5861385" y="0"/>
                </a:lnTo>
                <a:lnTo>
                  <a:pt x="5861385" y="5746003"/>
                </a:lnTo>
                <a:lnTo>
                  <a:pt x="0" y="5746003"/>
                </a:lnTo>
                <a:lnTo>
                  <a:pt x="0" y="0"/>
                </a:lnTo>
                <a:close/>
              </a:path>
            </a:pathLst>
          </a:custGeom>
          <a:blipFill>
            <a:blip r:embed="rId10"/>
            <a:stretch>
              <a:fillRect l="0" t="0" r="0" b="0"/>
            </a:stretch>
          </a:blipFill>
        </p:spPr>
      </p:sp>
      <p:sp>
        <p:nvSpPr>
          <p:cNvPr name="TextBox 20" id="20"/>
          <p:cNvSpPr txBox="true"/>
          <p:nvPr/>
        </p:nvSpPr>
        <p:spPr>
          <a:xfrm rot="0">
            <a:off x="8683059" y="7774323"/>
            <a:ext cx="7918074" cy="369133"/>
          </a:xfrm>
          <a:prstGeom prst="rect">
            <a:avLst/>
          </a:prstGeom>
        </p:spPr>
        <p:txBody>
          <a:bodyPr anchor="t" rtlCol="false" tIns="0" lIns="0" bIns="0" rIns="0">
            <a:spAutoFit/>
          </a:bodyPr>
          <a:lstStyle/>
          <a:p>
            <a:pPr algn="ctr">
              <a:lnSpc>
                <a:spcPts val="2818"/>
              </a:lnSpc>
            </a:pPr>
            <a:r>
              <a:rPr lang="en-US" sz="2846" b="true">
                <a:solidFill>
                  <a:srgbClr val="161613"/>
                </a:solidFill>
                <a:latin typeface="Nunito Ultra-Bold"/>
                <a:ea typeface="Nunito Ultra-Bold"/>
                <a:cs typeface="Nunito Ultra-Bold"/>
                <a:sym typeface="Nunito Ultra-Bold"/>
              </a:rPr>
              <a:t>GVHD: PHAN THÀNH HUẤN</a:t>
            </a:r>
          </a:p>
        </p:txBody>
      </p:sp>
      <p:sp>
        <p:nvSpPr>
          <p:cNvPr name="TextBox 21" id="21"/>
          <p:cNvSpPr txBox="true"/>
          <p:nvPr/>
        </p:nvSpPr>
        <p:spPr>
          <a:xfrm rot="0">
            <a:off x="1487950" y="7774323"/>
            <a:ext cx="5906442" cy="376196"/>
          </a:xfrm>
          <a:prstGeom prst="rect">
            <a:avLst/>
          </a:prstGeom>
        </p:spPr>
        <p:txBody>
          <a:bodyPr anchor="t" rtlCol="false" tIns="0" lIns="0" bIns="0" rIns="0">
            <a:spAutoFit/>
          </a:bodyPr>
          <a:lstStyle/>
          <a:p>
            <a:pPr algn="ctr">
              <a:lnSpc>
                <a:spcPts val="2818"/>
              </a:lnSpc>
            </a:pPr>
            <a:r>
              <a:rPr lang="en-US" sz="2847" b="true">
                <a:solidFill>
                  <a:srgbClr val="161613"/>
                </a:solidFill>
                <a:latin typeface="Nunito Ultra-Bold"/>
                <a:ea typeface="Nunito Ultra-Bold"/>
                <a:cs typeface="Nunito Ultra-Bold"/>
                <a:sym typeface="Nunito Ultra-Bold"/>
              </a:rPr>
              <a:t>Học phần: Phân tích dữ liệu</a:t>
            </a:r>
          </a:p>
        </p:txBody>
      </p:sp>
      <p:sp>
        <p:nvSpPr>
          <p:cNvPr name="TextBox 22" id="22"/>
          <p:cNvSpPr txBox="true"/>
          <p:nvPr/>
        </p:nvSpPr>
        <p:spPr>
          <a:xfrm rot="0">
            <a:off x="2898550" y="2343065"/>
            <a:ext cx="3094942" cy="482098"/>
          </a:xfrm>
          <a:prstGeom prst="rect">
            <a:avLst/>
          </a:prstGeom>
        </p:spPr>
        <p:txBody>
          <a:bodyPr anchor="t" rtlCol="false" tIns="0" lIns="0" bIns="0" rIns="0">
            <a:spAutoFit/>
          </a:bodyPr>
          <a:lstStyle/>
          <a:p>
            <a:pPr algn="l">
              <a:lnSpc>
                <a:spcPts val="3665"/>
              </a:lnSpc>
            </a:pPr>
            <a:r>
              <a:rPr lang="en-US" sz="3702" b="true">
                <a:solidFill>
                  <a:srgbClr val="161613"/>
                </a:solidFill>
                <a:latin typeface="Nunito Ultra-Bold"/>
                <a:ea typeface="Nunito Ultra-Bold"/>
                <a:cs typeface="Nunito Ultra-Bold"/>
                <a:sym typeface="Nunito Ultra-Bold"/>
              </a:rPr>
              <a:t>Nhóm 8</a:t>
            </a:r>
          </a:p>
        </p:txBody>
      </p:sp>
      <p:sp>
        <p:nvSpPr>
          <p:cNvPr name="Freeform 23" id="23"/>
          <p:cNvSpPr/>
          <p:nvPr/>
        </p:nvSpPr>
        <p:spPr>
          <a:xfrm flipH="false" flipV="false" rot="0">
            <a:off x="7879406" y="2266865"/>
            <a:ext cx="637281" cy="159320"/>
          </a:xfrm>
          <a:custGeom>
            <a:avLst/>
            <a:gdLst/>
            <a:ahLst/>
            <a:cxnLst/>
            <a:rect r="r" b="b" t="t" l="l"/>
            <a:pathLst>
              <a:path h="159320" w="637281">
                <a:moveTo>
                  <a:pt x="0" y="0"/>
                </a:moveTo>
                <a:lnTo>
                  <a:pt x="637281" y="0"/>
                </a:lnTo>
                <a:lnTo>
                  <a:pt x="637281" y="159320"/>
                </a:lnTo>
                <a:lnTo>
                  <a:pt x="0" y="1593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5475725" y="2091145"/>
            <a:ext cx="7336549" cy="1181091"/>
          </a:xfrm>
          <a:prstGeom prst="rect">
            <a:avLst/>
          </a:prstGeom>
        </p:spPr>
        <p:txBody>
          <a:bodyPr anchor="t" rtlCol="false" tIns="0" lIns="0" bIns="0" rIns="0">
            <a:spAutoFit/>
          </a:bodyPr>
          <a:lstStyle/>
          <a:p>
            <a:pPr algn="ctr">
              <a:lnSpc>
                <a:spcPts val="8550"/>
              </a:lnSpc>
            </a:pPr>
            <a:r>
              <a:rPr lang="en-US" sz="9500" b="true">
                <a:solidFill>
                  <a:srgbClr val="2B7695"/>
                </a:solidFill>
                <a:latin typeface="Cormorant Garamond Bold"/>
                <a:ea typeface="Cormorant Garamond Bold"/>
                <a:cs typeface="Cormorant Garamond Bold"/>
                <a:sym typeface="Cormorant Garamond Bold"/>
              </a:rPr>
              <a:t>Thành viên</a:t>
            </a:r>
          </a:p>
        </p:txBody>
      </p:sp>
      <p:sp>
        <p:nvSpPr>
          <p:cNvPr name="Freeform 11" id="11"/>
          <p:cNvSpPr/>
          <p:nvPr/>
        </p:nvSpPr>
        <p:spPr>
          <a:xfrm flipH="false" flipV="false" rot="0">
            <a:off x="4545179" y="2432027"/>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2812275" y="2432027"/>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600003">
            <a:off x="15386715" y="2936721"/>
            <a:ext cx="1665776" cy="820773"/>
          </a:xfrm>
          <a:custGeom>
            <a:avLst/>
            <a:gdLst/>
            <a:ahLst/>
            <a:cxnLst/>
            <a:rect r="r" b="b" t="t" l="l"/>
            <a:pathLst>
              <a:path h="820773" w="1665776">
                <a:moveTo>
                  <a:pt x="0" y="0"/>
                </a:moveTo>
                <a:lnTo>
                  <a:pt x="1665776" y="0"/>
                </a:lnTo>
                <a:lnTo>
                  <a:pt x="1665776" y="820774"/>
                </a:lnTo>
                <a:lnTo>
                  <a:pt x="0" y="8207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3422032" y="3347108"/>
            <a:ext cx="3553299" cy="355329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C7F0"/>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3496904" y="3421981"/>
            <a:ext cx="3403554" cy="340355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35959" r="0" b="-35959"/>
              </a:stretch>
            </a:blipFill>
          </p:spPr>
        </p:sp>
      </p:grpSp>
      <p:sp>
        <p:nvSpPr>
          <p:cNvPr name="TextBox 19" id="19"/>
          <p:cNvSpPr txBox="true"/>
          <p:nvPr/>
        </p:nvSpPr>
        <p:spPr>
          <a:xfrm rot="0">
            <a:off x="10093681" y="7435134"/>
            <a:ext cx="6125921" cy="589912"/>
          </a:xfrm>
          <a:prstGeom prst="rect">
            <a:avLst/>
          </a:prstGeom>
        </p:spPr>
        <p:txBody>
          <a:bodyPr anchor="t" rtlCol="false" tIns="0" lIns="0" bIns="0" rIns="0">
            <a:spAutoFit/>
          </a:bodyPr>
          <a:lstStyle/>
          <a:p>
            <a:pPr algn="ctr">
              <a:lnSpc>
                <a:spcPts val="4759"/>
              </a:lnSpc>
            </a:pPr>
            <a:r>
              <a:rPr lang="en-US" sz="3399">
                <a:solidFill>
                  <a:srgbClr val="000000"/>
                </a:solidFill>
                <a:latin typeface="Inter"/>
                <a:ea typeface="Inter"/>
                <a:cs typeface="Inter"/>
                <a:sym typeface="Inter"/>
              </a:rPr>
              <a:t>3121410355 - Lê Minh Nguyệt</a:t>
            </a:r>
          </a:p>
        </p:txBody>
      </p:sp>
      <p:sp>
        <p:nvSpPr>
          <p:cNvPr name="TextBox 20" id="20"/>
          <p:cNvSpPr txBox="true"/>
          <p:nvPr/>
        </p:nvSpPr>
        <p:spPr>
          <a:xfrm rot="0">
            <a:off x="2088173" y="7435134"/>
            <a:ext cx="6221016" cy="589912"/>
          </a:xfrm>
          <a:prstGeom prst="rect">
            <a:avLst/>
          </a:prstGeom>
        </p:spPr>
        <p:txBody>
          <a:bodyPr anchor="t" rtlCol="false" tIns="0" lIns="0" bIns="0" rIns="0">
            <a:spAutoFit/>
          </a:bodyPr>
          <a:lstStyle/>
          <a:p>
            <a:pPr algn="ctr">
              <a:lnSpc>
                <a:spcPts val="4759"/>
              </a:lnSpc>
            </a:pPr>
            <a:r>
              <a:rPr lang="en-US" sz="3399">
                <a:solidFill>
                  <a:srgbClr val="000000"/>
                </a:solidFill>
                <a:latin typeface="Inter"/>
                <a:ea typeface="Inter"/>
                <a:cs typeface="Inter"/>
                <a:sym typeface="Inter"/>
              </a:rPr>
              <a:t>3121410587 - Nguyễn Thị Xinh</a:t>
            </a:r>
          </a:p>
        </p:txBody>
      </p:sp>
      <p:grpSp>
        <p:nvGrpSpPr>
          <p:cNvPr name="Group 21" id="21"/>
          <p:cNvGrpSpPr/>
          <p:nvPr/>
        </p:nvGrpSpPr>
        <p:grpSpPr>
          <a:xfrm rot="0">
            <a:off x="11201075" y="3347108"/>
            <a:ext cx="3553299" cy="355329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C7F0"/>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1275948" y="3412456"/>
            <a:ext cx="3403554" cy="340355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6952" r="0" b="-6952"/>
              </a:stretch>
            </a:blipFill>
          </p:spPr>
        </p:sp>
      </p:grpSp>
      <p:sp>
        <p:nvSpPr>
          <p:cNvPr name="Freeform 26" id="26"/>
          <p:cNvSpPr/>
          <p:nvPr/>
        </p:nvSpPr>
        <p:spPr>
          <a:xfrm flipH="true" flipV="false" rot="1370668">
            <a:off x="1050146" y="2407681"/>
            <a:ext cx="1665776" cy="820773"/>
          </a:xfrm>
          <a:custGeom>
            <a:avLst/>
            <a:gdLst/>
            <a:ahLst/>
            <a:cxnLst/>
            <a:rect r="r" b="b" t="t" l="l"/>
            <a:pathLst>
              <a:path h="820773" w="1665776">
                <a:moveTo>
                  <a:pt x="1665776" y="0"/>
                </a:moveTo>
                <a:lnTo>
                  <a:pt x="0" y="0"/>
                </a:lnTo>
                <a:lnTo>
                  <a:pt x="0" y="820774"/>
                </a:lnTo>
                <a:lnTo>
                  <a:pt x="1665776" y="820774"/>
                </a:lnTo>
                <a:lnTo>
                  <a:pt x="166577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7" id="27"/>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5475725" y="2091145"/>
            <a:ext cx="7336549" cy="1181091"/>
          </a:xfrm>
          <a:prstGeom prst="rect">
            <a:avLst/>
          </a:prstGeom>
        </p:spPr>
        <p:txBody>
          <a:bodyPr anchor="t" rtlCol="false" tIns="0" lIns="0" bIns="0" rIns="0">
            <a:spAutoFit/>
          </a:bodyPr>
          <a:lstStyle/>
          <a:p>
            <a:pPr algn="ctr">
              <a:lnSpc>
                <a:spcPts val="8550"/>
              </a:lnSpc>
            </a:pPr>
            <a:r>
              <a:rPr lang="en-US" sz="9500" b="true">
                <a:solidFill>
                  <a:srgbClr val="2B7695"/>
                </a:solidFill>
                <a:latin typeface="Cormorant Garamond Bold"/>
                <a:ea typeface="Cormorant Garamond Bold"/>
                <a:cs typeface="Cormorant Garamond Bold"/>
                <a:sym typeface="Cormorant Garamond Bold"/>
              </a:rPr>
              <a:t>Nội dung</a:t>
            </a:r>
          </a:p>
        </p:txBody>
      </p:sp>
      <p:sp>
        <p:nvSpPr>
          <p:cNvPr name="Freeform 11" id="11"/>
          <p:cNvSpPr/>
          <p:nvPr/>
        </p:nvSpPr>
        <p:spPr>
          <a:xfrm flipH="false" flipV="false" rot="0">
            <a:off x="4545179" y="2432027"/>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2812275" y="2432027"/>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4803000" y="2861849"/>
            <a:ext cx="1665776" cy="820773"/>
          </a:xfrm>
          <a:custGeom>
            <a:avLst/>
            <a:gdLst/>
            <a:ahLst/>
            <a:cxnLst/>
            <a:rect r="r" b="b" t="t" l="l"/>
            <a:pathLst>
              <a:path h="820773" w="1665776">
                <a:moveTo>
                  <a:pt x="0" y="0"/>
                </a:moveTo>
                <a:lnTo>
                  <a:pt x="1665776" y="0"/>
                </a:lnTo>
                <a:lnTo>
                  <a:pt x="1665776" y="820773"/>
                </a:lnTo>
                <a:lnTo>
                  <a:pt x="0" y="8207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10800000">
            <a:off x="1375152" y="4508521"/>
            <a:ext cx="2830991" cy="3395267"/>
            <a:chOff x="0" y="0"/>
            <a:chExt cx="2041606" cy="2448541"/>
          </a:xfrm>
        </p:grpSpPr>
        <p:sp>
          <p:nvSpPr>
            <p:cNvPr name="Freeform 15" id="15"/>
            <p:cNvSpPr/>
            <p:nvPr/>
          </p:nvSpPr>
          <p:spPr>
            <a:xfrm flipH="false" flipV="false" rot="0">
              <a:off x="0" y="0"/>
              <a:ext cx="2041606" cy="2448541"/>
            </a:xfrm>
            <a:custGeom>
              <a:avLst/>
              <a:gdLst/>
              <a:ahLst/>
              <a:cxnLst/>
              <a:rect r="r" b="b" t="t" l="l"/>
              <a:pathLst>
                <a:path h="2448541" w="2041606">
                  <a:moveTo>
                    <a:pt x="87511" y="0"/>
                  </a:moveTo>
                  <a:lnTo>
                    <a:pt x="1954095" y="0"/>
                  </a:lnTo>
                  <a:cubicBezTo>
                    <a:pt x="2002426" y="0"/>
                    <a:pt x="2041606" y="39180"/>
                    <a:pt x="2041606" y="87511"/>
                  </a:cubicBezTo>
                  <a:lnTo>
                    <a:pt x="2041606" y="2361030"/>
                  </a:lnTo>
                  <a:cubicBezTo>
                    <a:pt x="2041606" y="2384240"/>
                    <a:pt x="2032386" y="2406498"/>
                    <a:pt x="2015975" y="2422910"/>
                  </a:cubicBezTo>
                  <a:cubicBezTo>
                    <a:pt x="1999563" y="2439321"/>
                    <a:pt x="1977305" y="2448541"/>
                    <a:pt x="1954095" y="2448541"/>
                  </a:cubicBezTo>
                  <a:lnTo>
                    <a:pt x="87511" y="2448541"/>
                  </a:lnTo>
                  <a:cubicBezTo>
                    <a:pt x="64301" y="2448541"/>
                    <a:pt x="42043" y="2439321"/>
                    <a:pt x="25631" y="2422910"/>
                  </a:cubicBezTo>
                  <a:cubicBezTo>
                    <a:pt x="9220" y="2406498"/>
                    <a:pt x="0" y="2384240"/>
                    <a:pt x="0" y="2361030"/>
                  </a:cubicBezTo>
                  <a:lnTo>
                    <a:pt x="0" y="87511"/>
                  </a:lnTo>
                  <a:cubicBezTo>
                    <a:pt x="0" y="64301"/>
                    <a:pt x="9220" y="42043"/>
                    <a:pt x="25631" y="25631"/>
                  </a:cubicBezTo>
                  <a:cubicBezTo>
                    <a:pt x="42043" y="9220"/>
                    <a:pt x="64301" y="0"/>
                    <a:pt x="87511" y="0"/>
                  </a:cubicBezTo>
                  <a:close/>
                </a:path>
              </a:pathLst>
            </a:custGeom>
            <a:solidFill>
              <a:srgbClr val="FFFFFF"/>
            </a:solidFill>
            <a:ln w="123825" cap="rnd">
              <a:solidFill>
                <a:srgbClr val="F4C839"/>
              </a:solidFill>
              <a:prstDash val="solid"/>
              <a:round/>
            </a:ln>
          </p:spPr>
        </p:sp>
        <p:sp>
          <p:nvSpPr>
            <p:cNvPr name="TextBox 16" id="16"/>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7" id="17"/>
          <p:cNvSpPr/>
          <p:nvPr/>
        </p:nvSpPr>
        <p:spPr>
          <a:xfrm flipH="false" flipV="false" rot="0">
            <a:off x="1819481" y="4508521"/>
            <a:ext cx="1942333" cy="905323"/>
          </a:xfrm>
          <a:custGeom>
            <a:avLst/>
            <a:gdLst/>
            <a:ahLst/>
            <a:cxnLst/>
            <a:rect r="r" b="b" t="t" l="l"/>
            <a:pathLst>
              <a:path h="905323" w="1942333">
                <a:moveTo>
                  <a:pt x="0" y="0"/>
                </a:moveTo>
                <a:lnTo>
                  <a:pt x="1942333" y="0"/>
                </a:lnTo>
                <a:lnTo>
                  <a:pt x="1942333" y="905323"/>
                </a:lnTo>
                <a:lnTo>
                  <a:pt x="0" y="905323"/>
                </a:lnTo>
                <a:lnTo>
                  <a:pt x="0" y="0"/>
                </a:lnTo>
                <a:close/>
              </a:path>
            </a:pathLst>
          </a:custGeom>
          <a:blipFill>
            <a:blip r:embed="rId10">
              <a:extLst>
                <a:ext uri="{96DAC541-7B7A-43D3-8B79-37D633B846F1}">
                  <asvg:svgBlip xmlns:asvg="http://schemas.microsoft.com/office/drawing/2016/SVG/main" r:embed="rId11"/>
                </a:ext>
              </a:extLst>
            </a:blip>
            <a:stretch>
              <a:fillRect l="0" t="-114545" r="0" b="0"/>
            </a:stretch>
          </a:blipFill>
          <a:ln cap="sq">
            <a:noFill/>
            <a:prstDash val="solid"/>
            <a:miter/>
          </a:ln>
        </p:spPr>
      </p:sp>
      <p:grpSp>
        <p:nvGrpSpPr>
          <p:cNvPr name="Group 18" id="18"/>
          <p:cNvGrpSpPr/>
          <p:nvPr/>
        </p:nvGrpSpPr>
        <p:grpSpPr>
          <a:xfrm rot="-10800000">
            <a:off x="4552734" y="4508521"/>
            <a:ext cx="2830991" cy="3395267"/>
            <a:chOff x="0" y="0"/>
            <a:chExt cx="2041606" cy="2448541"/>
          </a:xfrm>
        </p:grpSpPr>
        <p:sp>
          <p:nvSpPr>
            <p:cNvPr name="Freeform 19" id="19"/>
            <p:cNvSpPr/>
            <p:nvPr/>
          </p:nvSpPr>
          <p:spPr>
            <a:xfrm flipH="false" flipV="false" rot="0">
              <a:off x="0" y="0"/>
              <a:ext cx="2041606" cy="2448541"/>
            </a:xfrm>
            <a:custGeom>
              <a:avLst/>
              <a:gdLst/>
              <a:ahLst/>
              <a:cxnLst/>
              <a:rect r="r" b="b" t="t" l="l"/>
              <a:pathLst>
                <a:path h="2448541" w="2041606">
                  <a:moveTo>
                    <a:pt x="87511" y="0"/>
                  </a:moveTo>
                  <a:lnTo>
                    <a:pt x="1954095" y="0"/>
                  </a:lnTo>
                  <a:cubicBezTo>
                    <a:pt x="2002426" y="0"/>
                    <a:pt x="2041606" y="39180"/>
                    <a:pt x="2041606" y="87511"/>
                  </a:cubicBezTo>
                  <a:lnTo>
                    <a:pt x="2041606" y="2361030"/>
                  </a:lnTo>
                  <a:cubicBezTo>
                    <a:pt x="2041606" y="2384240"/>
                    <a:pt x="2032386" y="2406498"/>
                    <a:pt x="2015975" y="2422910"/>
                  </a:cubicBezTo>
                  <a:cubicBezTo>
                    <a:pt x="1999563" y="2439321"/>
                    <a:pt x="1977305" y="2448541"/>
                    <a:pt x="1954095" y="2448541"/>
                  </a:cubicBezTo>
                  <a:lnTo>
                    <a:pt x="87511" y="2448541"/>
                  </a:lnTo>
                  <a:cubicBezTo>
                    <a:pt x="64301" y="2448541"/>
                    <a:pt x="42043" y="2439321"/>
                    <a:pt x="25631" y="2422910"/>
                  </a:cubicBezTo>
                  <a:cubicBezTo>
                    <a:pt x="9220" y="2406498"/>
                    <a:pt x="0" y="2384240"/>
                    <a:pt x="0" y="2361030"/>
                  </a:cubicBezTo>
                  <a:lnTo>
                    <a:pt x="0" y="87511"/>
                  </a:lnTo>
                  <a:cubicBezTo>
                    <a:pt x="0" y="64301"/>
                    <a:pt x="9220" y="42043"/>
                    <a:pt x="25631" y="25631"/>
                  </a:cubicBezTo>
                  <a:cubicBezTo>
                    <a:pt x="42043" y="9220"/>
                    <a:pt x="64301" y="0"/>
                    <a:pt x="87511" y="0"/>
                  </a:cubicBezTo>
                  <a:close/>
                </a:path>
              </a:pathLst>
            </a:custGeom>
            <a:solidFill>
              <a:srgbClr val="FFFFFF"/>
            </a:solidFill>
            <a:ln w="123825" cap="rnd">
              <a:solidFill>
                <a:srgbClr val="E8CE8A"/>
              </a:solidFill>
              <a:prstDash val="solid"/>
              <a:round/>
            </a:ln>
          </p:spPr>
        </p:sp>
        <p:sp>
          <p:nvSpPr>
            <p:cNvPr name="TextBox 20" id="20"/>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21" id="21"/>
          <p:cNvSpPr/>
          <p:nvPr/>
        </p:nvSpPr>
        <p:spPr>
          <a:xfrm flipH="false" flipV="false" rot="0">
            <a:off x="4997063" y="4508521"/>
            <a:ext cx="1942333" cy="905323"/>
          </a:xfrm>
          <a:custGeom>
            <a:avLst/>
            <a:gdLst/>
            <a:ahLst/>
            <a:cxnLst/>
            <a:rect r="r" b="b" t="t" l="l"/>
            <a:pathLst>
              <a:path h="905323" w="1942333">
                <a:moveTo>
                  <a:pt x="0" y="0"/>
                </a:moveTo>
                <a:lnTo>
                  <a:pt x="1942333" y="0"/>
                </a:lnTo>
                <a:lnTo>
                  <a:pt x="1942333" y="905323"/>
                </a:lnTo>
                <a:lnTo>
                  <a:pt x="0" y="905323"/>
                </a:lnTo>
                <a:lnTo>
                  <a:pt x="0" y="0"/>
                </a:lnTo>
                <a:close/>
              </a:path>
            </a:pathLst>
          </a:custGeom>
          <a:blipFill>
            <a:blip r:embed="rId12">
              <a:extLst>
                <a:ext uri="{96DAC541-7B7A-43D3-8B79-37D633B846F1}">
                  <asvg:svgBlip xmlns:asvg="http://schemas.microsoft.com/office/drawing/2016/SVG/main" r:embed="rId13"/>
                </a:ext>
              </a:extLst>
            </a:blip>
            <a:stretch>
              <a:fillRect l="0" t="-114545" r="0" b="0"/>
            </a:stretch>
          </a:blipFill>
          <a:ln cap="sq">
            <a:noFill/>
            <a:prstDash val="solid"/>
            <a:miter/>
          </a:ln>
        </p:spPr>
      </p:sp>
      <p:grpSp>
        <p:nvGrpSpPr>
          <p:cNvPr name="Group 22" id="22"/>
          <p:cNvGrpSpPr/>
          <p:nvPr/>
        </p:nvGrpSpPr>
        <p:grpSpPr>
          <a:xfrm rot="-10800000">
            <a:off x="7728505" y="4508521"/>
            <a:ext cx="2830991" cy="3395267"/>
            <a:chOff x="0" y="0"/>
            <a:chExt cx="2041606" cy="2448541"/>
          </a:xfrm>
        </p:grpSpPr>
        <p:sp>
          <p:nvSpPr>
            <p:cNvPr name="Freeform 23" id="23"/>
            <p:cNvSpPr/>
            <p:nvPr/>
          </p:nvSpPr>
          <p:spPr>
            <a:xfrm flipH="false" flipV="false" rot="0">
              <a:off x="0" y="0"/>
              <a:ext cx="2041606" cy="2448541"/>
            </a:xfrm>
            <a:custGeom>
              <a:avLst/>
              <a:gdLst/>
              <a:ahLst/>
              <a:cxnLst/>
              <a:rect r="r" b="b" t="t" l="l"/>
              <a:pathLst>
                <a:path h="2448541" w="2041606">
                  <a:moveTo>
                    <a:pt x="87511" y="0"/>
                  </a:moveTo>
                  <a:lnTo>
                    <a:pt x="1954095" y="0"/>
                  </a:lnTo>
                  <a:cubicBezTo>
                    <a:pt x="2002426" y="0"/>
                    <a:pt x="2041606" y="39180"/>
                    <a:pt x="2041606" y="87511"/>
                  </a:cubicBezTo>
                  <a:lnTo>
                    <a:pt x="2041606" y="2361030"/>
                  </a:lnTo>
                  <a:cubicBezTo>
                    <a:pt x="2041606" y="2384240"/>
                    <a:pt x="2032386" y="2406498"/>
                    <a:pt x="2015975" y="2422910"/>
                  </a:cubicBezTo>
                  <a:cubicBezTo>
                    <a:pt x="1999563" y="2439321"/>
                    <a:pt x="1977305" y="2448541"/>
                    <a:pt x="1954095" y="2448541"/>
                  </a:cubicBezTo>
                  <a:lnTo>
                    <a:pt x="87511" y="2448541"/>
                  </a:lnTo>
                  <a:cubicBezTo>
                    <a:pt x="64301" y="2448541"/>
                    <a:pt x="42043" y="2439321"/>
                    <a:pt x="25631" y="2422910"/>
                  </a:cubicBezTo>
                  <a:cubicBezTo>
                    <a:pt x="9220" y="2406498"/>
                    <a:pt x="0" y="2384240"/>
                    <a:pt x="0" y="2361030"/>
                  </a:cubicBezTo>
                  <a:lnTo>
                    <a:pt x="0" y="87511"/>
                  </a:lnTo>
                  <a:cubicBezTo>
                    <a:pt x="0" y="64301"/>
                    <a:pt x="9220" y="42043"/>
                    <a:pt x="25631" y="25631"/>
                  </a:cubicBezTo>
                  <a:cubicBezTo>
                    <a:pt x="42043" y="9220"/>
                    <a:pt x="64301" y="0"/>
                    <a:pt x="87511" y="0"/>
                  </a:cubicBezTo>
                  <a:close/>
                </a:path>
              </a:pathLst>
            </a:custGeom>
            <a:solidFill>
              <a:srgbClr val="FFFFFF"/>
            </a:solidFill>
            <a:ln w="123825" cap="rnd">
              <a:solidFill>
                <a:srgbClr val="8ED7E8"/>
              </a:solidFill>
              <a:prstDash val="solid"/>
              <a:round/>
            </a:ln>
          </p:spPr>
        </p:sp>
        <p:sp>
          <p:nvSpPr>
            <p:cNvPr name="TextBox 24" id="24"/>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25" id="25"/>
          <p:cNvSpPr/>
          <p:nvPr/>
        </p:nvSpPr>
        <p:spPr>
          <a:xfrm flipH="false" flipV="false" rot="0">
            <a:off x="8172834" y="4508521"/>
            <a:ext cx="1942333" cy="905323"/>
          </a:xfrm>
          <a:custGeom>
            <a:avLst/>
            <a:gdLst/>
            <a:ahLst/>
            <a:cxnLst/>
            <a:rect r="r" b="b" t="t" l="l"/>
            <a:pathLst>
              <a:path h="905323" w="1942333">
                <a:moveTo>
                  <a:pt x="0" y="0"/>
                </a:moveTo>
                <a:lnTo>
                  <a:pt x="1942332" y="0"/>
                </a:lnTo>
                <a:lnTo>
                  <a:pt x="1942332" y="905323"/>
                </a:lnTo>
                <a:lnTo>
                  <a:pt x="0" y="905323"/>
                </a:lnTo>
                <a:lnTo>
                  <a:pt x="0" y="0"/>
                </a:lnTo>
                <a:close/>
              </a:path>
            </a:pathLst>
          </a:custGeom>
          <a:blipFill>
            <a:blip r:embed="rId14">
              <a:extLst>
                <a:ext uri="{96DAC541-7B7A-43D3-8B79-37D633B846F1}">
                  <asvg:svgBlip xmlns:asvg="http://schemas.microsoft.com/office/drawing/2016/SVG/main" r:embed="rId15"/>
                </a:ext>
              </a:extLst>
            </a:blip>
            <a:stretch>
              <a:fillRect l="0" t="-114545" r="0" b="0"/>
            </a:stretch>
          </a:blipFill>
          <a:ln cap="sq">
            <a:noFill/>
            <a:prstDash val="solid"/>
            <a:miter/>
          </a:ln>
        </p:spPr>
      </p:sp>
      <p:grpSp>
        <p:nvGrpSpPr>
          <p:cNvPr name="Group 26" id="26"/>
          <p:cNvGrpSpPr/>
          <p:nvPr/>
        </p:nvGrpSpPr>
        <p:grpSpPr>
          <a:xfrm rot="-10800000">
            <a:off x="10906086" y="4508521"/>
            <a:ext cx="2830991" cy="3395267"/>
            <a:chOff x="0" y="0"/>
            <a:chExt cx="2041606" cy="2448541"/>
          </a:xfrm>
        </p:grpSpPr>
        <p:sp>
          <p:nvSpPr>
            <p:cNvPr name="Freeform 27" id="27"/>
            <p:cNvSpPr/>
            <p:nvPr/>
          </p:nvSpPr>
          <p:spPr>
            <a:xfrm flipH="false" flipV="false" rot="0">
              <a:off x="0" y="0"/>
              <a:ext cx="2041606" cy="2448541"/>
            </a:xfrm>
            <a:custGeom>
              <a:avLst/>
              <a:gdLst/>
              <a:ahLst/>
              <a:cxnLst/>
              <a:rect r="r" b="b" t="t" l="l"/>
              <a:pathLst>
                <a:path h="2448541" w="2041606">
                  <a:moveTo>
                    <a:pt x="87511" y="0"/>
                  </a:moveTo>
                  <a:lnTo>
                    <a:pt x="1954095" y="0"/>
                  </a:lnTo>
                  <a:cubicBezTo>
                    <a:pt x="2002426" y="0"/>
                    <a:pt x="2041606" y="39180"/>
                    <a:pt x="2041606" y="87511"/>
                  </a:cubicBezTo>
                  <a:lnTo>
                    <a:pt x="2041606" y="2361030"/>
                  </a:lnTo>
                  <a:cubicBezTo>
                    <a:pt x="2041606" y="2384240"/>
                    <a:pt x="2032386" y="2406498"/>
                    <a:pt x="2015975" y="2422910"/>
                  </a:cubicBezTo>
                  <a:cubicBezTo>
                    <a:pt x="1999563" y="2439321"/>
                    <a:pt x="1977305" y="2448541"/>
                    <a:pt x="1954095" y="2448541"/>
                  </a:cubicBezTo>
                  <a:lnTo>
                    <a:pt x="87511" y="2448541"/>
                  </a:lnTo>
                  <a:cubicBezTo>
                    <a:pt x="64301" y="2448541"/>
                    <a:pt x="42043" y="2439321"/>
                    <a:pt x="25631" y="2422910"/>
                  </a:cubicBezTo>
                  <a:cubicBezTo>
                    <a:pt x="9220" y="2406498"/>
                    <a:pt x="0" y="2384240"/>
                    <a:pt x="0" y="2361030"/>
                  </a:cubicBezTo>
                  <a:lnTo>
                    <a:pt x="0" y="87511"/>
                  </a:lnTo>
                  <a:cubicBezTo>
                    <a:pt x="0" y="64301"/>
                    <a:pt x="9220" y="42043"/>
                    <a:pt x="25631" y="25631"/>
                  </a:cubicBezTo>
                  <a:cubicBezTo>
                    <a:pt x="42043" y="9220"/>
                    <a:pt x="64301" y="0"/>
                    <a:pt x="87511" y="0"/>
                  </a:cubicBezTo>
                  <a:close/>
                </a:path>
              </a:pathLst>
            </a:custGeom>
            <a:solidFill>
              <a:srgbClr val="FFFFFF"/>
            </a:solidFill>
            <a:ln w="123825" cap="rnd">
              <a:solidFill>
                <a:srgbClr val="47B0BF"/>
              </a:solidFill>
              <a:prstDash val="solid"/>
              <a:round/>
            </a:ln>
          </p:spPr>
        </p:sp>
        <p:sp>
          <p:nvSpPr>
            <p:cNvPr name="TextBox 28" id="28"/>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29" id="29"/>
          <p:cNvSpPr/>
          <p:nvPr/>
        </p:nvSpPr>
        <p:spPr>
          <a:xfrm flipH="false" flipV="false" rot="0">
            <a:off x="11350415" y="4508521"/>
            <a:ext cx="1942333" cy="905323"/>
          </a:xfrm>
          <a:custGeom>
            <a:avLst/>
            <a:gdLst/>
            <a:ahLst/>
            <a:cxnLst/>
            <a:rect r="r" b="b" t="t" l="l"/>
            <a:pathLst>
              <a:path h="905323" w="1942333">
                <a:moveTo>
                  <a:pt x="0" y="0"/>
                </a:moveTo>
                <a:lnTo>
                  <a:pt x="1942333" y="0"/>
                </a:lnTo>
                <a:lnTo>
                  <a:pt x="1942333" y="905323"/>
                </a:lnTo>
                <a:lnTo>
                  <a:pt x="0" y="905323"/>
                </a:lnTo>
                <a:lnTo>
                  <a:pt x="0" y="0"/>
                </a:lnTo>
                <a:close/>
              </a:path>
            </a:pathLst>
          </a:custGeom>
          <a:blipFill>
            <a:blip r:embed="rId16">
              <a:extLst>
                <a:ext uri="{96DAC541-7B7A-43D3-8B79-37D633B846F1}">
                  <asvg:svgBlip xmlns:asvg="http://schemas.microsoft.com/office/drawing/2016/SVG/main" r:embed="rId17"/>
                </a:ext>
              </a:extLst>
            </a:blip>
            <a:stretch>
              <a:fillRect l="0" t="-114545" r="0" b="0"/>
            </a:stretch>
          </a:blipFill>
          <a:ln cap="sq">
            <a:noFill/>
            <a:prstDash val="solid"/>
            <a:miter/>
          </a:ln>
        </p:spPr>
      </p:sp>
      <p:grpSp>
        <p:nvGrpSpPr>
          <p:cNvPr name="Group 30" id="30"/>
          <p:cNvGrpSpPr/>
          <p:nvPr/>
        </p:nvGrpSpPr>
        <p:grpSpPr>
          <a:xfrm rot="-10800000">
            <a:off x="14081857" y="4543008"/>
            <a:ext cx="2830991" cy="3395267"/>
            <a:chOff x="0" y="0"/>
            <a:chExt cx="2041606" cy="2448541"/>
          </a:xfrm>
        </p:grpSpPr>
        <p:sp>
          <p:nvSpPr>
            <p:cNvPr name="Freeform 31" id="31"/>
            <p:cNvSpPr/>
            <p:nvPr/>
          </p:nvSpPr>
          <p:spPr>
            <a:xfrm flipH="false" flipV="false" rot="0">
              <a:off x="0" y="0"/>
              <a:ext cx="2041606" cy="2448541"/>
            </a:xfrm>
            <a:custGeom>
              <a:avLst/>
              <a:gdLst/>
              <a:ahLst/>
              <a:cxnLst/>
              <a:rect r="r" b="b" t="t" l="l"/>
              <a:pathLst>
                <a:path h="2448541" w="2041606">
                  <a:moveTo>
                    <a:pt x="87511" y="0"/>
                  </a:moveTo>
                  <a:lnTo>
                    <a:pt x="1954095" y="0"/>
                  </a:lnTo>
                  <a:cubicBezTo>
                    <a:pt x="2002426" y="0"/>
                    <a:pt x="2041606" y="39180"/>
                    <a:pt x="2041606" y="87511"/>
                  </a:cubicBezTo>
                  <a:lnTo>
                    <a:pt x="2041606" y="2361030"/>
                  </a:lnTo>
                  <a:cubicBezTo>
                    <a:pt x="2041606" y="2384240"/>
                    <a:pt x="2032386" y="2406498"/>
                    <a:pt x="2015975" y="2422910"/>
                  </a:cubicBezTo>
                  <a:cubicBezTo>
                    <a:pt x="1999563" y="2439321"/>
                    <a:pt x="1977305" y="2448541"/>
                    <a:pt x="1954095" y="2448541"/>
                  </a:cubicBezTo>
                  <a:lnTo>
                    <a:pt x="87511" y="2448541"/>
                  </a:lnTo>
                  <a:cubicBezTo>
                    <a:pt x="64301" y="2448541"/>
                    <a:pt x="42043" y="2439321"/>
                    <a:pt x="25631" y="2422910"/>
                  </a:cubicBezTo>
                  <a:cubicBezTo>
                    <a:pt x="9220" y="2406498"/>
                    <a:pt x="0" y="2384240"/>
                    <a:pt x="0" y="2361030"/>
                  </a:cubicBezTo>
                  <a:lnTo>
                    <a:pt x="0" y="87511"/>
                  </a:lnTo>
                  <a:cubicBezTo>
                    <a:pt x="0" y="64301"/>
                    <a:pt x="9220" y="42043"/>
                    <a:pt x="25631" y="25631"/>
                  </a:cubicBezTo>
                  <a:cubicBezTo>
                    <a:pt x="42043" y="9220"/>
                    <a:pt x="64301" y="0"/>
                    <a:pt x="87511" y="0"/>
                  </a:cubicBezTo>
                  <a:close/>
                </a:path>
              </a:pathLst>
            </a:custGeom>
            <a:solidFill>
              <a:srgbClr val="FFFFFF"/>
            </a:solidFill>
            <a:ln w="123825" cap="rnd">
              <a:solidFill>
                <a:srgbClr val="2B7695"/>
              </a:solidFill>
              <a:prstDash val="solid"/>
              <a:round/>
            </a:ln>
          </p:spPr>
        </p:sp>
        <p:sp>
          <p:nvSpPr>
            <p:cNvPr name="TextBox 32" id="32"/>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33" id="33"/>
          <p:cNvSpPr/>
          <p:nvPr/>
        </p:nvSpPr>
        <p:spPr>
          <a:xfrm flipH="false" flipV="false" rot="0">
            <a:off x="14526186" y="4543008"/>
            <a:ext cx="1942333" cy="905323"/>
          </a:xfrm>
          <a:custGeom>
            <a:avLst/>
            <a:gdLst/>
            <a:ahLst/>
            <a:cxnLst/>
            <a:rect r="r" b="b" t="t" l="l"/>
            <a:pathLst>
              <a:path h="905323" w="1942333">
                <a:moveTo>
                  <a:pt x="0" y="0"/>
                </a:moveTo>
                <a:lnTo>
                  <a:pt x="1942333" y="0"/>
                </a:lnTo>
                <a:lnTo>
                  <a:pt x="1942333" y="905323"/>
                </a:lnTo>
                <a:lnTo>
                  <a:pt x="0" y="905323"/>
                </a:lnTo>
                <a:lnTo>
                  <a:pt x="0" y="0"/>
                </a:lnTo>
                <a:close/>
              </a:path>
            </a:pathLst>
          </a:custGeom>
          <a:blipFill>
            <a:blip r:embed="rId18">
              <a:extLst>
                <a:ext uri="{96DAC541-7B7A-43D3-8B79-37D633B846F1}">
                  <asvg:svgBlip xmlns:asvg="http://schemas.microsoft.com/office/drawing/2016/SVG/main" r:embed="rId19"/>
                </a:ext>
              </a:extLst>
            </a:blip>
            <a:stretch>
              <a:fillRect l="0" t="-114545" r="0" b="0"/>
            </a:stretch>
          </a:blipFill>
          <a:ln cap="sq">
            <a:noFill/>
            <a:prstDash val="solid"/>
            <a:miter/>
          </a:ln>
        </p:spPr>
      </p:sp>
      <p:grpSp>
        <p:nvGrpSpPr>
          <p:cNvPr name="Group 34" id="34"/>
          <p:cNvGrpSpPr/>
          <p:nvPr/>
        </p:nvGrpSpPr>
        <p:grpSpPr>
          <a:xfrm rot="0">
            <a:off x="2024535" y="5391373"/>
            <a:ext cx="1585224" cy="158522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0"/>
              <a:stretch>
                <a:fillRect l="-3767" t="0" r="-3767" b="0"/>
              </a:stretch>
            </a:blipFill>
          </p:spPr>
        </p:sp>
      </p:grpSp>
      <p:grpSp>
        <p:nvGrpSpPr>
          <p:cNvPr name="Group 36" id="36"/>
          <p:cNvGrpSpPr/>
          <p:nvPr/>
        </p:nvGrpSpPr>
        <p:grpSpPr>
          <a:xfrm rot="0">
            <a:off x="14708627" y="5370592"/>
            <a:ext cx="1585224" cy="1728275"/>
            <a:chOff x="0" y="0"/>
            <a:chExt cx="812800" cy="886147"/>
          </a:xfrm>
        </p:grpSpPr>
        <p:sp>
          <p:nvSpPr>
            <p:cNvPr name="Freeform 37" id="37"/>
            <p:cNvSpPr/>
            <p:nvPr/>
          </p:nvSpPr>
          <p:spPr>
            <a:xfrm flipH="false" flipV="false" rot="0">
              <a:off x="0" y="0"/>
              <a:ext cx="812800" cy="886147"/>
            </a:xfrm>
            <a:custGeom>
              <a:avLst/>
              <a:gdLst/>
              <a:ahLst/>
              <a:cxnLst/>
              <a:rect r="r" b="b" t="t" l="l"/>
              <a:pathLst>
                <a:path h="886147" w="812800">
                  <a:moveTo>
                    <a:pt x="0" y="0"/>
                  </a:moveTo>
                  <a:lnTo>
                    <a:pt x="812800" y="0"/>
                  </a:lnTo>
                  <a:lnTo>
                    <a:pt x="812800" y="886147"/>
                  </a:lnTo>
                  <a:lnTo>
                    <a:pt x="0" y="886147"/>
                  </a:lnTo>
                  <a:close/>
                </a:path>
              </a:pathLst>
            </a:custGeom>
            <a:blipFill>
              <a:blip r:embed="rId21"/>
              <a:stretch>
                <a:fillRect l="-2450" t="0" r="-2450" b="0"/>
              </a:stretch>
            </a:blipFill>
          </p:spPr>
        </p:sp>
      </p:grpSp>
      <p:grpSp>
        <p:nvGrpSpPr>
          <p:cNvPr name="Group 38" id="38"/>
          <p:cNvGrpSpPr/>
          <p:nvPr/>
        </p:nvGrpSpPr>
        <p:grpSpPr>
          <a:xfrm rot="0">
            <a:off x="5259183" y="5370592"/>
            <a:ext cx="1419640" cy="1585224"/>
            <a:chOff x="0" y="0"/>
            <a:chExt cx="727899" cy="812800"/>
          </a:xfrm>
        </p:grpSpPr>
        <p:sp>
          <p:nvSpPr>
            <p:cNvPr name="Freeform 39" id="39"/>
            <p:cNvSpPr/>
            <p:nvPr/>
          </p:nvSpPr>
          <p:spPr>
            <a:xfrm flipH="false" flipV="false" rot="0">
              <a:off x="0" y="0"/>
              <a:ext cx="727899" cy="812800"/>
            </a:xfrm>
            <a:custGeom>
              <a:avLst/>
              <a:gdLst/>
              <a:ahLst/>
              <a:cxnLst/>
              <a:rect r="r" b="b" t="t" l="l"/>
              <a:pathLst>
                <a:path h="812800" w="727899">
                  <a:moveTo>
                    <a:pt x="0" y="0"/>
                  </a:moveTo>
                  <a:lnTo>
                    <a:pt x="727899" y="0"/>
                  </a:lnTo>
                  <a:lnTo>
                    <a:pt x="727899" y="812800"/>
                  </a:lnTo>
                  <a:lnTo>
                    <a:pt x="0" y="812800"/>
                  </a:lnTo>
                  <a:close/>
                </a:path>
              </a:pathLst>
            </a:custGeom>
            <a:blipFill>
              <a:blip r:embed="rId22"/>
              <a:stretch>
                <a:fillRect l="-6607" t="0" r="-6607" b="0"/>
              </a:stretch>
            </a:blipFill>
          </p:spPr>
        </p:sp>
      </p:grpSp>
      <p:grpSp>
        <p:nvGrpSpPr>
          <p:cNvPr name="Group 40" id="40"/>
          <p:cNvGrpSpPr/>
          <p:nvPr/>
        </p:nvGrpSpPr>
        <p:grpSpPr>
          <a:xfrm rot="0">
            <a:off x="8377887" y="5370592"/>
            <a:ext cx="1585224" cy="1585224"/>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3"/>
              <a:stretch>
                <a:fillRect l="-3614" t="0" r="-3614" b="0"/>
              </a:stretch>
            </a:blipFill>
          </p:spPr>
        </p:sp>
      </p:grpSp>
      <p:grpSp>
        <p:nvGrpSpPr>
          <p:cNvPr name="Group 42" id="42"/>
          <p:cNvGrpSpPr/>
          <p:nvPr/>
        </p:nvGrpSpPr>
        <p:grpSpPr>
          <a:xfrm rot="0">
            <a:off x="11607245" y="5370592"/>
            <a:ext cx="1585224" cy="1585224"/>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4"/>
              <a:stretch>
                <a:fillRect l="0" t="-617" r="0" b="-617"/>
              </a:stretch>
            </a:blipFill>
          </p:spPr>
        </p:sp>
      </p:grpSp>
      <p:sp>
        <p:nvSpPr>
          <p:cNvPr name="TextBox 44" id="44"/>
          <p:cNvSpPr txBox="true"/>
          <p:nvPr/>
        </p:nvSpPr>
        <p:spPr>
          <a:xfrm rot="0">
            <a:off x="11459506" y="6984007"/>
            <a:ext cx="1899753" cy="793688"/>
          </a:xfrm>
          <a:prstGeom prst="rect">
            <a:avLst/>
          </a:prstGeom>
        </p:spPr>
        <p:txBody>
          <a:bodyPr anchor="t" rtlCol="false" tIns="0" lIns="0" bIns="0" rIns="0">
            <a:spAutoFit/>
          </a:bodyPr>
          <a:lstStyle/>
          <a:p>
            <a:pPr algn="ctr">
              <a:lnSpc>
                <a:spcPts val="3199"/>
              </a:lnSpc>
            </a:pPr>
            <a:r>
              <a:rPr lang="en-US" sz="2499" b="true">
                <a:solidFill>
                  <a:srgbClr val="348894"/>
                </a:solidFill>
                <a:latin typeface="Inter Bold"/>
                <a:ea typeface="Inter Bold"/>
                <a:cs typeface="Inter Bold"/>
                <a:sym typeface="Inter Bold"/>
              </a:rPr>
              <a:t>Mô hình </a:t>
            </a:r>
          </a:p>
          <a:p>
            <a:pPr algn="ctr" marL="0" indent="0" lvl="0">
              <a:lnSpc>
                <a:spcPts val="3199"/>
              </a:lnSpc>
              <a:spcBef>
                <a:spcPct val="0"/>
              </a:spcBef>
            </a:pPr>
            <a:r>
              <a:rPr lang="en-US" b="true" sz="2499">
                <a:solidFill>
                  <a:srgbClr val="348894"/>
                </a:solidFill>
                <a:latin typeface="Inter Bold"/>
                <a:ea typeface="Inter Bold"/>
                <a:cs typeface="Inter Bold"/>
                <a:sym typeface="Inter Bold"/>
              </a:rPr>
              <a:t>dự đoán</a:t>
            </a:r>
          </a:p>
        </p:txBody>
      </p:sp>
      <p:sp>
        <p:nvSpPr>
          <p:cNvPr name="TextBox 45" id="45"/>
          <p:cNvSpPr txBox="true"/>
          <p:nvPr/>
        </p:nvSpPr>
        <p:spPr>
          <a:xfrm rot="0">
            <a:off x="5019126" y="6957547"/>
            <a:ext cx="1899753" cy="793688"/>
          </a:xfrm>
          <a:prstGeom prst="rect">
            <a:avLst/>
          </a:prstGeom>
        </p:spPr>
        <p:txBody>
          <a:bodyPr anchor="t" rtlCol="false" tIns="0" lIns="0" bIns="0" rIns="0">
            <a:spAutoFit/>
          </a:bodyPr>
          <a:lstStyle/>
          <a:p>
            <a:pPr algn="ctr" marL="0" indent="0" lvl="0">
              <a:lnSpc>
                <a:spcPts val="3199"/>
              </a:lnSpc>
              <a:spcBef>
                <a:spcPct val="0"/>
              </a:spcBef>
            </a:pPr>
            <a:r>
              <a:rPr lang="en-US" b="true" sz="2499">
                <a:solidFill>
                  <a:srgbClr val="BA9E66"/>
                </a:solidFill>
                <a:latin typeface="Inter Bold"/>
                <a:ea typeface="Inter Bold"/>
                <a:cs typeface="Inter Bold"/>
                <a:sym typeface="Inter Bold"/>
              </a:rPr>
              <a:t>Tiền xử lý dữ liệu</a:t>
            </a:r>
          </a:p>
        </p:txBody>
      </p:sp>
      <p:sp>
        <p:nvSpPr>
          <p:cNvPr name="TextBox 46" id="46"/>
          <p:cNvSpPr txBox="true"/>
          <p:nvPr/>
        </p:nvSpPr>
        <p:spPr>
          <a:xfrm rot="0">
            <a:off x="8215413" y="6957547"/>
            <a:ext cx="1899753" cy="793688"/>
          </a:xfrm>
          <a:prstGeom prst="rect">
            <a:avLst/>
          </a:prstGeom>
        </p:spPr>
        <p:txBody>
          <a:bodyPr anchor="t" rtlCol="false" tIns="0" lIns="0" bIns="0" rIns="0">
            <a:spAutoFit/>
          </a:bodyPr>
          <a:lstStyle/>
          <a:p>
            <a:pPr algn="ctr" marL="0" indent="0" lvl="0">
              <a:lnSpc>
                <a:spcPts val="3199"/>
              </a:lnSpc>
              <a:spcBef>
                <a:spcPct val="0"/>
              </a:spcBef>
            </a:pPr>
            <a:r>
              <a:rPr lang="en-US" b="true" sz="2499">
                <a:solidFill>
                  <a:srgbClr val="507E88"/>
                </a:solidFill>
                <a:latin typeface="Inter Bold"/>
                <a:ea typeface="Inter Bold"/>
                <a:cs typeface="Inter Bold"/>
                <a:sym typeface="Inter Bold"/>
              </a:rPr>
              <a:t>Phân tích dữ liệu</a:t>
            </a:r>
          </a:p>
        </p:txBody>
      </p:sp>
      <p:sp>
        <p:nvSpPr>
          <p:cNvPr name="TextBox 47" id="47"/>
          <p:cNvSpPr txBox="true"/>
          <p:nvPr/>
        </p:nvSpPr>
        <p:spPr>
          <a:xfrm rot="0">
            <a:off x="5523789" y="4562439"/>
            <a:ext cx="848360" cy="550611"/>
          </a:xfrm>
          <a:prstGeom prst="rect">
            <a:avLst/>
          </a:prstGeom>
        </p:spPr>
        <p:txBody>
          <a:bodyPr anchor="t" rtlCol="false" tIns="0" lIns="0" bIns="0" rIns="0">
            <a:spAutoFit/>
          </a:bodyPr>
          <a:lstStyle/>
          <a:p>
            <a:pPr algn="ctr" marL="0" indent="0" lvl="0">
              <a:lnSpc>
                <a:spcPts val="4430"/>
              </a:lnSpc>
              <a:spcBef>
                <a:spcPct val="0"/>
              </a:spcBef>
            </a:pPr>
            <a:r>
              <a:rPr lang="en-US" b="true" sz="3461">
                <a:solidFill>
                  <a:srgbClr val="F8F8F8"/>
                </a:solidFill>
                <a:latin typeface="Inter Bold"/>
                <a:ea typeface="Inter Bold"/>
                <a:cs typeface="Inter Bold"/>
                <a:sym typeface="Inter Bold"/>
              </a:rPr>
              <a:t>02</a:t>
            </a:r>
          </a:p>
        </p:txBody>
      </p:sp>
      <p:sp>
        <p:nvSpPr>
          <p:cNvPr name="TextBox 48" id="48"/>
          <p:cNvSpPr txBox="true"/>
          <p:nvPr/>
        </p:nvSpPr>
        <p:spPr>
          <a:xfrm rot="0">
            <a:off x="8699560" y="4562439"/>
            <a:ext cx="848360" cy="550611"/>
          </a:xfrm>
          <a:prstGeom prst="rect">
            <a:avLst/>
          </a:prstGeom>
        </p:spPr>
        <p:txBody>
          <a:bodyPr anchor="t" rtlCol="false" tIns="0" lIns="0" bIns="0" rIns="0">
            <a:spAutoFit/>
          </a:bodyPr>
          <a:lstStyle/>
          <a:p>
            <a:pPr algn="ctr" marL="0" indent="0" lvl="0">
              <a:lnSpc>
                <a:spcPts val="4430"/>
              </a:lnSpc>
              <a:spcBef>
                <a:spcPct val="0"/>
              </a:spcBef>
            </a:pPr>
            <a:r>
              <a:rPr lang="en-US" b="true" sz="3461">
                <a:solidFill>
                  <a:srgbClr val="F8F8F8"/>
                </a:solidFill>
                <a:latin typeface="Inter Bold"/>
                <a:ea typeface="Inter Bold"/>
                <a:cs typeface="Inter Bold"/>
                <a:sym typeface="Inter Bold"/>
              </a:rPr>
              <a:t>03</a:t>
            </a:r>
          </a:p>
        </p:txBody>
      </p:sp>
      <p:sp>
        <p:nvSpPr>
          <p:cNvPr name="TextBox 49" id="49"/>
          <p:cNvSpPr txBox="true"/>
          <p:nvPr/>
        </p:nvSpPr>
        <p:spPr>
          <a:xfrm rot="0">
            <a:off x="11877142" y="4562439"/>
            <a:ext cx="848360" cy="550611"/>
          </a:xfrm>
          <a:prstGeom prst="rect">
            <a:avLst/>
          </a:prstGeom>
        </p:spPr>
        <p:txBody>
          <a:bodyPr anchor="t" rtlCol="false" tIns="0" lIns="0" bIns="0" rIns="0">
            <a:spAutoFit/>
          </a:bodyPr>
          <a:lstStyle/>
          <a:p>
            <a:pPr algn="ctr" marL="0" indent="0" lvl="0">
              <a:lnSpc>
                <a:spcPts val="4430"/>
              </a:lnSpc>
              <a:spcBef>
                <a:spcPct val="0"/>
              </a:spcBef>
            </a:pPr>
            <a:r>
              <a:rPr lang="en-US" b="true" sz="3461">
                <a:solidFill>
                  <a:srgbClr val="F8F8F8"/>
                </a:solidFill>
                <a:latin typeface="Inter Bold"/>
                <a:ea typeface="Inter Bold"/>
                <a:cs typeface="Inter Bold"/>
                <a:sym typeface="Inter Bold"/>
              </a:rPr>
              <a:t>04</a:t>
            </a:r>
          </a:p>
        </p:txBody>
      </p:sp>
      <p:sp>
        <p:nvSpPr>
          <p:cNvPr name="TextBox 50" id="50"/>
          <p:cNvSpPr txBox="true"/>
          <p:nvPr/>
        </p:nvSpPr>
        <p:spPr>
          <a:xfrm rot="0">
            <a:off x="15052913" y="4596926"/>
            <a:ext cx="848360" cy="550611"/>
          </a:xfrm>
          <a:prstGeom prst="rect">
            <a:avLst/>
          </a:prstGeom>
        </p:spPr>
        <p:txBody>
          <a:bodyPr anchor="t" rtlCol="false" tIns="0" lIns="0" bIns="0" rIns="0">
            <a:spAutoFit/>
          </a:bodyPr>
          <a:lstStyle/>
          <a:p>
            <a:pPr algn="ctr" marL="0" indent="0" lvl="0">
              <a:lnSpc>
                <a:spcPts val="4430"/>
              </a:lnSpc>
              <a:spcBef>
                <a:spcPct val="0"/>
              </a:spcBef>
            </a:pPr>
            <a:r>
              <a:rPr lang="en-US" b="true" sz="3461">
                <a:solidFill>
                  <a:srgbClr val="F8F8F8"/>
                </a:solidFill>
                <a:latin typeface="Inter Bold"/>
                <a:ea typeface="Inter Bold"/>
                <a:cs typeface="Inter Bold"/>
                <a:sym typeface="Inter Bold"/>
              </a:rPr>
              <a:t>05</a:t>
            </a:r>
          </a:p>
        </p:txBody>
      </p:sp>
      <p:sp>
        <p:nvSpPr>
          <p:cNvPr name="TextBox 51" id="51"/>
          <p:cNvSpPr txBox="true"/>
          <p:nvPr/>
        </p:nvSpPr>
        <p:spPr>
          <a:xfrm rot="0">
            <a:off x="1820511" y="7157556"/>
            <a:ext cx="1899753" cy="393669"/>
          </a:xfrm>
          <a:prstGeom prst="rect">
            <a:avLst/>
          </a:prstGeom>
        </p:spPr>
        <p:txBody>
          <a:bodyPr anchor="t" rtlCol="false" tIns="0" lIns="0" bIns="0" rIns="0">
            <a:spAutoFit/>
          </a:bodyPr>
          <a:lstStyle/>
          <a:p>
            <a:pPr algn="ctr" marL="0" indent="0" lvl="0">
              <a:lnSpc>
                <a:spcPts val="3199"/>
              </a:lnSpc>
              <a:spcBef>
                <a:spcPct val="0"/>
              </a:spcBef>
            </a:pPr>
            <a:r>
              <a:rPr lang="en-US" b="true" sz="2499">
                <a:solidFill>
                  <a:srgbClr val="9D8021"/>
                </a:solidFill>
                <a:latin typeface="Inter Bold"/>
                <a:ea typeface="Inter Bold"/>
                <a:cs typeface="Inter Bold"/>
                <a:sym typeface="Inter Bold"/>
              </a:rPr>
              <a:t>Tổng quan</a:t>
            </a:r>
          </a:p>
        </p:txBody>
      </p:sp>
      <p:sp>
        <p:nvSpPr>
          <p:cNvPr name="TextBox 52" id="52"/>
          <p:cNvSpPr txBox="true"/>
          <p:nvPr/>
        </p:nvSpPr>
        <p:spPr>
          <a:xfrm rot="0">
            <a:off x="2346208" y="4562439"/>
            <a:ext cx="848360" cy="550611"/>
          </a:xfrm>
          <a:prstGeom prst="rect">
            <a:avLst/>
          </a:prstGeom>
        </p:spPr>
        <p:txBody>
          <a:bodyPr anchor="t" rtlCol="false" tIns="0" lIns="0" bIns="0" rIns="0">
            <a:spAutoFit/>
          </a:bodyPr>
          <a:lstStyle/>
          <a:p>
            <a:pPr algn="ctr" marL="0" indent="0" lvl="0">
              <a:lnSpc>
                <a:spcPts val="4430"/>
              </a:lnSpc>
              <a:spcBef>
                <a:spcPct val="0"/>
              </a:spcBef>
            </a:pPr>
            <a:r>
              <a:rPr lang="en-US" b="true" sz="3461">
                <a:solidFill>
                  <a:srgbClr val="F8F8F8"/>
                </a:solidFill>
                <a:latin typeface="Inter Bold"/>
                <a:ea typeface="Inter Bold"/>
                <a:cs typeface="Inter Bold"/>
                <a:sym typeface="Inter Bold"/>
              </a:rPr>
              <a:t>01</a:t>
            </a:r>
          </a:p>
        </p:txBody>
      </p:sp>
      <p:sp>
        <p:nvSpPr>
          <p:cNvPr name="TextBox 53" id="53"/>
          <p:cNvSpPr txBox="true"/>
          <p:nvPr/>
        </p:nvSpPr>
        <p:spPr>
          <a:xfrm rot="0">
            <a:off x="14543409" y="7157556"/>
            <a:ext cx="1899753" cy="393669"/>
          </a:xfrm>
          <a:prstGeom prst="rect">
            <a:avLst/>
          </a:prstGeom>
        </p:spPr>
        <p:txBody>
          <a:bodyPr anchor="t" rtlCol="false" tIns="0" lIns="0" bIns="0" rIns="0">
            <a:spAutoFit/>
          </a:bodyPr>
          <a:lstStyle/>
          <a:p>
            <a:pPr algn="ctr" marL="0" indent="0" lvl="0">
              <a:lnSpc>
                <a:spcPts val="3199"/>
              </a:lnSpc>
              <a:spcBef>
                <a:spcPct val="0"/>
              </a:spcBef>
            </a:pPr>
            <a:r>
              <a:rPr lang="en-US" b="true" sz="2499">
                <a:solidFill>
                  <a:srgbClr val="1C4F64"/>
                </a:solidFill>
                <a:latin typeface="Inter Bold"/>
                <a:ea typeface="Inter Bold"/>
                <a:cs typeface="Inter Bold"/>
                <a:sym typeface="Inter Bold"/>
              </a:rPr>
              <a:t>Kết luận</a:t>
            </a:r>
          </a:p>
        </p:txBody>
      </p:sp>
      <p:sp>
        <p:nvSpPr>
          <p:cNvPr name="Freeform 54" id="54"/>
          <p:cNvSpPr/>
          <p:nvPr/>
        </p:nvSpPr>
        <p:spPr>
          <a:xfrm flipH="true" flipV="false" rot="0">
            <a:off x="1819481" y="2861849"/>
            <a:ext cx="1665776" cy="820773"/>
          </a:xfrm>
          <a:custGeom>
            <a:avLst/>
            <a:gdLst/>
            <a:ahLst/>
            <a:cxnLst/>
            <a:rect r="r" b="b" t="t" l="l"/>
            <a:pathLst>
              <a:path h="820773" w="1665776">
                <a:moveTo>
                  <a:pt x="1665777" y="0"/>
                </a:moveTo>
                <a:lnTo>
                  <a:pt x="0" y="0"/>
                </a:lnTo>
                <a:lnTo>
                  <a:pt x="0" y="820773"/>
                </a:lnTo>
                <a:lnTo>
                  <a:pt x="1665777" y="820773"/>
                </a:lnTo>
                <a:lnTo>
                  <a:pt x="1665777"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5" id="55"/>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9324559" y="3201307"/>
            <a:ext cx="5450534" cy="994445"/>
          </a:xfrm>
          <a:prstGeom prst="rect">
            <a:avLst/>
          </a:prstGeom>
        </p:spPr>
        <p:txBody>
          <a:bodyPr anchor="t" rtlCol="false" tIns="0" lIns="0" bIns="0" rIns="0">
            <a:spAutoFit/>
          </a:bodyPr>
          <a:lstStyle/>
          <a:p>
            <a:pPr algn="ctr">
              <a:lnSpc>
                <a:spcPts val="7290"/>
              </a:lnSpc>
            </a:pPr>
            <a:r>
              <a:rPr lang="en-US" sz="8100" b="true">
                <a:solidFill>
                  <a:srgbClr val="9D8021"/>
                </a:solidFill>
                <a:latin typeface="Cormorant Garamond Bold"/>
                <a:ea typeface="Cormorant Garamond Bold"/>
                <a:cs typeface="Cormorant Garamond Bold"/>
                <a:sym typeface="Cormorant Garamond Bold"/>
              </a:rPr>
              <a:t>Tổng quan</a:t>
            </a:r>
          </a:p>
        </p:txBody>
      </p:sp>
      <p:grpSp>
        <p:nvGrpSpPr>
          <p:cNvPr name="Group 11" id="11"/>
          <p:cNvGrpSpPr/>
          <p:nvPr/>
        </p:nvGrpSpPr>
        <p:grpSpPr>
          <a:xfrm rot="-10800000">
            <a:off x="1946310" y="1845056"/>
            <a:ext cx="6101253" cy="6596889"/>
            <a:chOff x="0" y="0"/>
            <a:chExt cx="4399999" cy="4757433"/>
          </a:xfrm>
        </p:grpSpPr>
        <p:sp>
          <p:nvSpPr>
            <p:cNvPr name="Freeform 12" id="12"/>
            <p:cNvSpPr/>
            <p:nvPr/>
          </p:nvSpPr>
          <p:spPr>
            <a:xfrm flipH="false" flipV="false" rot="0">
              <a:off x="0" y="0"/>
              <a:ext cx="4399998" cy="4757432"/>
            </a:xfrm>
            <a:custGeom>
              <a:avLst/>
              <a:gdLst/>
              <a:ahLst/>
              <a:cxnLst/>
              <a:rect r="r" b="b" t="t" l="l"/>
              <a:pathLst>
                <a:path h="4757432" w="4399998">
                  <a:moveTo>
                    <a:pt x="40605" y="0"/>
                  </a:moveTo>
                  <a:lnTo>
                    <a:pt x="4359394" y="0"/>
                  </a:lnTo>
                  <a:cubicBezTo>
                    <a:pt x="4381819" y="0"/>
                    <a:pt x="4399998" y="18179"/>
                    <a:pt x="4399998" y="40605"/>
                  </a:cubicBezTo>
                  <a:lnTo>
                    <a:pt x="4399998" y="4716828"/>
                  </a:lnTo>
                  <a:cubicBezTo>
                    <a:pt x="4399998" y="4739253"/>
                    <a:pt x="4381819" y="4757432"/>
                    <a:pt x="4359394" y="4757432"/>
                  </a:cubicBezTo>
                  <a:lnTo>
                    <a:pt x="40605" y="4757432"/>
                  </a:lnTo>
                  <a:cubicBezTo>
                    <a:pt x="18179" y="4757432"/>
                    <a:pt x="0" y="4739253"/>
                    <a:pt x="0" y="4716828"/>
                  </a:cubicBezTo>
                  <a:lnTo>
                    <a:pt x="0" y="40605"/>
                  </a:lnTo>
                  <a:cubicBezTo>
                    <a:pt x="0" y="18179"/>
                    <a:pt x="18179" y="0"/>
                    <a:pt x="40605" y="0"/>
                  </a:cubicBezTo>
                  <a:close/>
                </a:path>
              </a:pathLst>
            </a:custGeom>
            <a:solidFill>
              <a:srgbClr val="FAFAFB"/>
            </a:solidFill>
            <a:ln w="123825" cap="rnd">
              <a:solidFill>
                <a:srgbClr val="F4C839"/>
              </a:solidFill>
              <a:prstDash val="solid"/>
              <a:round/>
            </a:ln>
          </p:spPr>
        </p:sp>
        <p:sp>
          <p:nvSpPr>
            <p:cNvPr name="TextBox 13" id="13"/>
            <p:cNvSpPr txBox="true"/>
            <p:nvPr/>
          </p:nvSpPr>
          <p:spPr>
            <a:xfrm>
              <a:off x="0" y="-38100"/>
              <a:ext cx="4399999" cy="4795533"/>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4" id="14"/>
          <p:cNvGrpSpPr/>
          <p:nvPr/>
        </p:nvGrpSpPr>
        <p:grpSpPr>
          <a:xfrm rot="0">
            <a:off x="2816619" y="2963182"/>
            <a:ext cx="4360636" cy="436063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6"/>
              <a:stretch>
                <a:fillRect l="-3767" t="0" r="-3767" b="0"/>
              </a:stretch>
            </a:blipFill>
          </p:spPr>
        </p:sp>
      </p:grpSp>
      <p:sp>
        <p:nvSpPr>
          <p:cNvPr name="Freeform 16" id="16"/>
          <p:cNvSpPr/>
          <p:nvPr/>
        </p:nvSpPr>
        <p:spPr>
          <a:xfrm flipH="false" flipV="false" rot="5400000">
            <a:off x="14093008" y="3984962"/>
            <a:ext cx="4971190" cy="2317076"/>
          </a:xfrm>
          <a:custGeom>
            <a:avLst/>
            <a:gdLst/>
            <a:ahLst/>
            <a:cxnLst/>
            <a:rect r="r" b="b" t="t" l="l"/>
            <a:pathLst>
              <a:path h="2317076" w="4971190">
                <a:moveTo>
                  <a:pt x="0" y="0"/>
                </a:moveTo>
                <a:lnTo>
                  <a:pt x="4971190" y="0"/>
                </a:lnTo>
                <a:lnTo>
                  <a:pt x="4971190" y="2317076"/>
                </a:lnTo>
                <a:lnTo>
                  <a:pt x="0" y="2317076"/>
                </a:lnTo>
                <a:lnTo>
                  <a:pt x="0" y="0"/>
                </a:lnTo>
                <a:close/>
              </a:path>
            </a:pathLst>
          </a:custGeom>
          <a:blipFill>
            <a:blip r:embed="rId7">
              <a:extLst>
                <a:ext uri="{96DAC541-7B7A-43D3-8B79-37D633B846F1}">
                  <asvg:svgBlip xmlns:asvg="http://schemas.microsoft.com/office/drawing/2016/SVG/main" r:embed="rId8"/>
                </a:ext>
              </a:extLst>
            </a:blip>
            <a:stretch>
              <a:fillRect l="0" t="-114545" r="0" b="0"/>
            </a:stretch>
          </a:blipFill>
          <a:ln cap="sq">
            <a:noFill/>
            <a:prstDash val="solid"/>
            <a:miter/>
          </a:ln>
        </p:spPr>
      </p:sp>
      <p:sp>
        <p:nvSpPr>
          <p:cNvPr name="TextBox 17" id="17"/>
          <p:cNvSpPr txBox="true"/>
          <p:nvPr/>
        </p:nvSpPr>
        <p:spPr>
          <a:xfrm rot="0">
            <a:off x="16170569" y="4640587"/>
            <a:ext cx="1294764" cy="958201"/>
          </a:xfrm>
          <a:prstGeom prst="rect">
            <a:avLst/>
          </a:prstGeom>
        </p:spPr>
        <p:txBody>
          <a:bodyPr anchor="t" rtlCol="false" tIns="0" lIns="0" bIns="0" rIns="0">
            <a:spAutoFit/>
          </a:bodyPr>
          <a:lstStyle/>
          <a:p>
            <a:pPr algn="ctr" marL="0" indent="0" lvl="0">
              <a:lnSpc>
                <a:spcPts val="7680"/>
              </a:lnSpc>
              <a:spcBef>
                <a:spcPct val="0"/>
              </a:spcBef>
            </a:pPr>
            <a:r>
              <a:rPr lang="en-US" b="true" sz="6000">
                <a:solidFill>
                  <a:srgbClr val="F8F8F8"/>
                </a:solidFill>
                <a:latin typeface="Inter Bold"/>
                <a:ea typeface="Inter Bold"/>
                <a:cs typeface="Inter Bold"/>
                <a:sym typeface="Inter Bold"/>
              </a:rPr>
              <a:t>01</a:t>
            </a:r>
          </a:p>
        </p:txBody>
      </p:sp>
      <p:sp>
        <p:nvSpPr>
          <p:cNvPr name="TextBox 18" id="18"/>
          <p:cNvSpPr txBox="true"/>
          <p:nvPr/>
        </p:nvSpPr>
        <p:spPr>
          <a:xfrm rot="0">
            <a:off x="9608413" y="4316737"/>
            <a:ext cx="6700178" cy="2915795"/>
          </a:xfrm>
          <a:prstGeom prst="rect">
            <a:avLst/>
          </a:prstGeom>
        </p:spPr>
        <p:txBody>
          <a:bodyPr anchor="t" rtlCol="false" tIns="0" lIns="0" bIns="0" rIns="0">
            <a:spAutoFit/>
          </a:bodyPr>
          <a:lstStyle/>
          <a:p>
            <a:pPr algn="l" marL="755651" indent="-377825" lvl="1">
              <a:lnSpc>
                <a:spcPts val="8015"/>
              </a:lnSpc>
              <a:buFont typeface="Arial"/>
              <a:buChar char="•"/>
            </a:pPr>
            <a:r>
              <a:rPr lang="en-US" sz="3500">
                <a:solidFill>
                  <a:srgbClr val="9D8021"/>
                </a:solidFill>
                <a:latin typeface="Inter"/>
                <a:ea typeface="Inter"/>
                <a:cs typeface="Inter"/>
                <a:sym typeface="Inter"/>
              </a:rPr>
              <a:t>Lí do chọn đề tài</a:t>
            </a:r>
          </a:p>
          <a:p>
            <a:pPr algn="l" marL="755651" indent="-377825" lvl="1">
              <a:lnSpc>
                <a:spcPts val="8015"/>
              </a:lnSpc>
              <a:buFont typeface="Arial"/>
              <a:buChar char="•"/>
            </a:pPr>
            <a:r>
              <a:rPr lang="en-US" sz="3500">
                <a:solidFill>
                  <a:srgbClr val="9D8021"/>
                </a:solidFill>
                <a:latin typeface="Inter"/>
                <a:ea typeface="Inter"/>
                <a:cs typeface="Inter"/>
                <a:sym typeface="Inter"/>
              </a:rPr>
              <a:t>Nguồn gốc dữ liệu</a:t>
            </a:r>
          </a:p>
          <a:p>
            <a:pPr algn="l" marL="755651" indent="-377825" lvl="1">
              <a:lnSpc>
                <a:spcPts val="8015"/>
              </a:lnSpc>
              <a:buFont typeface="Arial"/>
              <a:buChar char="•"/>
            </a:pPr>
            <a:r>
              <a:rPr lang="en-US" sz="3500">
                <a:solidFill>
                  <a:srgbClr val="9D8021"/>
                </a:solidFill>
                <a:latin typeface="Inter"/>
                <a:ea typeface="Inter"/>
                <a:cs typeface="Inter"/>
                <a:sym typeface="Inter"/>
              </a:rPr>
              <a:t>Mô tả dữ liệu</a:t>
            </a:r>
          </a:p>
        </p:txBody>
      </p:sp>
      <p:sp>
        <p:nvSpPr>
          <p:cNvPr name="TextBox 19" id="19"/>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807292" y="2553210"/>
            <a:ext cx="9047100" cy="800100"/>
          </a:xfrm>
          <a:prstGeom prst="rect">
            <a:avLst/>
          </a:prstGeom>
        </p:spPr>
        <p:txBody>
          <a:bodyPr anchor="t" rtlCol="false" tIns="0" lIns="0" bIns="0" rIns="0">
            <a:spAutoFit/>
          </a:bodyPr>
          <a:lstStyle/>
          <a:p>
            <a:pPr algn="just">
              <a:lnSpc>
                <a:spcPts val="5850"/>
              </a:lnSpc>
            </a:pPr>
            <a:r>
              <a:rPr lang="en-US" sz="6500" b="true">
                <a:solidFill>
                  <a:srgbClr val="9D8021"/>
                </a:solidFill>
                <a:latin typeface="Cormorant Garamond Bold"/>
                <a:ea typeface="Cormorant Garamond Bold"/>
                <a:cs typeface="Cormorant Garamond Bold"/>
                <a:sym typeface="Cormorant Garamond Bold"/>
              </a:rPr>
              <a:t>Lí do lựa chọn đề tài?</a:t>
            </a:r>
          </a:p>
        </p:txBody>
      </p:sp>
      <p:sp>
        <p:nvSpPr>
          <p:cNvPr name="Freeform 11" id="11"/>
          <p:cNvSpPr/>
          <p:nvPr/>
        </p:nvSpPr>
        <p:spPr>
          <a:xfrm flipH="false" flipV="false" rot="0">
            <a:off x="1807292" y="7924290"/>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9144000" y="2362710"/>
            <a:ext cx="7790641" cy="5561580"/>
          </a:xfrm>
          <a:custGeom>
            <a:avLst/>
            <a:gdLst/>
            <a:ahLst/>
            <a:cxnLst/>
            <a:rect r="r" b="b" t="t" l="l"/>
            <a:pathLst>
              <a:path h="5561580" w="7790641">
                <a:moveTo>
                  <a:pt x="0" y="0"/>
                </a:moveTo>
                <a:lnTo>
                  <a:pt x="7790641" y="0"/>
                </a:lnTo>
                <a:lnTo>
                  <a:pt x="7790641" y="5561580"/>
                </a:lnTo>
                <a:lnTo>
                  <a:pt x="0" y="5561580"/>
                </a:lnTo>
                <a:lnTo>
                  <a:pt x="0" y="0"/>
                </a:lnTo>
                <a:close/>
              </a:path>
            </a:pathLst>
          </a:custGeom>
          <a:blipFill>
            <a:blip r:embed="rId8"/>
            <a:stretch>
              <a:fillRect l="-1797" t="0" r="-1797" b="0"/>
            </a:stretch>
          </a:blipFill>
        </p:spPr>
      </p:sp>
      <p:sp>
        <p:nvSpPr>
          <p:cNvPr name="TextBox 13" id="13"/>
          <p:cNvSpPr txBox="true"/>
          <p:nvPr/>
        </p:nvSpPr>
        <p:spPr>
          <a:xfrm rot="0">
            <a:off x="1590038" y="3710631"/>
            <a:ext cx="6700178" cy="3701946"/>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9D8021"/>
                </a:solidFill>
                <a:latin typeface="Inter"/>
                <a:ea typeface="Inter"/>
                <a:cs typeface="Inter"/>
                <a:sym typeface="Inter"/>
              </a:rPr>
              <a:t>Sàn TMĐT đang phát triển mạnh mẽ</a:t>
            </a:r>
          </a:p>
          <a:p>
            <a:pPr algn="l" marL="755651" indent="-377825" lvl="1">
              <a:lnSpc>
                <a:spcPts val="4900"/>
              </a:lnSpc>
              <a:buFont typeface="Arial"/>
              <a:buChar char="•"/>
            </a:pPr>
            <a:r>
              <a:rPr lang="en-US" sz="3500">
                <a:solidFill>
                  <a:srgbClr val="9D8021"/>
                </a:solidFill>
                <a:latin typeface="Inter"/>
                <a:ea typeface="Inter"/>
                <a:cs typeface="Inter"/>
                <a:sym typeface="Inter"/>
              </a:rPr>
              <a:t>Nhu cầu tìm hiểu kĩ hơn về từng sản phẩm</a:t>
            </a:r>
          </a:p>
          <a:p>
            <a:pPr algn="l" marL="755651" indent="-377825" lvl="1">
              <a:lnSpc>
                <a:spcPts val="4900"/>
              </a:lnSpc>
              <a:buFont typeface="Arial"/>
              <a:buChar char="•"/>
            </a:pPr>
            <a:r>
              <a:rPr lang="en-US" sz="3500">
                <a:solidFill>
                  <a:srgbClr val="9D8021"/>
                </a:solidFill>
                <a:latin typeface="Inter"/>
                <a:ea typeface="Inter"/>
                <a:cs typeface="Inter"/>
                <a:sym typeface="Inter"/>
              </a:rPr>
              <a:t>Mong muốn về trải nghiệm tốt nhất khi mua sắm</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120181" y="2790521"/>
            <a:ext cx="14047638" cy="4705959"/>
          </a:xfrm>
          <a:custGeom>
            <a:avLst/>
            <a:gdLst/>
            <a:ahLst/>
            <a:cxnLst/>
            <a:rect r="r" b="b" t="t" l="l"/>
            <a:pathLst>
              <a:path h="4705959" w="14047638">
                <a:moveTo>
                  <a:pt x="0" y="0"/>
                </a:moveTo>
                <a:lnTo>
                  <a:pt x="14047638" y="0"/>
                </a:lnTo>
                <a:lnTo>
                  <a:pt x="14047638" y="4705958"/>
                </a:lnTo>
                <a:lnTo>
                  <a:pt x="0" y="4705958"/>
                </a:lnTo>
                <a:lnTo>
                  <a:pt x="0" y="0"/>
                </a:lnTo>
                <a:close/>
              </a:path>
            </a:pathLst>
          </a:custGeom>
          <a:blipFill>
            <a:blip r:embed="rId6"/>
            <a:stretch>
              <a:fillRect l="0" t="0" r="0" b="0"/>
            </a:stretch>
          </a:blipFill>
        </p:spPr>
      </p:sp>
      <p:sp>
        <p:nvSpPr>
          <p:cNvPr name="TextBox 11" id="11"/>
          <p:cNvSpPr txBox="true"/>
          <p:nvPr/>
        </p:nvSpPr>
        <p:spPr>
          <a:xfrm rot="0">
            <a:off x="1686176" y="7967685"/>
            <a:ext cx="5381042" cy="1109393"/>
          </a:xfrm>
          <a:prstGeom prst="rect">
            <a:avLst/>
          </a:prstGeom>
        </p:spPr>
        <p:txBody>
          <a:bodyPr anchor="t" rtlCol="false" tIns="0" lIns="0" bIns="0" rIns="0">
            <a:spAutoFit/>
          </a:bodyPr>
          <a:lstStyle/>
          <a:p>
            <a:pPr algn="l" marL="690882" indent="-345441" lvl="1">
              <a:lnSpc>
                <a:spcPts val="4480"/>
              </a:lnSpc>
              <a:buFont typeface="Arial"/>
              <a:buChar char="•"/>
            </a:pPr>
            <a:r>
              <a:rPr lang="en-US" sz="3200">
                <a:solidFill>
                  <a:srgbClr val="2B7695"/>
                </a:solidFill>
                <a:latin typeface="Inter"/>
                <a:ea typeface="Inter"/>
                <a:cs typeface="Inter"/>
                <a:sym typeface="Inter"/>
              </a:rPr>
              <a:t>Dữ liệu được crawl từ sàn TMĐT Shopee</a:t>
            </a:r>
          </a:p>
        </p:txBody>
      </p:sp>
      <p:sp>
        <p:nvSpPr>
          <p:cNvPr name="TextBox 12" id="12"/>
          <p:cNvSpPr txBox="true"/>
          <p:nvPr/>
        </p:nvSpPr>
        <p:spPr>
          <a:xfrm rot="0">
            <a:off x="7067218" y="7967685"/>
            <a:ext cx="9182101" cy="1109393"/>
          </a:xfrm>
          <a:prstGeom prst="rect">
            <a:avLst/>
          </a:prstGeom>
        </p:spPr>
        <p:txBody>
          <a:bodyPr anchor="t" rtlCol="false" tIns="0" lIns="0" bIns="0" rIns="0">
            <a:spAutoFit/>
          </a:bodyPr>
          <a:lstStyle/>
          <a:p>
            <a:pPr algn="just" marL="690882" indent="-345441" lvl="1">
              <a:lnSpc>
                <a:spcPts val="4480"/>
              </a:lnSpc>
              <a:buFont typeface="Arial"/>
              <a:buChar char="•"/>
            </a:pPr>
            <a:r>
              <a:rPr lang="en-US" sz="3200">
                <a:solidFill>
                  <a:srgbClr val="2B7695"/>
                </a:solidFill>
                <a:latin typeface="Inter"/>
                <a:ea typeface="Inter"/>
                <a:cs typeface="Inter"/>
                <a:sym typeface="Inter"/>
              </a:rPr>
              <a:t>Dữ liệu được thu thập về với mục đích phân tích số lượng hàng bán của nhiều mặt hàng.</a:t>
            </a:r>
          </a:p>
        </p:txBody>
      </p:sp>
      <p:sp>
        <p:nvSpPr>
          <p:cNvPr name="TextBox 13" id="13"/>
          <p:cNvSpPr txBox="true"/>
          <p:nvPr/>
        </p:nvSpPr>
        <p:spPr>
          <a:xfrm rot="0">
            <a:off x="7067218" y="1550673"/>
            <a:ext cx="4153564" cy="866820"/>
          </a:xfrm>
          <a:prstGeom prst="rect">
            <a:avLst/>
          </a:prstGeom>
        </p:spPr>
        <p:txBody>
          <a:bodyPr anchor="t" rtlCol="false" tIns="0" lIns="0" bIns="0" rIns="0">
            <a:spAutoFit/>
          </a:bodyPr>
          <a:lstStyle/>
          <a:p>
            <a:pPr algn="ctr">
              <a:lnSpc>
                <a:spcPts val="6300"/>
              </a:lnSpc>
            </a:pPr>
            <a:r>
              <a:rPr lang="en-US" sz="7000" b="true">
                <a:solidFill>
                  <a:srgbClr val="1C4F64"/>
                </a:solidFill>
                <a:latin typeface="Cormorant Garamond Bold"/>
                <a:ea typeface="Cormorant Garamond Bold"/>
                <a:cs typeface="Cormorant Garamond Bold"/>
                <a:sym typeface="Cormorant Garamond Bold"/>
              </a:rPr>
              <a:t>Nguồn gốc</a:t>
            </a:r>
          </a:p>
        </p:txBody>
      </p:sp>
      <p:sp>
        <p:nvSpPr>
          <p:cNvPr name="Freeform 14" id="14"/>
          <p:cNvSpPr/>
          <p:nvPr/>
        </p:nvSpPr>
        <p:spPr>
          <a:xfrm flipH="false" flipV="false" rot="0">
            <a:off x="15513468" y="1767752"/>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2120181" y="1767752"/>
            <a:ext cx="930546" cy="232637"/>
          </a:xfrm>
          <a:custGeom>
            <a:avLst/>
            <a:gdLst/>
            <a:ahLst/>
            <a:cxnLst/>
            <a:rect r="r" b="b" t="t" l="l"/>
            <a:pathLst>
              <a:path h="232637" w="930546">
                <a:moveTo>
                  <a:pt x="0" y="0"/>
                </a:moveTo>
                <a:lnTo>
                  <a:pt x="930546" y="0"/>
                </a:lnTo>
                <a:lnTo>
                  <a:pt x="930546" y="232637"/>
                </a:lnTo>
                <a:lnTo>
                  <a:pt x="0" y="2326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287590" y="1575404"/>
            <a:ext cx="11810110" cy="10500261"/>
          </a:xfrm>
          <a:custGeom>
            <a:avLst/>
            <a:gdLst/>
            <a:ahLst/>
            <a:cxnLst/>
            <a:rect r="r" b="b" t="t" l="l"/>
            <a:pathLst>
              <a:path h="10500261" w="11810110">
                <a:moveTo>
                  <a:pt x="0" y="0"/>
                </a:moveTo>
                <a:lnTo>
                  <a:pt x="11810109" y="0"/>
                </a:lnTo>
                <a:lnTo>
                  <a:pt x="11810109"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AFAFB"/>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6229556" y="1129141"/>
            <a:ext cx="11029744" cy="8085868"/>
            <a:chOff x="0" y="0"/>
            <a:chExt cx="14706325" cy="10781157"/>
          </a:xfrm>
        </p:grpSpPr>
        <p:sp>
          <p:nvSpPr>
            <p:cNvPr name="TextBox 11" id="11"/>
            <p:cNvSpPr txBox="true"/>
            <p:nvPr/>
          </p:nvSpPr>
          <p:spPr>
            <a:xfrm rot="0">
              <a:off x="0" y="152400"/>
              <a:ext cx="5810536" cy="882011"/>
            </a:xfrm>
            <a:prstGeom prst="rect">
              <a:avLst/>
            </a:prstGeom>
          </p:spPr>
          <p:txBody>
            <a:bodyPr anchor="t" rtlCol="false" tIns="0" lIns="0" bIns="0" rIns="0">
              <a:spAutoFit/>
            </a:bodyPr>
            <a:lstStyle/>
            <a:p>
              <a:pPr algn="ctr">
                <a:lnSpc>
                  <a:spcPts val="4581"/>
                </a:lnSpc>
              </a:pPr>
              <a:r>
                <a:rPr lang="en-US" sz="5090" b="true">
                  <a:solidFill>
                    <a:srgbClr val="6B581A"/>
                  </a:solidFill>
                  <a:latin typeface="Cormorant Garamond Bold"/>
                  <a:ea typeface="Cormorant Garamond Bold"/>
                  <a:cs typeface="Cormorant Garamond Bold"/>
                  <a:sym typeface="Cormorant Garamond Bold"/>
                </a:rPr>
                <a:t>Định danh</a:t>
              </a:r>
            </a:p>
          </p:txBody>
        </p:sp>
        <p:sp>
          <p:nvSpPr>
            <p:cNvPr name="TextBox 12" id="12"/>
            <p:cNvSpPr txBox="true"/>
            <p:nvPr/>
          </p:nvSpPr>
          <p:spPr>
            <a:xfrm rot="0">
              <a:off x="560815" y="1590586"/>
              <a:ext cx="6081980" cy="9190571"/>
            </a:xfrm>
            <a:prstGeom prst="rect">
              <a:avLst/>
            </a:prstGeom>
          </p:spPr>
          <p:txBody>
            <a:bodyPr anchor="t" rtlCol="false" tIns="0" lIns="0" bIns="0" rIns="0">
              <a:spAutoFit/>
            </a:bodyPr>
            <a:lstStyle/>
            <a:p>
              <a:pPr algn="l" marL="769326" indent="-384663" lvl="1">
                <a:lnSpc>
                  <a:spcPts val="4988"/>
                </a:lnSpc>
                <a:buFont typeface="Arial"/>
                <a:buChar char="•"/>
              </a:pPr>
              <a:r>
                <a:rPr lang="en-US" sz="3563">
                  <a:solidFill>
                    <a:srgbClr val="6B581A"/>
                  </a:solidFill>
                  <a:latin typeface="Inter"/>
                  <a:ea typeface="Inter"/>
                  <a:cs typeface="Inter"/>
                  <a:sym typeface="Inter"/>
                </a:rPr>
                <a:t>delivery</a:t>
              </a:r>
            </a:p>
            <a:p>
              <a:pPr algn="l" marL="769326" indent="-384663" lvl="1">
                <a:lnSpc>
                  <a:spcPts val="4988"/>
                </a:lnSpc>
                <a:buFont typeface="Arial"/>
                <a:buChar char="•"/>
              </a:pPr>
              <a:r>
                <a:rPr lang="en-US" sz="3563">
                  <a:solidFill>
                    <a:srgbClr val="6B581A"/>
                  </a:solidFill>
                  <a:latin typeface="Inter"/>
                  <a:ea typeface="Inter"/>
                  <a:cs typeface="Inter"/>
                  <a:sym typeface="Inter"/>
                </a:rPr>
                <a:t>title</a:t>
              </a:r>
            </a:p>
            <a:p>
              <a:pPr algn="l" marL="769326" indent="-384663" lvl="1">
                <a:lnSpc>
                  <a:spcPts val="4988"/>
                </a:lnSpc>
                <a:buFont typeface="Arial"/>
                <a:buChar char="•"/>
              </a:pPr>
              <a:r>
                <a:rPr lang="en-US" sz="3563">
                  <a:solidFill>
                    <a:srgbClr val="6B581A"/>
                  </a:solidFill>
                  <a:latin typeface="Inter"/>
                  <a:ea typeface="Inter"/>
                  <a:cs typeface="Inter"/>
                  <a:sym typeface="Inter"/>
                </a:rPr>
                <a:t>w_date</a:t>
              </a:r>
            </a:p>
            <a:p>
              <a:pPr algn="l" marL="769326" indent="-384663" lvl="1">
                <a:lnSpc>
                  <a:spcPts val="4988"/>
                </a:lnSpc>
                <a:buFont typeface="Arial"/>
                <a:buChar char="•"/>
              </a:pPr>
              <a:r>
                <a:rPr lang="en-US" sz="3563">
                  <a:solidFill>
                    <a:srgbClr val="6B581A"/>
                  </a:solidFill>
                  <a:latin typeface="Inter"/>
                  <a:ea typeface="Inter"/>
                  <a:cs typeface="Inter"/>
                  <a:sym typeface="Inter"/>
                </a:rPr>
                <a:t>link_ori</a:t>
              </a:r>
            </a:p>
            <a:p>
              <a:pPr algn="l" marL="769326" indent="-384663" lvl="1">
                <a:lnSpc>
                  <a:spcPts val="4988"/>
                </a:lnSpc>
                <a:buFont typeface="Arial"/>
                <a:buChar char="•"/>
              </a:pPr>
              <a:r>
                <a:rPr lang="en-US" sz="3563">
                  <a:solidFill>
                    <a:srgbClr val="6B581A"/>
                  </a:solidFill>
                  <a:latin typeface="Inter"/>
                  <a:ea typeface="Inter"/>
                  <a:cs typeface="Inter"/>
                  <a:sym typeface="Inter"/>
                </a:rPr>
                <a:t>stationery.my</a:t>
              </a:r>
            </a:p>
            <a:p>
              <a:pPr algn="l" marL="769326" indent="-384663" lvl="1">
                <a:lnSpc>
                  <a:spcPts val="4988"/>
                </a:lnSpc>
                <a:buFont typeface="Arial"/>
                <a:buChar char="•"/>
              </a:pPr>
              <a:r>
                <a:rPr lang="en-US" sz="3563">
                  <a:solidFill>
                    <a:srgbClr val="6B581A"/>
                  </a:solidFill>
                  <a:latin typeface="Inter"/>
                  <a:ea typeface="Inter"/>
                  <a:cs typeface="Inter"/>
                  <a:sym typeface="Inter"/>
                </a:rPr>
                <a:t>idElastic</a:t>
              </a:r>
            </a:p>
            <a:p>
              <a:pPr algn="l" marL="769326" indent="-384663" lvl="1">
                <a:lnSpc>
                  <a:spcPts val="4988"/>
                </a:lnSpc>
                <a:buFont typeface="Arial"/>
                <a:buChar char="•"/>
              </a:pPr>
              <a:r>
                <a:rPr lang="en-US" sz="3563">
                  <a:solidFill>
                    <a:srgbClr val="6B581A"/>
                  </a:solidFill>
                  <a:latin typeface="Inter"/>
                  <a:ea typeface="Inter"/>
                  <a:cs typeface="Inter"/>
                  <a:sym typeface="Inter"/>
                </a:rPr>
                <a:t>sitename</a:t>
              </a:r>
            </a:p>
            <a:p>
              <a:pPr algn="l" marL="769326" indent="-384663" lvl="1">
                <a:lnSpc>
                  <a:spcPts val="4988"/>
                </a:lnSpc>
                <a:buFont typeface="Arial"/>
                <a:buChar char="•"/>
              </a:pPr>
              <a:r>
                <a:rPr lang="en-US" sz="3563">
                  <a:solidFill>
                    <a:srgbClr val="6B581A"/>
                  </a:solidFill>
                  <a:latin typeface="Inter"/>
                  <a:ea typeface="Inter"/>
                  <a:cs typeface="Inter"/>
                  <a:sym typeface="Inter"/>
                </a:rPr>
                <a:t>idHash</a:t>
              </a:r>
            </a:p>
            <a:p>
              <a:pPr algn="l" marL="769326" indent="-384663" lvl="1">
                <a:lnSpc>
                  <a:spcPts val="4988"/>
                </a:lnSpc>
                <a:buFont typeface="Arial"/>
                <a:buChar char="•"/>
              </a:pPr>
              <a:r>
                <a:rPr lang="en-US" sz="3563">
                  <a:solidFill>
                    <a:srgbClr val="6B581A"/>
                  </a:solidFill>
                  <a:latin typeface="Inter"/>
                  <a:ea typeface="Inter"/>
                  <a:cs typeface="Inter"/>
                  <a:sym typeface="Inter"/>
                </a:rPr>
                <a:t>id</a:t>
              </a:r>
            </a:p>
            <a:p>
              <a:pPr algn="l" marL="769326" indent="-384663" lvl="1">
                <a:lnSpc>
                  <a:spcPts val="4988"/>
                </a:lnSpc>
                <a:buFont typeface="Arial"/>
                <a:buChar char="•"/>
              </a:pPr>
              <a:r>
                <a:rPr lang="en-US" sz="3563">
                  <a:solidFill>
                    <a:srgbClr val="6B581A"/>
                  </a:solidFill>
                  <a:latin typeface="Inter"/>
                  <a:ea typeface="Inter"/>
                  <a:cs typeface="Inter"/>
                  <a:sym typeface="Inter"/>
                </a:rPr>
                <a:t>pict_link</a:t>
              </a:r>
            </a:p>
            <a:p>
              <a:pPr algn="l" marL="769326" indent="-384663" lvl="1">
                <a:lnSpc>
                  <a:spcPts val="4988"/>
                </a:lnSpc>
                <a:buFont typeface="Arial"/>
                <a:buChar char="•"/>
              </a:pPr>
              <a:r>
                <a:rPr lang="en-US" sz="3563">
                  <a:solidFill>
                    <a:srgbClr val="6B581A"/>
                  </a:solidFill>
                  <a:latin typeface="Inter"/>
                  <a:ea typeface="Inter"/>
                  <a:cs typeface="Inter"/>
                  <a:sym typeface="Inter"/>
                </a:rPr>
                <a:t>desc</a:t>
              </a:r>
            </a:p>
          </p:txBody>
        </p:sp>
        <p:sp>
          <p:nvSpPr>
            <p:cNvPr name="TextBox 13" id="13"/>
            <p:cNvSpPr txBox="true"/>
            <p:nvPr/>
          </p:nvSpPr>
          <p:spPr>
            <a:xfrm rot="0">
              <a:off x="5791641" y="8342329"/>
              <a:ext cx="7159795" cy="882011"/>
            </a:xfrm>
            <a:prstGeom prst="rect">
              <a:avLst/>
            </a:prstGeom>
          </p:spPr>
          <p:txBody>
            <a:bodyPr anchor="t" rtlCol="false" tIns="0" lIns="0" bIns="0" rIns="0">
              <a:spAutoFit/>
            </a:bodyPr>
            <a:lstStyle/>
            <a:p>
              <a:pPr algn="ctr">
                <a:lnSpc>
                  <a:spcPts val="4581"/>
                </a:lnSpc>
              </a:pPr>
              <a:r>
                <a:rPr lang="en-US" sz="5090" b="true">
                  <a:solidFill>
                    <a:srgbClr val="1C4F64"/>
                  </a:solidFill>
                  <a:latin typeface="Cormorant Garamond Bold"/>
                  <a:ea typeface="Cormorant Garamond Bold"/>
                  <a:cs typeface="Cormorant Garamond Bold"/>
                  <a:sym typeface="Cormorant Garamond Bold"/>
                </a:rPr>
                <a:t>Định tính</a:t>
              </a:r>
            </a:p>
          </p:txBody>
        </p:sp>
        <p:sp>
          <p:nvSpPr>
            <p:cNvPr name="TextBox 14" id="14"/>
            <p:cNvSpPr txBox="true"/>
            <p:nvPr/>
          </p:nvSpPr>
          <p:spPr>
            <a:xfrm rot="0">
              <a:off x="7212056" y="9462625"/>
              <a:ext cx="7494270" cy="786412"/>
            </a:xfrm>
            <a:prstGeom prst="rect">
              <a:avLst/>
            </a:prstGeom>
          </p:spPr>
          <p:txBody>
            <a:bodyPr anchor="t" rtlCol="false" tIns="0" lIns="0" bIns="0" rIns="0">
              <a:spAutoFit/>
            </a:bodyPr>
            <a:lstStyle/>
            <a:p>
              <a:pPr algn="l" marL="769326" indent="-384663" lvl="1">
                <a:lnSpc>
                  <a:spcPts val="4988"/>
                </a:lnSpc>
                <a:buFont typeface="Arial"/>
                <a:buChar char="•"/>
              </a:pPr>
              <a:r>
                <a:rPr lang="en-US" sz="3563">
                  <a:solidFill>
                    <a:srgbClr val="1C4F64"/>
                  </a:solidFill>
                  <a:latin typeface="Inter"/>
                  <a:ea typeface="Inter"/>
                  <a:cs typeface="Inter"/>
                  <a:sym typeface="Inter"/>
                </a:rPr>
                <a:t>item_category_detail</a:t>
              </a:r>
            </a:p>
          </p:txBody>
        </p:sp>
        <p:sp>
          <p:nvSpPr>
            <p:cNvPr name="TextBox 15" id="15"/>
            <p:cNvSpPr txBox="true"/>
            <p:nvPr/>
          </p:nvSpPr>
          <p:spPr>
            <a:xfrm rot="0">
              <a:off x="6642795" y="152400"/>
              <a:ext cx="5810536" cy="882011"/>
            </a:xfrm>
            <a:prstGeom prst="rect">
              <a:avLst/>
            </a:prstGeom>
          </p:spPr>
          <p:txBody>
            <a:bodyPr anchor="t" rtlCol="false" tIns="0" lIns="0" bIns="0" rIns="0">
              <a:spAutoFit/>
            </a:bodyPr>
            <a:lstStyle/>
            <a:p>
              <a:pPr algn="ctr">
                <a:lnSpc>
                  <a:spcPts val="4581"/>
                </a:lnSpc>
              </a:pPr>
              <a:r>
                <a:rPr lang="en-US" sz="5090" b="true">
                  <a:solidFill>
                    <a:srgbClr val="1C4F64"/>
                  </a:solidFill>
                  <a:latin typeface="Cormorant Garamond Bold"/>
                  <a:ea typeface="Cormorant Garamond Bold"/>
                  <a:cs typeface="Cormorant Garamond Bold"/>
                  <a:sym typeface="Cormorant Garamond Bold"/>
                </a:rPr>
                <a:t>Định lượng</a:t>
              </a:r>
            </a:p>
          </p:txBody>
        </p:sp>
        <p:sp>
          <p:nvSpPr>
            <p:cNvPr name="TextBox 16" id="16"/>
            <p:cNvSpPr txBox="true"/>
            <p:nvPr/>
          </p:nvSpPr>
          <p:spPr>
            <a:xfrm rot="0">
              <a:off x="7203611" y="1590586"/>
              <a:ext cx="6081980" cy="5828908"/>
            </a:xfrm>
            <a:prstGeom prst="rect">
              <a:avLst/>
            </a:prstGeom>
          </p:spPr>
          <p:txBody>
            <a:bodyPr anchor="t" rtlCol="false" tIns="0" lIns="0" bIns="0" rIns="0">
              <a:spAutoFit/>
            </a:bodyPr>
            <a:lstStyle/>
            <a:p>
              <a:pPr algn="l" marL="769326" indent="-384663" lvl="1">
                <a:lnSpc>
                  <a:spcPts val="4988"/>
                </a:lnSpc>
                <a:buFont typeface="Arial"/>
                <a:buChar char="•"/>
              </a:pPr>
              <a:r>
                <a:rPr lang="en-US" sz="3563">
                  <a:solidFill>
                    <a:srgbClr val="1C4F64"/>
                  </a:solidFill>
                  <a:latin typeface="Inter"/>
                  <a:ea typeface="Inter"/>
                  <a:cs typeface="Inter"/>
                  <a:sym typeface="Inter"/>
                </a:rPr>
                <a:t>Price_ori</a:t>
              </a:r>
            </a:p>
            <a:p>
              <a:pPr algn="l" marL="769326" indent="-384663" lvl="1">
                <a:lnSpc>
                  <a:spcPts val="4988"/>
                </a:lnSpc>
                <a:buFont typeface="Arial"/>
                <a:buChar char="•"/>
              </a:pPr>
              <a:r>
                <a:rPr lang="en-US" sz="3563">
                  <a:solidFill>
                    <a:srgbClr val="1C4F64"/>
                  </a:solidFill>
                  <a:latin typeface="Inter"/>
                  <a:ea typeface="Inter"/>
                  <a:cs typeface="Inter"/>
                  <a:sym typeface="Inter"/>
                </a:rPr>
                <a:t>specification</a:t>
              </a:r>
            </a:p>
            <a:p>
              <a:pPr algn="l" marL="769326" indent="-384663" lvl="1">
                <a:lnSpc>
                  <a:spcPts val="4988"/>
                </a:lnSpc>
                <a:buFont typeface="Arial"/>
                <a:buChar char="•"/>
              </a:pPr>
              <a:r>
                <a:rPr lang="en-US" sz="3563">
                  <a:solidFill>
                    <a:srgbClr val="1C4F64"/>
                  </a:solidFill>
                  <a:latin typeface="Inter"/>
                  <a:ea typeface="Inter"/>
                  <a:cs typeface="Inter"/>
                  <a:sym typeface="Inter"/>
                </a:rPr>
                <a:t>item_rating</a:t>
              </a:r>
            </a:p>
            <a:p>
              <a:pPr algn="l" marL="769326" indent="-384663" lvl="1">
                <a:lnSpc>
                  <a:spcPts val="4988"/>
                </a:lnSpc>
                <a:buFont typeface="Arial"/>
                <a:buChar char="•"/>
              </a:pPr>
              <a:r>
                <a:rPr lang="en-US" sz="3563">
                  <a:solidFill>
                    <a:srgbClr val="1C4F64"/>
                  </a:solidFill>
                  <a:latin typeface="Inter"/>
                  <a:ea typeface="Inter"/>
                  <a:cs typeface="Inter"/>
                  <a:sym typeface="Inter"/>
                </a:rPr>
                <a:t>price_actual</a:t>
              </a:r>
            </a:p>
            <a:p>
              <a:pPr algn="l" marL="769326" indent="-384663" lvl="1">
                <a:lnSpc>
                  <a:spcPts val="4988"/>
                </a:lnSpc>
                <a:buFont typeface="Arial"/>
                <a:buChar char="•"/>
              </a:pPr>
              <a:r>
                <a:rPr lang="en-US" sz="3563">
                  <a:solidFill>
                    <a:srgbClr val="1C4F64"/>
                  </a:solidFill>
                  <a:latin typeface="Inter"/>
                  <a:ea typeface="Inter"/>
                  <a:cs typeface="Inter"/>
                  <a:sym typeface="Inter"/>
                </a:rPr>
                <a:t>total_rating</a:t>
              </a:r>
            </a:p>
            <a:p>
              <a:pPr algn="l" marL="769326" indent="-384663" lvl="1">
                <a:lnSpc>
                  <a:spcPts val="4988"/>
                </a:lnSpc>
                <a:buFont typeface="Arial"/>
                <a:buChar char="•"/>
              </a:pPr>
              <a:r>
                <a:rPr lang="en-US" sz="3563">
                  <a:solidFill>
                    <a:srgbClr val="1C4F64"/>
                  </a:solidFill>
                  <a:latin typeface="Inter"/>
                  <a:ea typeface="Inter"/>
                  <a:cs typeface="Inter"/>
                  <a:sym typeface="Inter"/>
                </a:rPr>
                <a:t>total_sold</a:t>
              </a:r>
            </a:p>
            <a:p>
              <a:pPr algn="l" marL="769326" indent="-384663" lvl="1">
                <a:lnSpc>
                  <a:spcPts val="4988"/>
                </a:lnSpc>
                <a:buFont typeface="Arial"/>
                <a:buChar char="•"/>
              </a:pPr>
              <a:r>
                <a:rPr lang="en-US" sz="3563">
                  <a:solidFill>
                    <a:srgbClr val="1C4F64"/>
                  </a:solidFill>
                  <a:latin typeface="Inter"/>
                  <a:ea typeface="Inter"/>
                  <a:cs typeface="Inter"/>
                  <a:sym typeface="Inter"/>
                </a:rPr>
                <a:t>favorite</a:t>
              </a:r>
            </a:p>
          </p:txBody>
        </p:sp>
      </p:grpSp>
      <p:sp>
        <p:nvSpPr>
          <p:cNvPr name="Freeform 17" id="17"/>
          <p:cNvSpPr/>
          <p:nvPr/>
        </p:nvSpPr>
        <p:spPr>
          <a:xfrm flipH="false" flipV="false" rot="0">
            <a:off x="1795864" y="2376959"/>
            <a:ext cx="4148209" cy="5014319"/>
          </a:xfrm>
          <a:custGeom>
            <a:avLst/>
            <a:gdLst/>
            <a:ahLst/>
            <a:cxnLst/>
            <a:rect r="r" b="b" t="t" l="l"/>
            <a:pathLst>
              <a:path h="5014319" w="4148209">
                <a:moveTo>
                  <a:pt x="0" y="0"/>
                </a:moveTo>
                <a:lnTo>
                  <a:pt x="4148210" y="0"/>
                </a:lnTo>
                <a:lnTo>
                  <a:pt x="4148210" y="5014319"/>
                </a:lnTo>
                <a:lnTo>
                  <a:pt x="0" y="5014319"/>
                </a:lnTo>
                <a:lnTo>
                  <a:pt x="0" y="0"/>
                </a:lnTo>
                <a:close/>
              </a:path>
            </a:pathLst>
          </a:custGeom>
          <a:blipFill>
            <a:blip r:embed="rId6"/>
            <a:stretch>
              <a:fillRect l="0" t="0" r="0" b="0"/>
            </a:stretch>
          </a:blipFill>
        </p:spPr>
      </p:sp>
      <p:sp>
        <p:nvSpPr>
          <p:cNvPr name="TextBox 18" id="18"/>
          <p:cNvSpPr txBox="true"/>
          <p:nvPr/>
        </p:nvSpPr>
        <p:spPr>
          <a:xfrm rot="0">
            <a:off x="1790510" y="1348216"/>
            <a:ext cx="4153564" cy="1000168"/>
          </a:xfrm>
          <a:prstGeom prst="rect">
            <a:avLst/>
          </a:prstGeom>
        </p:spPr>
        <p:txBody>
          <a:bodyPr anchor="t" rtlCol="false" tIns="0" lIns="0" bIns="0" rIns="0">
            <a:spAutoFit/>
          </a:bodyPr>
          <a:lstStyle/>
          <a:p>
            <a:pPr algn="ctr">
              <a:lnSpc>
                <a:spcPts val="7200"/>
              </a:lnSpc>
            </a:pPr>
            <a:r>
              <a:rPr lang="en-US" sz="8000" b="true">
                <a:solidFill>
                  <a:srgbClr val="161613"/>
                </a:solidFill>
                <a:latin typeface="Cormorant Garamond Bold"/>
                <a:ea typeface="Cormorant Garamond Bold"/>
                <a:cs typeface="Cormorant Garamond Bold"/>
                <a:sym typeface="Cormorant Garamond Bold"/>
              </a:rPr>
              <a:t>Mô tả</a:t>
            </a:r>
          </a:p>
        </p:txBody>
      </p:sp>
      <p:sp>
        <p:nvSpPr>
          <p:cNvPr name="TextBox 19" id="19"/>
          <p:cNvSpPr txBox="true"/>
          <p:nvPr/>
        </p:nvSpPr>
        <p:spPr>
          <a:xfrm rot="0">
            <a:off x="2192247" y="7880138"/>
            <a:ext cx="3350089" cy="1225515"/>
          </a:xfrm>
          <a:prstGeom prst="rect">
            <a:avLst/>
          </a:prstGeom>
        </p:spPr>
        <p:txBody>
          <a:bodyPr anchor="t" rtlCol="false" tIns="0" lIns="0" bIns="0" rIns="0">
            <a:spAutoFit/>
          </a:bodyPr>
          <a:lstStyle/>
          <a:p>
            <a:pPr algn="ctr">
              <a:lnSpc>
                <a:spcPts val="4900"/>
              </a:lnSpc>
            </a:pPr>
            <a:r>
              <a:rPr lang="en-US" sz="3500">
                <a:solidFill>
                  <a:srgbClr val="000000"/>
                </a:solidFill>
                <a:latin typeface="Inter"/>
                <a:ea typeface="Inter"/>
                <a:cs typeface="Inter"/>
                <a:sym typeface="Inter"/>
              </a:rPr>
              <a:t>Gồm 18119 dòng dữ liệu</a:t>
            </a:r>
          </a:p>
        </p:txBody>
      </p:sp>
      <p:sp>
        <p:nvSpPr>
          <p:cNvPr name="TextBox 20" id="20"/>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161613"/>
                </a:solidFill>
                <a:latin typeface="Noto Serif Display"/>
                <a:ea typeface="Noto Serif Display"/>
                <a:cs typeface="Noto Serif Display"/>
                <a:sym typeface="Noto Serif Display"/>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287590" y="1575404"/>
            <a:ext cx="11810110" cy="10500261"/>
          </a:xfrm>
          <a:custGeom>
            <a:avLst/>
            <a:gdLst/>
            <a:ahLst/>
            <a:cxnLst/>
            <a:rect r="r" b="b" t="t" l="l"/>
            <a:pathLst>
              <a:path h="10500261" w="11810110">
                <a:moveTo>
                  <a:pt x="0" y="0"/>
                </a:moveTo>
                <a:lnTo>
                  <a:pt x="11810109" y="0"/>
                </a:lnTo>
                <a:lnTo>
                  <a:pt x="11810109"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795864" y="2348384"/>
            <a:ext cx="4148209" cy="5014319"/>
          </a:xfrm>
          <a:custGeom>
            <a:avLst/>
            <a:gdLst/>
            <a:ahLst/>
            <a:cxnLst/>
            <a:rect r="r" b="b" t="t" l="l"/>
            <a:pathLst>
              <a:path h="5014319" w="4148209">
                <a:moveTo>
                  <a:pt x="0" y="0"/>
                </a:moveTo>
                <a:lnTo>
                  <a:pt x="4148210" y="0"/>
                </a:lnTo>
                <a:lnTo>
                  <a:pt x="4148210" y="5014319"/>
                </a:lnTo>
                <a:lnTo>
                  <a:pt x="0" y="5014319"/>
                </a:lnTo>
                <a:lnTo>
                  <a:pt x="0" y="0"/>
                </a:lnTo>
                <a:close/>
              </a:path>
            </a:pathLst>
          </a:custGeom>
          <a:blipFill>
            <a:blip r:embed="rId6"/>
            <a:stretch>
              <a:fillRect l="0" t="0" r="0" b="0"/>
            </a:stretch>
          </a:blipFill>
        </p:spPr>
      </p:sp>
      <p:sp>
        <p:nvSpPr>
          <p:cNvPr name="Freeform 11" id="11"/>
          <p:cNvSpPr/>
          <p:nvPr/>
        </p:nvSpPr>
        <p:spPr>
          <a:xfrm flipH="false" flipV="false" rot="0">
            <a:off x="6340861" y="1181025"/>
            <a:ext cx="10918439" cy="8093293"/>
          </a:xfrm>
          <a:custGeom>
            <a:avLst/>
            <a:gdLst/>
            <a:ahLst/>
            <a:cxnLst/>
            <a:rect r="r" b="b" t="t" l="l"/>
            <a:pathLst>
              <a:path h="8093293" w="10918439">
                <a:moveTo>
                  <a:pt x="0" y="0"/>
                </a:moveTo>
                <a:lnTo>
                  <a:pt x="10918439" y="0"/>
                </a:lnTo>
                <a:lnTo>
                  <a:pt x="10918439" y="8093294"/>
                </a:lnTo>
                <a:lnTo>
                  <a:pt x="0" y="8093294"/>
                </a:lnTo>
                <a:lnTo>
                  <a:pt x="0" y="0"/>
                </a:lnTo>
                <a:close/>
              </a:path>
            </a:pathLst>
          </a:custGeom>
          <a:blipFill>
            <a:blip r:embed="rId7"/>
            <a:stretch>
              <a:fillRect l="0" t="0" r="0" b="0"/>
            </a:stretch>
          </a:blipFill>
        </p:spPr>
      </p:sp>
      <p:sp>
        <p:nvSpPr>
          <p:cNvPr name="TextBox 12" id="12"/>
          <p:cNvSpPr txBox="true"/>
          <p:nvPr/>
        </p:nvSpPr>
        <p:spPr>
          <a:xfrm rot="0">
            <a:off x="1790510" y="1319641"/>
            <a:ext cx="4153564" cy="1000168"/>
          </a:xfrm>
          <a:prstGeom prst="rect">
            <a:avLst/>
          </a:prstGeom>
        </p:spPr>
        <p:txBody>
          <a:bodyPr anchor="t" rtlCol="false" tIns="0" lIns="0" bIns="0" rIns="0">
            <a:spAutoFit/>
          </a:bodyPr>
          <a:lstStyle/>
          <a:p>
            <a:pPr algn="ctr">
              <a:lnSpc>
                <a:spcPts val="7200"/>
              </a:lnSpc>
            </a:pPr>
            <a:r>
              <a:rPr lang="en-US" sz="8000" b="true">
                <a:solidFill>
                  <a:srgbClr val="161613"/>
                </a:solidFill>
                <a:latin typeface="Cormorant Garamond Bold"/>
                <a:ea typeface="Cormorant Garamond Bold"/>
                <a:cs typeface="Cormorant Garamond Bold"/>
                <a:sym typeface="Cormorant Garamond Bold"/>
              </a:rPr>
              <a:t>Mô tả</a:t>
            </a:r>
          </a:p>
        </p:txBody>
      </p:sp>
      <p:sp>
        <p:nvSpPr>
          <p:cNvPr name="TextBox 13" id="13"/>
          <p:cNvSpPr txBox="true"/>
          <p:nvPr/>
        </p:nvSpPr>
        <p:spPr>
          <a:xfrm rot="0">
            <a:off x="2192247" y="7851563"/>
            <a:ext cx="3350089" cy="1225515"/>
          </a:xfrm>
          <a:prstGeom prst="rect">
            <a:avLst/>
          </a:prstGeom>
        </p:spPr>
        <p:txBody>
          <a:bodyPr anchor="t" rtlCol="false" tIns="0" lIns="0" bIns="0" rIns="0">
            <a:spAutoFit/>
          </a:bodyPr>
          <a:lstStyle/>
          <a:p>
            <a:pPr algn="ctr">
              <a:lnSpc>
                <a:spcPts val="4900"/>
              </a:lnSpc>
            </a:pPr>
            <a:r>
              <a:rPr lang="en-US" sz="3500">
                <a:solidFill>
                  <a:srgbClr val="000000"/>
                </a:solidFill>
                <a:latin typeface="Inter"/>
                <a:ea typeface="Inter"/>
                <a:cs typeface="Inter"/>
                <a:sym typeface="Inter"/>
              </a:rPr>
              <a:t>Gồm 18119 dòng dữ liệu</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161613"/>
                </a:solidFill>
                <a:latin typeface="Noto Serif Display"/>
                <a:ea typeface="Noto Serif Display"/>
                <a:cs typeface="Noto Serif Display"/>
                <a:sym typeface="Noto Serif Display"/>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8495633" y="3083306"/>
            <a:ext cx="7279534" cy="994445"/>
          </a:xfrm>
          <a:prstGeom prst="rect">
            <a:avLst/>
          </a:prstGeom>
        </p:spPr>
        <p:txBody>
          <a:bodyPr anchor="t" rtlCol="false" tIns="0" lIns="0" bIns="0" rIns="0">
            <a:spAutoFit/>
          </a:bodyPr>
          <a:lstStyle/>
          <a:p>
            <a:pPr algn="ctr">
              <a:lnSpc>
                <a:spcPts val="7290"/>
              </a:lnSpc>
            </a:pPr>
            <a:r>
              <a:rPr lang="en-US" sz="8100" b="true">
                <a:solidFill>
                  <a:srgbClr val="9D8021"/>
                </a:solidFill>
                <a:latin typeface="Cormorant Garamond Bold"/>
                <a:ea typeface="Cormorant Garamond Bold"/>
                <a:cs typeface="Cormorant Garamond Bold"/>
                <a:sym typeface="Cormorant Garamond Bold"/>
              </a:rPr>
              <a:t>Tiền xử lý dữ liệu</a:t>
            </a:r>
          </a:p>
        </p:txBody>
      </p:sp>
      <p:grpSp>
        <p:nvGrpSpPr>
          <p:cNvPr name="Group 11" id="11"/>
          <p:cNvGrpSpPr/>
          <p:nvPr/>
        </p:nvGrpSpPr>
        <p:grpSpPr>
          <a:xfrm rot="-10800000">
            <a:off x="1946310" y="1845056"/>
            <a:ext cx="6101253" cy="6596889"/>
            <a:chOff x="0" y="0"/>
            <a:chExt cx="4399999" cy="4757433"/>
          </a:xfrm>
        </p:grpSpPr>
        <p:sp>
          <p:nvSpPr>
            <p:cNvPr name="Freeform 12" id="12"/>
            <p:cNvSpPr/>
            <p:nvPr/>
          </p:nvSpPr>
          <p:spPr>
            <a:xfrm flipH="false" flipV="false" rot="0">
              <a:off x="0" y="0"/>
              <a:ext cx="4399998" cy="4757432"/>
            </a:xfrm>
            <a:custGeom>
              <a:avLst/>
              <a:gdLst/>
              <a:ahLst/>
              <a:cxnLst/>
              <a:rect r="r" b="b" t="t" l="l"/>
              <a:pathLst>
                <a:path h="4757432" w="4399998">
                  <a:moveTo>
                    <a:pt x="40605" y="0"/>
                  </a:moveTo>
                  <a:lnTo>
                    <a:pt x="4359394" y="0"/>
                  </a:lnTo>
                  <a:cubicBezTo>
                    <a:pt x="4381819" y="0"/>
                    <a:pt x="4399998" y="18179"/>
                    <a:pt x="4399998" y="40605"/>
                  </a:cubicBezTo>
                  <a:lnTo>
                    <a:pt x="4399998" y="4716828"/>
                  </a:lnTo>
                  <a:cubicBezTo>
                    <a:pt x="4399998" y="4739253"/>
                    <a:pt x="4381819" y="4757432"/>
                    <a:pt x="4359394" y="4757432"/>
                  </a:cubicBezTo>
                  <a:lnTo>
                    <a:pt x="40605" y="4757432"/>
                  </a:lnTo>
                  <a:cubicBezTo>
                    <a:pt x="18179" y="4757432"/>
                    <a:pt x="0" y="4739253"/>
                    <a:pt x="0" y="4716828"/>
                  </a:cubicBezTo>
                  <a:lnTo>
                    <a:pt x="0" y="40605"/>
                  </a:lnTo>
                  <a:cubicBezTo>
                    <a:pt x="0" y="18179"/>
                    <a:pt x="18179" y="0"/>
                    <a:pt x="40605" y="0"/>
                  </a:cubicBezTo>
                  <a:close/>
                </a:path>
              </a:pathLst>
            </a:custGeom>
            <a:solidFill>
              <a:srgbClr val="FFFFFF"/>
            </a:solidFill>
            <a:ln w="123825" cap="rnd">
              <a:solidFill>
                <a:srgbClr val="E8CE8A"/>
              </a:solidFill>
              <a:prstDash val="solid"/>
              <a:round/>
            </a:ln>
          </p:spPr>
        </p:sp>
        <p:sp>
          <p:nvSpPr>
            <p:cNvPr name="TextBox 13" id="13"/>
            <p:cNvSpPr txBox="true"/>
            <p:nvPr/>
          </p:nvSpPr>
          <p:spPr>
            <a:xfrm>
              <a:off x="0" y="-38100"/>
              <a:ext cx="4399999" cy="4795533"/>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4" id="14"/>
          <p:cNvSpPr/>
          <p:nvPr/>
        </p:nvSpPr>
        <p:spPr>
          <a:xfrm flipH="false" flipV="false" rot="5400000">
            <a:off x="14093008" y="3984962"/>
            <a:ext cx="4971190" cy="2317076"/>
          </a:xfrm>
          <a:custGeom>
            <a:avLst/>
            <a:gdLst/>
            <a:ahLst/>
            <a:cxnLst/>
            <a:rect r="r" b="b" t="t" l="l"/>
            <a:pathLst>
              <a:path h="2317076" w="4971190">
                <a:moveTo>
                  <a:pt x="0" y="0"/>
                </a:moveTo>
                <a:lnTo>
                  <a:pt x="4971190" y="0"/>
                </a:lnTo>
                <a:lnTo>
                  <a:pt x="4971190" y="2317076"/>
                </a:lnTo>
                <a:lnTo>
                  <a:pt x="0" y="2317076"/>
                </a:lnTo>
                <a:lnTo>
                  <a:pt x="0" y="0"/>
                </a:lnTo>
                <a:close/>
              </a:path>
            </a:pathLst>
          </a:custGeom>
          <a:blipFill>
            <a:blip r:embed="rId6">
              <a:extLst>
                <a:ext uri="{96DAC541-7B7A-43D3-8B79-37D633B846F1}">
                  <asvg:svgBlip xmlns:asvg="http://schemas.microsoft.com/office/drawing/2016/SVG/main" r:embed="rId7"/>
                </a:ext>
              </a:extLst>
            </a:blip>
            <a:stretch>
              <a:fillRect l="0" t="-114545" r="0" b="0"/>
            </a:stretch>
          </a:blipFill>
          <a:ln cap="sq">
            <a:noFill/>
            <a:prstDash val="solid"/>
            <a:miter/>
          </a:ln>
        </p:spPr>
      </p:sp>
      <p:grpSp>
        <p:nvGrpSpPr>
          <p:cNvPr name="Group 15" id="15"/>
          <p:cNvGrpSpPr/>
          <p:nvPr/>
        </p:nvGrpSpPr>
        <p:grpSpPr>
          <a:xfrm rot="0">
            <a:off x="2967975" y="2877884"/>
            <a:ext cx="4057923" cy="4531232"/>
            <a:chOff x="0" y="0"/>
            <a:chExt cx="727899" cy="812800"/>
          </a:xfrm>
        </p:grpSpPr>
        <p:sp>
          <p:nvSpPr>
            <p:cNvPr name="Freeform 16" id="16"/>
            <p:cNvSpPr/>
            <p:nvPr/>
          </p:nvSpPr>
          <p:spPr>
            <a:xfrm flipH="false" flipV="false" rot="0">
              <a:off x="0" y="0"/>
              <a:ext cx="727899" cy="812800"/>
            </a:xfrm>
            <a:custGeom>
              <a:avLst/>
              <a:gdLst/>
              <a:ahLst/>
              <a:cxnLst/>
              <a:rect r="r" b="b" t="t" l="l"/>
              <a:pathLst>
                <a:path h="812800" w="727899">
                  <a:moveTo>
                    <a:pt x="0" y="0"/>
                  </a:moveTo>
                  <a:lnTo>
                    <a:pt x="727899" y="0"/>
                  </a:lnTo>
                  <a:lnTo>
                    <a:pt x="727899" y="812800"/>
                  </a:lnTo>
                  <a:lnTo>
                    <a:pt x="0" y="812800"/>
                  </a:lnTo>
                  <a:close/>
                </a:path>
              </a:pathLst>
            </a:custGeom>
            <a:blipFill>
              <a:blip r:embed="rId8"/>
              <a:stretch>
                <a:fillRect l="-6607" t="0" r="-6607" b="0"/>
              </a:stretch>
            </a:blipFill>
          </p:spPr>
        </p:sp>
      </p:grpSp>
      <p:sp>
        <p:nvSpPr>
          <p:cNvPr name="TextBox 17" id="17"/>
          <p:cNvSpPr txBox="true"/>
          <p:nvPr/>
        </p:nvSpPr>
        <p:spPr>
          <a:xfrm rot="0">
            <a:off x="16170569" y="4640587"/>
            <a:ext cx="1294764" cy="958201"/>
          </a:xfrm>
          <a:prstGeom prst="rect">
            <a:avLst/>
          </a:prstGeom>
        </p:spPr>
        <p:txBody>
          <a:bodyPr anchor="t" rtlCol="false" tIns="0" lIns="0" bIns="0" rIns="0">
            <a:spAutoFit/>
          </a:bodyPr>
          <a:lstStyle/>
          <a:p>
            <a:pPr algn="ctr" marL="0" indent="0" lvl="0">
              <a:lnSpc>
                <a:spcPts val="7680"/>
              </a:lnSpc>
              <a:spcBef>
                <a:spcPct val="0"/>
              </a:spcBef>
            </a:pPr>
            <a:r>
              <a:rPr lang="en-US" b="true" sz="6000">
                <a:solidFill>
                  <a:srgbClr val="F8F8F8"/>
                </a:solidFill>
                <a:latin typeface="Inter Bold"/>
                <a:ea typeface="Inter Bold"/>
                <a:cs typeface="Inter Bold"/>
                <a:sym typeface="Inter Bold"/>
              </a:rPr>
              <a:t>02</a:t>
            </a:r>
          </a:p>
        </p:txBody>
      </p:sp>
      <p:sp>
        <p:nvSpPr>
          <p:cNvPr name="TextBox 18" id="18"/>
          <p:cNvSpPr txBox="true"/>
          <p:nvPr/>
        </p:nvSpPr>
        <p:spPr>
          <a:xfrm rot="0">
            <a:off x="9074989" y="4772025"/>
            <a:ext cx="6700178" cy="1906187"/>
          </a:xfrm>
          <a:prstGeom prst="rect">
            <a:avLst/>
          </a:prstGeom>
        </p:spPr>
        <p:txBody>
          <a:bodyPr anchor="t" rtlCol="false" tIns="0" lIns="0" bIns="0" rIns="0">
            <a:spAutoFit/>
          </a:bodyPr>
          <a:lstStyle/>
          <a:p>
            <a:pPr algn="l" marL="755651" indent="-377825" lvl="1">
              <a:lnSpc>
                <a:spcPts val="8015"/>
              </a:lnSpc>
              <a:buFont typeface="Arial"/>
              <a:buChar char="•"/>
            </a:pPr>
            <a:r>
              <a:rPr lang="en-US" sz="3500">
                <a:solidFill>
                  <a:srgbClr val="9D8021"/>
                </a:solidFill>
                <a:latin typeface="Inter"/>
                <a:ea typeface="Inter"/>
                <a:cs typeface="Inter"/>
                <a:sym typeface="Inter"/>
              </a:rPr>
              <a:t>Kiểm tra dữ liệu bị thiếu</a:t>
            </a:r>
          </a:p>
          <a:p>
            <a:pPr algn="l" marL="755651" indent="-377825" lvl="1">
              <a:lnSpc>
                <a:spcPts val="8015"/>
              </a:lnSpc>
              <a:buFont typeface="Arial"/>
              <a:buChar char="•"/>
            </a:pPr>
            <a:r>
              <a:rPr lang="en-US" sz="3500">
                <a:solidFill>
                  <a:srgbClr val="9D8021"/>
                </a:solidFill>
                <a:latin typeface="Inter"/>
                <a:ea typeface="Inter"/>
                <a:cs typeface="Inter"/>
                <a:sym typeface="Inter"/>
              </a:rPr>
              <a:t>Làm sạch dữ liệu</a:t>
            </a:r>
          </a:p>
        </p:txBody>
      </p:sp>
      <p:sp>
        <p:nvSpPr>
          <p:cNvPr name="TextBox 19" id="19"/>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550859" y="5719852"/>
            <a:ext cx="17186281" cy="1105683"/>
            <a:chOff x="0" y="0"/>
            <a:chExt cx="4526428" cy="291209"/>
          </a:xfrm>
        </p:grpSpPr>
        <p:sp>
          <p:nvSpPr>
            <p:cNvPr name="Freeform 11" id="11"/>
            <p:cNvSpPr/>
            <p:nvPr/>
          </p:nvSpPr>
          <p:spPr>
            <a:xfrm flipH="false" flipV="false" rot="0">
              <a:off x="0" y="0"/>
              <a:ext cx="4526428" cy="291209"/>
            </a:xfrm>
            <a:custGeom>
              <a:avLst/>
              <a:gdLst/>
              <a:ahLst/>
              <a:cxnLst/>
              <a:rect r="r" b="b" t="t" l="l"/>
              <a:pathLst>
                <a:path h="291209" w="4526428">
                  <a:moveTo>
                    <a:pt x="0" y="0"/>
                  </a:moveTo>
                  <a:lnTo>
                    <a:pt x="4526428" y="0"/>
                  </a:lnTo>
                  <a:lnTo>
                    <a:pt x="4526428" y="291209"/>
                  </a:lnTo>
                  <a:lnTo>
                    <a:pt x="0" y="291209"/>
                  </a:lnTo>
                  <a:close/>
                </a:path>
              </a:pathLst>
            </a:custGeom>
            <a:solidFill>
              <a:srgbClr val="FBE099"/>
            </a:solidFill>
          </p:spPr>
        </p:sp>
        <p:sp>
          <p:nvSpPr>
            <p:cNvPr name="TextBox 12" id="12"/>
            <p:cNvSpPr txBox="true"/>
            <p:nvPr/>
          </p:nvSpPr>
          <p:spPr>
            <a:xfrm>
              <a:off x="0" y="-38100"/>
              <a:ext cx="4526428" cy="32930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691379" y="3066906"/>
            <a:ext cx="14927718" cy="6191394"/>
          </a:xfrm>
          <a:custGeom>
            <a:avLst/>
            <a:gdLst/>
            <a:ahLst/>
            <a:cxnLst/>
            <a:rect r="r" b="b" t="t" l="l"/>
            <a:pathLst>
              <a:path h="6191394" w="14927718">
                <a:moveTo>
                  <a:pt x="0" y="0"/>
                </a:moveTo>
                <a:lnTo>
                  <a:pt x="14927717" y="0"/>
                </a:lnTo>
                <a:lnTo>
                  <a:pt x="14927717" y="6191394"/>
                </a:lnTo>
                <a:lnTo>
                  <a:pt x="0" y="6191394"/>
                </a:lnTo>
                <a:lnTo>
                  <a:pt x="0" y="0"/>
                </a:lnTo>
                <a:close/>
              </a:path>
            </a:pathLst>
          </a:custGeom>
          <a:blipFill>
            <a:blip r:embed="rId6"/>
            <a:stretch>
              <a:fillRect l="0" t="0" r="0" b="0"/>
            </a:stretch>
          </a:blipFill>
        </p:spPr>
      </p:sp>
      <p:sp>
        <p:nvSpPr>
          <p:cNvPr name="TextBox 14" id="14"/>
          <p:cNvSpPr txBox="true"/>
          <p:nvPr/>
        </p:nvSpPr>
        <p:spPr>
          <a:xfrm rot="0">
            <a:off x="1668904" y="1794479"/>
            <a:ext cx="14950193" cy="923928"/>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Kiểm tra kiểu dữ liệu </a:t>
            </a:r>
            <a:r>
              <a:rPr lang="en-US" sz="7500" b="true">
                <a:solidFill>
                  <a:srgbClr val="000000"/>
                </a:solidFill>
                <a:latin typeface="Cormorant Garamond Bold"/>
                <a:ea typeface="Cormorant Garamond Bold"/>
                <a:cs typeface="Cormorant Garamond Bold"/>
                <a:sym typeface="Cormorant Garamond Bold"/>
              </a:rPr>
              <a:t>và dữ liệu bị thiếu</a:t>
            </a:r>
          </a:p>
        </p:txBody>
      </p:sp>
      <p:sp>
        <p:nvSpPr>
          <p:cNvPr name="TextBox 15" id="15"/>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608413" y="2589709"/>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1335102" y="-1423183"/>
            <a:ext cx="11810110" cy="10500261"/>
          </a:xfrm>
          <a:custGeom>
            <a:avLst/>
            <a:gdLst/>
            <a:ahLst/>
            <a:cxnLst/>
            <a:rect r="r" b="b" t="t" l="l"/>
            <a:pathLst>
              <a:path h="10500261" w="11810110">
                <a:moveTo>
                  <a:pt x="11810109" y="10500261"/>
                </a:moveTo>
                <a:lnTo>
                  <a:pt x="0" y="10500261"/>
                </a:lnTo>
                <a:lnTo>
                  <a:pt x="0" y="0"/>
                </a:lnTo>
                <a:lnTo>
                  <a:pt x="11810109" y="0"/>
                </a:lnTo>
                <a:lnTo>
                  <a:pt x="11810109" y="10500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8765312" y="559596"/>
            <a:ext cx="9240384" cy="9333721"/>
          </a:xfrm>
          <a:custGeom>
            <a:avLst/>
            <a:gdLst/>
            <a:ahLst/>
            <a:cxnLst/>
            <a:rect r="r" b="b" t="t" l="l"/>
            <a:pathLst>
              <a:path h="9333721" w="9240384">
                <a:moveTo>
                  <a:pt x="0" y="0"/>
                </a:moveTo>
                <a:lnTo>
                  <a:pt x="9240384" y="0"/>
                </a:lnTo>
                <a:lnTo>
                  <a:pt x="9240384" y="9333721"/>
                </a:lnTo>
                <a:lnTo>
                  <a:pt x="0" y="9333721"/>
                </a:lnTo>
                <a:lnTo>
                  <a:pt x="0" y="0"/>
                </a:lnTo>
                <a:close/>
              </a:path>
            </a:pathLst>
          </a:custGeom>
          <a:blipFill>
            <a:blip r:embed="rId6"/>
            <a:stretch>
              <a:fillRect l="0" t="0" r="0" b="0"/>
            </a:stretch>
          </a:blipFill>
        </p:spPr>
      </p:sp>
      <p:sp>
        <p:nvSpPr>
          <p:cNvPr name="Freeform 9" id="9"/>
          <p:cNvSpPr/>
          <p:nvPr/>
        </p:nvSpPr>
        <p:spPr>
          <a:xfrm flipH="false" flipV="false" rot="0">
            <a:off x="475007" y="5970930"/>
            <a:ext cx="7971922" cy="3306420"/>
          </a:xfrm>
          <a:custGeom>
            <a:avLst/>
            <a:gdLst/>
            <a:ahLst/>
            <a:cxnLst/>
            <a:rect r="r" b="b" t="t" l="l"/>
            <a:pathLst>
              <a:path h="3306420" w="7971922">
                <a:moveTo>
                  <a:pt x="0" y="0"/>
                </a:moveTo>
                <a:lnTo>
                  <a:pt x="7971922" y="0"/>
                </a:lnTo>
                <a:lnTo>
                  <a:pt x="7971922" y="3306420"/>
                </a:lnTo>
                <a:lnTo>
                  <a:pt x="0" y="3306420"/>
                </a:lnTo>
                <a:lnTo>
                  <a:pt x="0" y="0"/>
                </a:lnTo>
                <a:close/>
              </a:path>
            </a:pathLst>
          </a:custGeom>
          <a:blipFill>
            <a:blip r:embed="rId7"/>
            <a:stretch>
              <a:fillRect l="0" t="0" r="0" b="0"/>
            </a:stretch>
          </a:blipFill>
        </p:spPr>
      </p:sp>
      <p:grpSp>
        <p:nvGrpSpPr>
          <p:cNvPr name="Group 10" id="10"/>
          <p:cNvGrpSpPr/>
          <p:nvPr/>
        </p:nvGrpSpPr>
        <p:grpSpPr>
          <a:xfrm rot="0">
            <a:off x="751854" y="1175088"/>
            <a:ext cx="7418229" cy="4051368"/>
            <a:chOff x="0" y="0"/>
            <a:chExt cx="9890972" cy="5401824"/>
          </a:xfrm>
        </p:grpSpPr>
        <p:grpSp>
          <p:nvGrpSpPr>
            <p:cNvPr name="Group 11" id="11"/>
            <p:cNvGrpSpPr/>
            <p:nvPr/>
          </p:nvGrpSpPr>
          <p:grpSpPr>
            <a:xfrm rot="0">
              <a:off x="0" y="0"/>
              <a:ext cx="9890972" cy="5401824"/>
              <a:chOff x="0" y="0"/>
              <a:chExt cx="2040866" cy="1114592"/>
            </a:xfrm>
          </p:grpSpPr>
          <p:sp>
            <p:nvSpPr>
              <p:cNvPr name="Freeform 12" id="12"/>
              <p:cNvSpPr/>
              <p:nvPr/>
            </p:nvSpPr>
            <p:spPr>
              <a:xfrm flipH="false" flipV="false" rot="0">
                <a:off x="0" y="0"/>
                <a:ext cx="2040866" cy="1114592"/>
              </a:xfrm>
              <a:custGeom>
                <a:avLst/>
                <a:gdLst/>
                <a:ahLst/>
                <a:cxnLst/>
                <a:rect r="r" b="b" t="t" l="l"/>
                <a:pathLst>
                  <a:path h="1114592" w="2040866">
                    <a:moveTo>
                      <a:pt x="104363" y="0"/>
                    </a:moveTo>
                    <a:lnTo>
                      <a:pt x="1936502" y="0"/>
                    </a:lnTo>
                    <a:cubicBezTo>
                      <a:pt x="1994141" y="0"/>
                      <a:pt x="2040866" y="46725"/>
                      <a:pt x="2040866" y="104363"/>
                    </a:cubicBezTo>
                    <a:lnTo>
                      <a:pt x="2040866" y="1010229"/>
                    </a:lnTo>
                    <a:cubicBezTo>
                      <a:pt x="2040866" y="1037907"/>
                      <a:pt x="2029870" y="1064453"/>
                      <a:pt x="2010298" y="1084025"/>
                    </a:cubicBezTo>
                    <a:cubicBezTo>
                      <a:pt x="1990726" y="1103597"/>
                      <a:pt x="1964181" y="1114592"/>
                      <a:pt x="1936502" y="1114592"/>
                    </a:cubicBezTo>
                    <a:lnTo>
                      <a:pt x="104363" y="1114592"/>
                    </a:lnTo>
                    <a:cubicBezTo>
                      <a:pt x="46725" y="1114592"/>
                      <a:pt x="0" y="1067867"/>
                      <a:pt x="0" y="1010229"/>
                    </a:cubicBezTo>
                    <a:lnTo>
                      <a:pt x="0" y="104363"/>
                    </a:lnTo>
                    <a:cubicBezTo>
                      <a:pt x="0" y="46725"/>
                      <a:pt x="46725" y="0"/>
                      <a:pt x="104363" y="0"/>
                    </a:cubicBezTo>
                    <a:close/>
                  </a:path>
                </a:pathLst>
              </a:custGeom>
              <a:solidFill>
                <a:srgbClr val="FFFFFF"/>
              </a:solidFill>
              <a:ln cap="rnd">
                <a:noFill/>
                <a:prstDash val="solid"/>
                <a:round/>
              </a:ln>
            </p:spPr>
          </p:sp>
          <p:sp>
            <p:nvSpPr>
              <p:cNvPr name="TextBox 13" id="13"/>
              <p:cNvSpPr txBox="true"/>
              <p:nvPr/>
            </p:nvSpPr>
            <p:spPr>
              <a:xfrm>
                <a:off x="0" y="-38100"/>
                <a:ext cx="2040866" cy="115269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751848" y="928533"/>
              <a:ext cx="8387276" cy="3763832"/>
            </a:xfrm>
            <a:prstGeom prst="rect">
              <a:avLst/>
            </a:prstGeom>
          </p:spPr>
          <p:txBody>
            <a:bodyPr anchor="t" rtlCol="false" tIns="0" lIns="0" bIns="0" rIns="0">
              <a:spAutoFit/>
            </a:bodyPr>
            <a:lstStyle/>
            <a:p>
              <a:pPr algn="ctr">
                <a:lnSpc>
                  <a:spcPts val="7110"/>
                </a:lnSpc>
              </a:pPr>
              <a:r>
                <a:rPr lang="en-US" sz="7900" b="true">
                  <a:solidFill>
                    <a:srgbClr val="2B7695"/>
                  </a:solidFill>
                  <a:latin typeface="Cormorant Garamond Bold"/>
                  <a:ea typeface="Cormorant Garamond Bold"/>
                  <a:cs typeface="Cormorant Garamond Bold"/>
                  <a:sym typeface="Cormorant Garamond Bold"/>
                </a:rPr>
                <a:t>Kiểm tra kiểu dữ liệu </a:t>
              </a:r>
              <a:r>
                <a:rPr lang="en-US" sz="7900" b="true">
                  <a:solidFill>
                    <a:srgbClr val="000000"/>
                  </a:solidFill>
                  <a:latin typeface="Cormorant Garamond Bold"/>
                  <a:ea typeface="Cormorant Garamond Bold"/>
                  <a:cs typeface="Cormorant Garamond Bold"/>
                  <a:sym typeface="Cormorant Garamond Bold"/>
                </a:rPr>
                <a:t>và </a:t>
              </a:r>
            </a:p>
            <a:p>
              <a:pPr algn="l">
                <a:lnSpc>
                  <a:spcPts val="7110"/>
                </a:lnSpc>
              </a:pPr>
              <a:r>
                <a:rPr lang="en-US" sz="7900" b="true">
                  <a:solidFill>
                    <a:srgbClr val="000000"/>
                  </a:solidFill>
                  <a:latin typeface="Cormorant Garamond Bold"/>
                  <a:ea typeface="Cormorant Garamond Bold"/>
                  <a:cs typeface="Cormorant Garamond Bold"/>
                  <a:sym typeface="Cormorant Garamond Bold"/>
                </a:rPr>
                <a:t>dữ liệu bị thiếu</a:t>
              </a:r>
            </a:p>
          </p:txBody>
        </p:sp>
      </p:grpSp>
      <p:sp>
        <p:nvSpPr>
          <p:cNvPr name="TextBox 15" id="15"/>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608413" y="2589709"/>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1335102" y="-1423183"/>
            <a:ext cx="11810110" cy="10500261"/>
          </a:xfrm>
          <a:custGeom>
            <a:avLst/>
            <a:gdLst/>
            <a:ahLst/>
            <a:cxnLst/>
            <a:rect r="r" b="b" t="t" l="l"/>
            <a:pathLst>
              <a:path h="10500261" w="11810110">
                <a:moveTo>
                  <a:pt x="11810109" y="10500261"/>
                </a:moveTo>
                <a:lnTo>
                  <a:pt x="0" y="10500261"/>
                </a:lnTo>
                <a:lnTo>
                  <a:pt x="0" y="0"/>
                </a:lnTo>
                <a:lnTo>
                  <a:pt x="11810109" y="0"/>
                </a:lnTo>
                <a:lnTo>
                  <a:pt x="11810109" y="10500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75007" y="5970930"/>
            <a:ext cx="7971922" cy="3306420"/>
          </a:xfrm>
          <a:custGeom>
            <a:avLst/>
            <a:gdLst/>
            <a:ahLst/>
            <a:cxnLst/>
            <a:rect r="r" b="b" t="t" l="l"/>
            <a:pathLst>
              <a:path h="3306420" w="7971922">
                <a:moveTo>
                  <a:pt x="0" y="0"/>
                </a:moveTo>
                <a:lnTo>
                  <a:pt x="7971922" y="0"/>
                </a:lnTo>
                <a:lnTo>
                  <a:pt x="7971922" y="3306420"/>
                </a:lnTo>
                <a:lnTo>
                  <a:pt x="0" y="3306420"/>
                </a:lnTo>
                <a:lnTo>
                  <a:pt x="0" y="0"/>
                </a:lnTo>
                <a:close/>
              </a:path>
            </a:pathLst>
          </a:custGeom>
          <a:blipFill>
            <a:blip r:embed="rId6"/>
            <a:stretch>
              <a:fillRect l="0" t="0" r="0" b="0"/>
            </a:stretch>
          </a:blipFill>
        </p:spPr>
      </p:sp>
      <p:grpSp>
        <p:nvGrpSpPr>
          <p:cNvPr name="Group 9" id="9"/>
          <p:cNvGrpSpPr/>
          <p:nvPr/>
        </p:nvGrpSpPr>
        <p:grpSpPr>
          <a:xfrm rot="0">
            <a:off x="751854" y="1175088"/>
            <a:ext cx="7418229" cy="4051368"/>
            <a:chOff x="0" y="0"/>
            <a:chExt cx="9890972" cy="5401824"/>
          </a:xfrm>
        </p:grpSpPr>
        <p:grpSp>
          <p:nvGrpSpPr>
            <p:cNvPr name="Group 10" id="10"/>
            <p:cNvGrpSpPr/>
            <p:nvPr/>
          </p:nvGrpSpPr>
          <p:grpSpPr>
            <a:xfrm rot="0">
              <a:off x="0" y="0"/>
              <a:ext cx="9890972" cy="5401824"/>
              <a:chOff x="0" y="0"/>
              <a:chExt cx="2040866" cy="1114592"/>
            </a:xfrm>
          </p:grpSpPr>
          <p:sp>
            <p:nvSpPr>
              <p:cNvPr name="Freeform 11" id="11"/>
              <p:cNvSpPr/>
              <p:nvPr/>
            </p:nvSpPr>
            <p:spPr>
              <a:xfrm flipH="false" flipV="false" rot="0">
                <a:off x="0" y="0"/>
                <a:ext cx="2040866" cy="1114592"/>
              </a:xfrm>
              <a:custGeom>
                <a:avLst/>
                <a:gdLst/>
                <a:ahLst/>
                <a:cxnLst/>
                <a:rect r="r" b="b" t="t" l="l"/>
                <a:pathLst>
                  <a:path h="1114592" w="2040866">
                    <a:moveTo>
                      <a:pt x="104363" y="0"/>
                    </a:moveTo>
                    <a:lnTo>
                      <a:pt x="1936502" y="0"/>
                    </a:lnTo>
                    <a:cubicBezTo>
                      <a:pt x="1994141" y="0"/>
                      <a:pt x="2040866" y="46725"/>
                      <a:pt x="2040866" y="104363"/>
                    </a:cubicBezTo>
                    <a:lnTo>
                      <a:pt x="2040866" y="1010229"/>
                    </a:lnTo>
                    <a:cubicBezTo>
                      <a:pt x="2040866" y="1037907"/>
                      <a:pt x="2029870" y="1064453"/>
                      <a:pt x="2010298" y="1084025"/>
                    </a:cubicBezTo>
                    <a:cubicBezTo>
                      <a:pt x="1990726" y="1103597"/>
                      <a:pt x="1964181" y="1114592"/>
                      <a:pt x="1936502" y="1114592"/>
                    </a:cubicBezTo>
                    <a:lnTo>
                      <a:pt x="104363" y="1114592"/>
                    </a:lnTo>
                    <a:cubicBezTo>
                      <a:pt x="46725" y="1114592"/>
                      <a:pt x="0" y="1067867"/>
                      <a:pt x="0" y="1010229"/>
                    </a:cubicBezTo>
                    <a:lnTo>
                      <a:pt x="0" y="104363"/>
                    </a:lnTo>
                    <a:cubicBezTo>
                      <a:pt x="0" y="46725"/>
                      <a:pt x="46725" y="0"/>
                      <a:pt x="104363" y="0"/>
                    </a:cubicBezTo>
                    <a:close/>
                  </a:path>
                </a:pathLst>
              </a:custGeom>
              <a:solidFill>
                <a:srgbClr val="FFFFFF"/>
              </a:solidFill>
              <a:ln cap="rnd">
                <a:noFill/>
                <a:prstDash val="solid"/>
                <a:round/>
              </a:ln>
            </p:spPr>
          </p:sp>
          <p:sp>
            <p:nvSpPr>
              <p:cNvPr name="TextBox 12" id="12"/>
              <p:cNvSpPr txBox="true"/>
              <p:nvPr/>
            </p:nvSpPr>
            <p:spPr>
              <a:xfrm>
                <a:off x="0" y="-38100"/>
                <a:ext cx="2040866" cy="115269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751848" y="928533"/>
              <a:ext cx="8387276" cy="3763832"/>
            </a:xfrm>
            <a:prstGeom prst="rect">
              <a:avLst/>
            </a:prstGeom>
          </p:spPr>
          <p:txBody>
            <a:bodyPr anchor="t" rtlCol="false" tIns="0" lIns="0" bIns="0" rIns="0">
              <a:spAutoFit/>
            </a:bodyPr>
            <a:lstStyle/>
            <a:p>
              <a:pPr algn="ctr">
                <a:lnSpc>
                  <a:spcPts val="7110"/>
                </a:lnSpc>
              </a:pPr>
              <a:r>
                <a:rPr lang="en-US" sz="7900" b="true">
                  <a:solidFill>
                    <a:srgbClr val="2B7695"/>
                  </a:solidFill>
                  <a:latin typeface="Cormorant Garamond Bold"/>
                  <a:ea typeface="Cormorant Garamond Bold"/>
                  <a:cs typeface="Cormorant Garamond Bold"/>
                  <a:sym typeface="Cormorant Garamond Bold"/>
                </a:rPr>
                <a:t>Kiểm tra kiểu dữ liệu </a:t>
              </a:r>
              <a:r>
                <a:rPr lang="en-US" sz="7900" b="true">
                  <a:solidFill>
                    <a:srgbClr val="000000"/>
                  </a:solidFill>
                  <a:latin typeface="Cormorant Garamond Bold"/>
                  <a:ea typeface="Cormorant Garamond Bold"/>
                  <a:cs typeface="Cormorant Garamond Bold"/>
                  <a:sym typeface="Cormorant Garamond Bold"/>
                </a:rPr>
                <a:t>và </a:t>
              </a:r>
            </a:p>
            <a:p>
              <a:pPr algn="l">
                <a:lnSpc>
                  <a:spcPts val="7110"/>
                </a:lnSpc>
              </a:pPr>
              <a:r>
                <a:rPr lang="en-US" sz="7900" b="true">
                  <a:solidFill>
                    <a:srgbClr val="000000"/>
                  </a:solidFill>
                  <a:latin typeface="Cormorant Garamond Bold"/>
                  <a:ea typeface="Cormorant Garamond Bold"/>
                  <a:cs typeface="Cormorant Garamond Bold"/>
                  <a:sym typeface="Cormorant Garamond Bold"/>
                </a:rPr>
                <a:t>dữ liệu bị thiếu</a:t>
              </a:r>
            </a:p>
          </p:txBody>
        </p:sp>
      </p:grpSp>
      <p:sp>
        <p:nvSpPr>
          <p:cNvPr name="Freeform 14" id="14"/>
          <p:cNvSpPr/>
          <p:nvPr/>
        </p:nvSpPr>
        <p:spPr>
          <a:xfrm flipH="false" flipV="false" rot="0">
            <a:off x="9446488" y="572962"/>
            <a:ext cx="8044303" cy="9306989"/>
          </a:xfrm>
          <a:custGeom>
            <a:avLst/>
            <a:gdLst/>
            <a:ahLst/>
            <a:cxnLst/>
            <a:rect r="r" b="b" t="t" l="l"/>
            <a:pathLst>
              <a:path h="9306989" w="8044303">
                <a:moveTo>
                  <a:pt x="0" y="0"/>
                </a:moveTo>
                <a:lnTo>
                  <a:pt x="8044303" y="0"/>
                </a:lnTo>
                <a:lnTo>
                  <a:pt x="8044303" y="9306989"/>
                </a:lnTo>
                <a:lnTo>
                  <a:pt x="0" y="9306989"/>
                </a:lnTo>
                <a:lnTo>
                  <a:pt x="0" y="0"/>
                </a:lnTo>
                <a:close/>
              </a:path>
            </a:pathLst>
          </a:custGeom>
          <a:blipFill>
            <a:blip r:embed="rId7"/>
            <a:stretch>
              <a:fillRect l="0" t="0" r="0" b="0"/>
            </a:stretch>
          </a:blipFill>
        </p:spPr>
      </p:sp>
      <p:sp>
        <p:nvSpPr>
          <p:cNvPr name="TextBox 15" id="15"/>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3565467" y="1174592"/>
            <a:ext cx="10228239" cy="866820"/>
          </a:xfrm>
          <a:prstGeom prst="rect">
            <a:avLst/>
          </a:prstGeom>
        </p:spPr>
        <p:txBody>
          <a:bodyPr anchor="t" rtlCol="false" tIns="0" lIns="0" bIns="0" rIns="0">
            <a:spAutoFit/>
          </a:bodyPr>
          <a:lstStyle/>
          <a:p>
            <a:pPr algn="ctr">
              <a:lnSpc>
                <a:spcPts val="6300"/>
              </a:lnSpc>
            </a:pPr>
            <a:r>
              <a:rPr lang="en-US" sz="7000" b="true">
                <a:solidFill>
                  <a:srgbClr val="2B7695"/>
                </a:solidFill>
                <a:latin typeface="Cormorant Garamond Bold"/>
                <a:ea typeface="Cormorant Garamond Bold"/>
                <a:cs typeface="Cormorant Garamond Bold"/>
                <a:sym typeface="Cormorant Garamond Bold"/>
              </a:rPr>
              <a:t>Lọc biến phân loại </a:t>
            </a:r>
            <a:r>
              <a:rPr lang="en-US" sz="7000" b="true">
                <a:solidFill>
                  <a:srgbClr val="000000"/>
                </a:solidFill>
                <a:latin typeface="Cormorant Garamond Bold"/>
                <a:ea typeface="Cormorant Garamond Bold"/>
                <a:cs typeface="Cormorant Garamond Bold"/>
                <a:sym typeface="Cormorant Garamond Bold"/>
              </a:rPr>
              <a:t>và biến số</a:t>
            </a:r>
          </a:p>
        </p:txBody>
      </p:sp>
      <p:sp>
        <p:nvSpPr>
          <p:cNvPr name="Freeform 11" id="11"/>
          <p:cNvSpPr/>
          <p:nvPr/>
        </p:nvSpPr>
        <p:spPr>
          <a:xfrm flipH="false" flipV="false" rot="0">
            <a:off x="1028700" y="7393153"/>
            <a:ext cx="16230600" cy="1683925"/>
          </a:xfrm>
          <a:custGeom>
            <a:avLst/>
            <a:gdLst/>
            <a:ahLst/>
            <a:cxnLst/>
            <a:rect r="r" b="b" t="t" l="l"/>
            <a:pathLst>
              <a:path h="1683925" w="16230600">
                <a:moveTo>
                  <a:pt x="0" y="0"/>
                </a:moveTo>
                <a:lnTo>
                  <a:pt x="16230600" y="0"/>
                </a:lnTo>
                <a:lnTo>
                  <a:pt x="16230600" y="1683925"/>
                </a:lnTo>
                <a:lnTo>
                  <a:pt x="0" y="1683925"/>
                </a:lnTo>
                <a:lnTo>
                  <a:pt x="0" y="0"/>
                </a:lnTo>
                <a:close/>
              </a:path>
            </a:pathLst>
          </a:custGeom>
          <a:blipFill>
            <a:blip r:embed="rId6"/>
            <a:stretch>
              <a:fillRect l="0" t="0" r="0" b="0"/>
            </a:stretch>
          </a:blipFill>
        </p:spPr>
      </p:sp>
      <p:sp>
        <p:nvSpPr>
          <p:cNvPr name="Freeform 12" id="12"/>
          <p:cNvSpPr/>
          <p:nvPr/>
        </p:nvSpPr>
        <p:spPr>
          <a:xfrm flipH="false" flipV="false" rot="0">
            <a:off x="3010842" y="2752188"/>
            <a:ext cx="12266315" cy="4032551"/>
          </a:xfrm>
          <a:custGeom>
            <a:avLst/>
            <a:gdLst/>
            <a:ahLst/>
            <a:cxnLst/>
            <a:rect r="r" b="b" t="t" l="l"/>
            <a:pathLst>
              <a:path h="4032551" w="12266315">
                <a:moveTo>
                  <a:pt x="0" y="0"/>
                </a:moveTo>
                <a:lnTo>
                  <a:pt x="12266316" y="0"/>
                </a:lnTo>
                <a:lnTo>
                  <a:pt x="12266316" y="4032551"/>
                </a:lnTo>
                <a:lnTo>
                  <a:pt x="0" y="4032551"/>
                </a:lnTo>
                <a:lnTo>
                  <a:pt x="0" y="0"/>
                </a:lnTo>
                <a:close/>
              </a:path>
            </a:pathLst>
          </a:custGeom>
          <a:blipFill>
            <a:blip r:embed="rId7"/>
            <a:stretch>
              <a:fillRect l="0" t="0" r="0" b="0"/>
            </a:stretch>
          </a:blipFill>
        </p:spPr>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176611" y="1028700"/>
            <a:ext cx="9791714" cy="8628948"/>
          </a:xfrm>
          <a:custGeom>
            <a:avLst/>
            <a:gdLst/>
            <a:ahLst/>
            <a:cxnLst/>
            <a:rect r="r" b="b" t="t" l="l"/>
            <a:pathLst>
              <a:path h="8628948" w="9791714">
                <a:moveTo>
                  <a:pt x="0" y="0"/>
                </a:moveTo>
                <a:lnTo>
                  <a:pt x="9791714" y="0"/>
                </a:lnTo>
                <a:lnTo>
                  <a:pt x="9791714" y="8628948"/>
                </a:lnTo>
                <a:lnTo>
                  <a:pt x="0" y="8628948"/>
                </a:lnTo>
                <a:lnTo>
                  <a:pt x="0" y="0"/>
                </a:lnTo>
                <a:close/>
              </a:path>
            </a:pathLst>
          </a:custGeom>
          <a:blipFill>
            <a:blip r:embed="rId6"/>
            <a:stretch>
              <a:fillRect l="0" t="0" r="0" b="0"/>
            </a:stretch>
          </a:blipFill>
        </p:spPr>
      </p:sp>
      <p:grpSp>
        <p:nvGrpSpPr>
          <p:cNvPr name="Group 11" id="11"/>
          <p:cNvGrpSpPr/>
          <p:nvPr/>
        </p:nvGrpSpPr>
        <p:grpSpPr>
          <a:xfrm rot="0">
            <a:off x="1692116" y="5143500"/>
            <a:ext cx="5246370" cy="3904402"/>
            <a:chOff x="0" y="0"/>
            <a:chExt cx="812800" cy="604894"/>
          </a:xfrm>
        </p:grpSpPr>
        <p:sp>
          <p:nvSpPr>
            <p:cNvPr name="Freeform 12" id="12"/>
            <p:cNvSpPr/>
            <p:nvPr/>
          </p:nvSpPr>
          <p:spPr>
            <a:xfrm flipH="false" flipV="false" rot="0">
              <a:off x="0" y="0"/>
              <a:ext cx="812800" cy="604894"/>
            </a:xfrm>
            <a:custGeom>
              <a:avLst/>
              <a:gdLst/>
              <a:ahLst/>
              <a:cxnLst/>
              <a:rect r="r" b="b" t="t" l="l"/>
              <a:pathLst>
                <a:path h="604894" w="812800">
                  <a:moveTo>
                    <a:pt x="84113" y="0"/>
                  </a:moveTo>
                  <a:lnTo>
                    <a:pt x="728687" y="0"/>
                  </a:lnTo>
                  <a:cubicBezTo>
                    <a:pt x="750995" y="0"/>
                    <a:pt x="772389" y="8862"/>
                    <a:pt x="788164" y="24636"/>
                  </a:cubicBezTo>
                  <a:cubicBezTo>
                    <a:pt x="803938" y="40411"/>
                    <a:pt x="812800" y="61805"/>
                    <a:pt x="812800" y="84113"/>
                  </a:cubicBezTo>
                  <a:lnTo>
                    <a:pt x="812800" y="520781"/>
                  </a:lnTo>
                  <a:cubicBezTo>
                    <a:pt x="812800" y="543089"/>
                    <a:pt x="803938" y="564484"/>
                    <a:pt x="788164" y="580258"/>
                  </a:cubicBezTo>
                  <a:cubicBezTo>
                    <a:pt x="772389" y="596032"/>
                    <a:pt x="750995" y="604894"/>
                    <a:pt x="728687" y="604894"/>
                  </a:cubicBezTo>
                  <a:lnTo>
                    <a:pt x="84113" y="604894"/>
                  </a:lnTo>
                  <a:cubicBezTo>
                    <a:pt x="61805" y="604894"/>
                    <a:pt x="40411" y="596032"/>
                    <a:pt x="24636" y="580258"/>
                  </a:cubicBezTo>
                  <a:cubicBezTo>
                    <a:pt x="8862" y="564484"/>
                    <a:pt x="0" y="543089"/>
                    <a:pt x="0" y="520781"/>
                  </a:cubicBezTo>
                  <a:lnTo>
                    <a:pt x="0" y="84113"/>
                  </a:lnTo>
                  <a:cubicBezTo>
                    <a:pt x="0" y="61805"/>
                    <a:pt x="8862" y="40411"/>
                    <a:pt x="24636" y="24636"/>
                  </a:cubicBezTo>
                  <a:cubicBezTo>
                    <a:pt x="40411" y="8862"/>
                    <a:pt x="61805" y="0"/>
                    <a:pt x="84113" y="0"/>
                  </a:cubicBezTo>
                  <a:close/>
                </a:path>
              </a:pathLst>
            </a:custGeom>
            <a:blipFill>
              <a:blip r:embed="rId7"/>
              <a:stretch>
                <a:fillRect l="0" t="-3694" r="0" b="-3694"/>
              </a:stretch>
            </a:blipFill>
          </p:spPr>
        </p:sp>
      </p:grpSp>
      <p:sp>
        <p:nvSpPr>
          <p:cNvPr name="TextBox 13" id="13"/>
          <p:cNvSpPr txBox="true"/>
          <p:nvPr/>
        </p:nvSpPr>
        <p:spPr>
          <a:xfrm rot="0">
            <a:off x="1460524" y="1765904"/>
            <a:ext cx="6590767" cy="2901941"/>
          </a:xfrm>
          <a:prstGeom prst="rect">
            <a:avLst/>
          </a:prstGeom>
        </p:spPr>
        <p:txBody>
          <a:bodyPr anchor="t" rtlCol="false" tIns="0" lIns="0" bIns="0" rIns="0">
            <a:spAutoFit/>
          </a:bodyPr>
          <a:lstStyle/>
          <a:p>
            <a:pPr algn="l">
              <a:lnSpc>
                <a:spcPts val="5669"/>
              </a:lnSpc>
            </a:pPr>
            <a:r>
              <a:rPr lang="en-US" sz="6299" b="true">
                <a:solidFill>
                  <a:srgbClr val="000000"/>
                </a:solidFill>
                <a:latin typeface="Cormorant Garamond Bold"/>
                <a:ea typeface="Cormorant Garamond Bold"/>
                <a:cs typeface="Cormorant Garamond Bold"/>
                <a:sym typeface="Cormorant Garamond Bold"/>
              </a:rPr>
              <a:t>Trực quan dữ liệu để tìm Outliers</a:t>
            </a:r>
            <a:r>
              <a:rPr lang="en-US" sz="6299" b="true">
                <a:solidFill>
                  <a:srgbClr val="2B7695"/>
                </a:solidFill>
                <a:latin typeface="Cormorant Garamond Bold"/>
                <a:ea typeface="Cormorant Garamond Bold"/>
                <a:cs typeface="Cormorant Garamond Bold"/>
                <a:sym typeface="Cormorant Garamond Bold"/>
              </a:rPr>
              <a:t> </a:t>
            </a:r>
          </a:p>
          <a:p>
            <a:pPr algn="l">
              <a:lnSpc>
                <a:spcPts val="5669"/>
              </a:lnSpc>
            </a:pPr>
            <a:r>
              <a:rPr lang="en-US" sz="6299" b="true">
                <a:solidFill>
                  <a:srgbClr val="2B7695"/>
                </a:solidFill>
                <a:latin typeface="Cormorant Garamond Bold"/>
                <a:ea typeface="Cormorant Garamond Bold"/>
                <a:cs typeface="Cormorant Garamond Bold"/>
                <a:sym typeface="Cormorant Garamond Bold"/>
              </a:rPr>
              <a:t>bằng biểu đồ Boxplot</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692116" y="5143500"/>
            <a:ext cx="5246370" cy="3904402"/>
            <a:chOff x="0" y="0"/>
            <a:chExt cx="812800" cy="604894"/>
          </a:xfrm>
        </p:grpSpPr>
        <p:sp>
          <p:nvSpPr>
            <p:cNvPr name="Freeform 11" id="11"/>
            <p:cNvSpPr/>
            <p:nvPr/>
          </p:nvSpPr>
          <p:spPr>
            <a:xfrm flipH="false" flipV="false" rot="0">
              <a:off x="0" y="0"/>
              <a:ext cx="812800" cy="604894"/>
            </a:xfrm>
            <a:custGeom>
              <a:avLst/>
              <a:gdLst/>
              <a:ahLst/>
              <a:cxnLst/>
              <a:rect r="r" b="b" t="t" l="l"/>
              <a:pathLst>
                <a:path h="604894" w="812800">
                  <a:moveTo>
                    <a:pt x="84113" y="0"/>
                  </a:moveTo>
                  <a:lnTo>
                    <a:pt x="728687" y="0"/>
                  </a:lnTo>
                  <a:cubicBezTo>
                    <a:pt x="750995" y="0"/>
                    <a:pt x="772389" y="8862"/>
                    <a:pt x="788164" y="24636"/>
                  </a:cubicBezTo>
                  <a:cubicBezTo>
                    <a:pt x="803938" y="40411"/>
                    <a:pt x="812800" y="61805"/>
                    <a:pt x="812800" y="84113"/>
                  </a:cubicBezTo>
                  <a:lnTo>
                    <a:pt x="812800" y="520781"/>
                  </a:lnTo>
                  <a:cubicBezTo>
                    <a:pt x="812800" y="543089"/>
                    <a:pt x="803938" y="564484"/>
                    <a:pt x="788164" y="580258"/>
                  </a:cubicBezTo>
                  <a:cubicBezTo>
                    <a:pt x="772389" y="596032"/>
                    <a:pt x="750995" y="604894"/>
                    <a:pt x="728687" y="604894"/>
                  </a:cubicBezTo>
                  <a:lnTo>
                    <a:pt x="84113" y="604894"/>
                  </a:lnTo>
                  <a:cubicBezTo>
                    <a:pt x="61805" y="604894"/>
                    <a:pt x="40411" y="596032"/>
                    <a:pt x="24636" y="580258"/>
                  </a:cubicBezTo>
                  <a:cubicBezTo>
                    <a:pt x="8862" y="564484"/>
                    <a:pt x="0" y="543089"/>
                    <a:pt x="0" y="520781"/>
                  </a:cubicBezTo>
                  <a:lnTo>
                    <a:pt x="0" y="84113"/>
                  </a:lnTo>
                  <a:cubicBezTo>
                    <a:pt x="0" y="61805"/>
                    <a:pt x="8862" y="40411"/>
                    <a:pt x="24636" y="24636"/>
                  </a:cubicBezTo>
                  <a:cubicBezTo>
                    <a:pt x="40411" y="8862"/>
                    <a:pt x="61805" y="0"/>
                    <a:pt x="84113" y="0"/>
                  </a:cubicBezTo>
                  <a:close/>
                </a:path>
              </a:pathLst>
            </a:custGeom>
            <a:blipFill>
              <a:blip r:embed="rId6"/>
              <a:stretch>
                <a:fillRect l="0" t="-3694" r="0" b="-3694"/>
              </a:stretch>
            </a:blipFill>
          </p:spPr>
        </p:sp>
      </p:grpSp>
      <p:sp>
        <p:nvSpPr>
          <p:cNvPr name="TextBox 12" id="12"/>
          <p:cNvSpPr txBox="true"/>
          <p:nvPr/>
        </p:nvSpPr>
        <p:spPr>
          <a:xfrm rot="0">
            <a:off x="1460524" y="1765904"/>
            <a:ext cx="6590767" cy="2901941"/>
          </a:xfrm>
          <a:prstGeom prst="rect">
            <a:avLst/>
          </a:prstGeom>
        </p:spPr>
        <p:txBody>
          <a:bodyPr anchor="t" rtlCol="false" tIns="0" lIns="0" bIns="0" rIns="0">
            <a:spAutoFit/>
          </a:bodyPr>
          <a:lstStyle/>
          <a:p>
            <a:pPr algn="l">
              <a:lnSpc>
                <a:spcPts val="5669"/>
              </a:lnSpc>
            </a:pPr>
            <a:r>
              <a:rPr lang="en-US" sz="6299" b="true">
                <a:solidFill>
                  <a:srgbClr val="000000"/>
                </a:solidFill>
                <a:latin typeface="Cormorant Garamond Bold"/>
                <a:ea typeface="Cormorant Garamond Bold"/>
                <a:cs typeface="Cormorant Garamond Bold"/>
                <a:sym typeface="Cormorant Garamond Bold"/>
              </a:rPr>
              <a:t>Trực quan dữ liệu để tìm Outliers</a:t>
            </a:r>
            <a:r>
              <a:rPr lang="en-US" sz="6299" b="true">
                <a:solidFill>
                  <a:srgbClr val="2B7695"/>
                </a:solidFill>
                <a:latin typeface="Cormorant Garamond Bold"/>
                <a:ea typeface="Cormorant Garamond Bold"/>
                <a:cs typeface="Cormorant Garamond Bold"/>
                <a:sym typeface="Cormorant Garamond Bold"/>
              </a:rPr>
              <a:t> </a:t>
            </a:r>
          </a:p>
          <a:p>
            <a:pPr algn="l">
              <a:lnSpc>
                <a:spcPts val="5669"/>
              </a:lnSpc>
            </a:pPr>
            <a:r>
              <a:rPr lang="en-US" sz="6299" b="true">
                <a:solidFill>
                  <a:srgbClr val="2B7695"/>
                </a:solidFill>
                <a:latin typeface="Cormorant Garamond Bold"/>
                <a:ea typeface="Cormorant Garamond Bold"/>
                <a:cs typeface="Cormorant Garamond Bold"/>
                <a:sym typeface="Cormorant Garamond Bold"/>
              </a:rPr>
              <a:t>bằng biểu đồ Boxplot</a:t>
            </a:r>
          </a:p>
        </p:txBody>
      </p:sp>
      <p:sp>
        <p:nvSpPr>
          <p:cNvPr name="TextBox 13" id="13"/>
          <p:cNvSpPr txBox="true"/>
          <p:nvPr/>
        </p:nvSpPr>
        <p:spPr>
          <a:xfrm rot="0">
            <a:off x="7667872" y="8492261"/>
            <a:ext cx="9042791" cy="584817"/>
          </a:xfrm>
          <a:prstGeom prst="rect">
            <a:avLst/>
          </a:prstGeom>
        </p:spPr>
        <p:txBody>
          <a:bodyPr anchor="t" rtlCol="false" tIns="0" lIns="0" bIns="0" rIns="0">
            <a:spAutoFit/>
          </a:bodyPr>
          <a:lstStyle/>
          <a:p>
            <a:pPr algn="just">
              <a:lnSpc>
                <a:spcPts val="4920"/>
              </a:lnSpc>
            </a:pPr>
            <a:r>
              <a:rPr lang="en-US" sz="3000">
                <a:solidFill>
                  <a:srgbClr val="1C4F64"/>
                </a:solidFill>
                <a:latin typeface="Inter"/>
                <a:ea typeface="Inter"/>
                <a:cs typeface="Inter"/>
                <a:sym typeface="Inter"/>
              </a:rPr>
              <a:t>Biểu đồ Box-plot của cột price_ori và price_actual</a:t>
            </a:r>
          </a:p>
        </p:txBody>
      </p:sp>
      <p:grpSp>
        <p:nvGrpSpPr>
          <p:cNvPr name="Group 14" id="14"/>
          <p:cNvGrpSpPr/>
          <p:nvPr/>
        </p:nvGrpSpPr>
        <p:grpSpPr>
          <a:xfrm rot="0">
            <a:off x="7879359" y="1680179"/>
            <a:ext cx="8831304" cy="6511654"/>
            <a:chOff x="0" y="0"/>
            <a:chExt cx="1018393" cy="750900"/>
          </a:xfrm>
        </p:grpSpPr>
        <p:sp>
          <p:nvSpPr>
            <p:cNvPr name="Freeform 15" id="15"/>
            <p:cNvSpPr/>
            <p:nvPr/>
          </p:nvSpPr>
          <p:spPr>
            <a:xfrm flipH="false" flipV="false" rot="0">
              <a:off x="0" y="0"/>
              <a:ext cx="1018393" cy="750900"/>
            </a:xfrm>
            <a:custGeom>
              <a:avLst/>
              <a:gdLst/>
              <a:ahLst/>
              <a:cxnLst/>
              <a:rect r="r" b="b" t="t" l="l"/>
              <a:pathLst>
                <a:path h="750900" w="1018393">
                  <a:moveTo>
                    <a:pt x="35942" y="0"/>
                  </a:moveTo>
                  <a:lnTo>
                    <a:pt x="982451" y="0"/>
                  </a:lnTo>
                  <a:cubicBezTo>
                    <a:pt x="1002301" y="0"/>
                    <a:pt x="1018393" y="16092"/>
                    <a:pt x="1018393" y="35942"/>
                  </a:cubicBezTo>
                  <a:lnTo>
                    <a:pt x="1018393" y="714957"/>
                  </a:lnTo>
                  <a:cubicBezTo>
                    <a:pt x="1018393" y="724490"/>
                    <a:pt x="1014606" y="733632"/>
                    <a:pt x="1007866" y="740372"/>
                  </a:cubicBezTo>
                  <a:cubicBezTo>
                    <a:pt x="1001125" y="747113"/>
                    <a:pt x="991983" y="750900"/>
                    <a:pt x="982451" y="750900"/>
                  </a:cubicBezTo>
                  <a:lnTo>
                    <a:pt x="35942" y="750900"/>
                  </a:lnTo>
                  <a:cubicBezTo>
                    <a:pt x="26410" y="750900"/>
                    <a:pt x="17268" y="747113"/>
                    <a:pt x="10527" y="740372"/>
                  </a:cubicBezTo>
                  <a:cubicBezTo>
                    <a:pt x="3787" y="733632"/>
                    <a:pt x="0" y="724490"/>
                    <a:pt x="0" y="714957"/>
                  </a:cubicBezTo>
                  <a:lnTo>
                    <a:pt x="0" y="35942"/>
                  </a:lnTo>
                  <a:cubicBezTo>
                    <a:pt x="0" y="26410"/>
                    <a:pt x="3787" y="17268"/>
                    <a:pt x="10527" y="10527"/>
                  </a:cubicBezTo>
                  <a:cubicBezTo>
                    <a:pt x="17268" y="3787"/>
                    <a:pt x="26410" y="0"/>
                    <a:pt x="35942" y="0"/>
                  </a:cubicBezTo>
                  <a:close/>
                </a:path>
              </a:pathLst>
            </a:custGeom>
            <a:blipFill>
              <a:blip r:embed="rId7"/>
              <a:stretch>
                <a:fillRect l="-1390" t="0" r="-1390" b="0"/>
              </a:stretch>
            </a:blipFill>
          </p:spPr>
        </p:sp>
      </p:grpSp>
      <p:sp>
        <p:nvSpPr>
          <p:cNvPr name="TextBox 16" id="16"/>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692116" y="5143500"/>
            <a:ext cx="5246370" cy="3904402"/>
            <a:chOff x="0" y="0"/>
            <a:chExt cx="812800" cy="604894"/>
          </a:xfrm>
        </p:grpSpPr>
        <p:sp>
          <p:nvSpPr>
            <p:cNvPr name="Freeform 11" id="11"/>
            <p:cNvSpPr/>
            <p:nvPr/>
          </p:nvSpPr>
          <p:spPr>
            <a:xfrm flipH="false" flipV="false" rot="0">
              <a:off x="0" y="0"/>
              <a:ext cx="812800" cy="604894"/>
            </a:xfrm>
            <a:custGeom>
              <a:avLst/>
              <a:gdLst/>
              <a:ahLst/>
              <a:cxnLst/>
              <a:rect r="r" b="b" t="t" l="l"/>
              <a:pathLst>
                <a:path h="604894" w="812800">
                  <a:moveTo>
                    <a:pt x="84113" y="0"/>
                  </a:moveTo>
                  <a:lnTo>
                    <a:pt x="728687" y="0"/>
                  </a:lnTo>
                  <a:cubicBezTo>
                    <a:pt x="750995" y="0"/>
                    <a:pt x="772389" y="8862"/>
                    <a:pt x="788164" y="24636"/>
                  </a:cubicBezTo>
                  <a:cubicBezTo>
                    <a:pt x="803938" y="40411"/>
                    <a:pt x="812800" y="61805"/>
                    <a:pt x="812800" y="84113"/>
                  </a:cubicBezTo>
                  <a:lnTo>
                    <a:pt x="812800" y="520781"/>
                  </a:lnTo>
                  <a:cubicBezTo>
                    <a:pt x="812800" y="543089"/>
                    <a:pt x="803938" y="564484"/>
                    <a:pt x="788164" y="580258"/>
                  </a:cubicBezTo>
                  <a:cubicBezTo>
                    <a:pt x="772389" y="596032"/>
                    <a:pt x="750995" y="604894"/>
                    <a:pt x="728687" y="604894"/>
                  </a:cubicBezTo>
                  <a:lnTo>
                    <a:pt x="84113" y="604894"/>
                  </a:lnTo>
                  <a:cubicBezTo>
                    <a:pt x="61805" y="604894"/>
                    <a:pt x="40411" y="596032"/>
                    <a:pt x="24636" y="580258"/>
                  </a:cubicBezTo>
                  <a:cubicBezTo>
                    <a:pt x="8862" y="564484"/>
                    <a:pt x="0" y="543089"/>
                    <a:pt x="0" y="520781"/>
                  </a:cubicBezTo>
                  <a:lnTo>
                    <a:pt x="0" y="84113"/>
                  </a:lnTo>
                  <a:cubicBezTo>
                    <a:pt x="0" y="61805"/>
                    <a:pt x="8862" y="40411"/>
                    <a:pt x="24636" y="24636"/>
                  </a:cubicBezTo>
                  <a:cubicBezTo>
                    <a:pt x="40411" y="8862"/>
                    <a:pt x="61805" y="0"/>
                    <a:pt x="84113" y="0"/>
                  </a:cubicBezTo>
                  <a:close/>
                </a:path>
              </a:pathLst>
            </a:custGeom>
            <a:blipFill>
              <a:blip r:embed="rId6"/>
              <a:stretch>
                <a:fillRect l="0" t="-3694" r="0" b="-3694"/>
              </a:stretch>
            </a:blipFill>
          </p:spPr>
        </p:sp>
      </p:grpSp>
      <p:grpSp>
        <p:nvGrpSpPr>
          <p:cNvPr name="Group 12" id="12"/>
          <p:cNvGrpSpPr/>
          <p:nvPr/>
        </p:nvGrpSpPr>
        <p:grpSpPr>
          <a:xfrm rot="0">
            <a:off x="7879359" y="1680179"/>
            <a:ext cx="8831304" cy="6511654"/>
            <a:chOff x="0" y="0"/>
            <a:chExt cx="1018393" cy="750900"/>
          </a:xfrm>
        </p:grpSpPr>
        <p:sp>
          <p:nvSpPr>
            <p:cNvPr name="Freeform 13" id="13"/>
            <p:cNvSpPr/>
            <p:nvPr/>
          </p:nvSpPr>
          <p:spPr>
            <a:xfrm flipH="false" flipV="false" rot="0">
              <a:off x="0" y="0"/>
              <a:ext cx="1018393" cy="750900"/>
            </a:xfrm>
            <a:custGeom>
              <a:avLst/>
              <a:gdLst/>
              <a:ahLst/>
              <a:cxnLst/>
              <a:rect r="r" b="b" t="t" l="l"/>
              <a:pathLst>
                <a:path h="750900" w="1018393">
                  <a:moveTo>
                    <a:pt x="35942" y="0"/>
                  </a:moveTo>
                  <a:lnTo>
                    <a:pt x="982451" y="0"/>
                  </a:lnTo>
                  <a:cubicBezTo>
                    <a:pt x="1002301" y="0"/>
                    <a:pt x="1018393" y="16092"/>
                    <a:pt x="1018393" y="35942"/>
                  </a:cubicBezTo>
                  <a:lnTo>
                    <a:pt x="1018393" y="714957"/>
                  </a:lnTo>
                  <a:cubicBezTo>
                    <a:pt x="1018393" y="724490"/>
                    <a:pt x="1014606" y="733632"/>
                    <a:pt x="1007866" y="740372"/>
                  </a:cubicBezTo>
                  <a:cubicBezTo>
                    <a:pt x="1001125" y="747113"/>
                    <a:pt x="991983" y="750900"/>
                    <a:pt x="982451" y="750900"/>
                  </a:cubicBezTo>
                  <a:lnTo>
                    <a:pt x="35942" y="750900"/>
                  </a:lnTo>
                  <a:cubicBezTo>
                    <a:pt x="26410" y="750900"/>
                    <a:pt x="17268" y="747113"/>
                    <a:pt x="10527" y="740372"/>
                  </a:cubicBezTo>
                  <a:cubicBezTo>
                    <a:pt x="3787" y="733632"/>
                    <a:pt x="0" y="724490"/>
                    <a:pt x="0" y="714957"/>
                  </a:cubicBezTo>
                  <a:lnTo>
                    <a:pt x="0" y="35942"/>
                  </a:lnTo>
                  <a:cubicBezTo>
                    <a:pt x="0" y="26410"/>
                    <a:pt x="3787" y="17268"/>
                    <a:pt x="10527" y="10527"/>
                  </a:cubicBezTo>
                  <a:cubicBezTo>
                    <a:pt x="17268" y="3787"/>
                    <a:pt x="26410" y="0"/>
                    <a:pt x="35942" y="0"/>
                  </a:cubicBezTo>
                  <a:close/>
                </a:path>
              </a:pathLst>
            </a:custGeom>
            <a:blipFill>
              <a:blip r:embed="rId7"/>
              <a:stretch>
                <a:fillRect l="0" t="-114" r="0" b="-114"/>
              </a:stretch>
            </a:blipFill>
          </p:spPr>
        </p:sp>
      </p:grpSp>
      <p:sp>
        <p:nvSpPr>
          <p:cNvPr name="TextBox 14" id="14"/>
          <p:cNvSpPr txBox="true"/>
          <p:nvPr/>
        </p:nvSpPr>
        <p:spPr>
          <a:xfrm rot="0">
            <a:off x="1460524" y="1765904"/>
            <a:ext cx="6590767" cy="2901941"/>
          </a:xfrm>
          <a:prstGeom prst="rect">
            <a:avLst/>
          </a:prstGeom>
        </p:spPr>
        <p:txBody>
          <a:bodyPr anchor="t" rtlCol="false" tIns="0" lIns="0" bIns="0" rIns="0">
            <a:spAutoFit/>
          </a:bodyPr>
          <a:lstStyle/>
          <a:p>
            <a:pPr algn="l">
              <a:lnSpc>
                <a:spcPts val="5669"/>
              </a:lnSpc>
            </a:pPr>
            <a:r>
              <a:rPr lang="en-US" sz="6299" b="true">
                <a:solidFill>
                  <a:srgbClr val="000000"/>
                </a:solidFill>
                <a:latin typeface="Cormorant Garamond Bold"/>
                <a:ea typeface="Cormorant Garamond Bold"/>
                <a:cs typeface="Cormorant Garamond Bold"/>
                <a:sym typeface="Cormorant Garamond Bold"/>
              </a:rPr>
              <a:t>Trực quan dữ liệu để tìm Outliers</a:t>
            </a:r>
            <a:r>
              <a:rPr lang="en-US" sz="6299" b="true">
                <a:solidFill>
                  <a:srgbClr val="2B7695"/>
                </a:solidFill>
                <a:latin typeface="Cormorant Garamond Bold"/>
                <a:ea typeface="Cormorant Garamond Bold"/>
                <a:cs typeface="Cormorant Garamond Bold"/>
                <a:sym typeface="Cormorant Garamond Bold"/>
              </a:rPr>
              <a:t> </a:t>
            </a:r>
          </a:p>
          <a:p>
            <a:pPr algn="l">
              <a:lnSpc>
                <a:spcPts val="5669"/>
              </a:lnSpc>
            </a:pPr>
            <a:r>
              <a:rPr lang="en-US" sz="6299" b="true">
                <a:solidFill>
                  <a:srgbClr val="2B7695"/>
                </a:solidFill>
                <a:latin typeface="Cormorant Garamond Bold"/>
                <a:ea typeface="Cormorant Garamond Bold"/>
                <a:cs typeface="Cormorant Garamond Bold"/>
                <a:sym typeface="Cormorant Garamond Bold"/>
              </a:rPr>
              <a:t>bằng biểu đồ Boxplot</a:t>
            </a:r>
          </a:p>
        </p:txBody>
      </p:sp>
      <p:sp>
        <p:nvSpPr>
          <p:cNvPr name="TextBox 15" id="15"/>
          <p:cNvSpPr txBox="true"/>
          <p:nvPr/>
        </p:nvSpPr>
        <p:spPr>
          <a:xfrm rot="0">
            <a:off x="7677397" y="8492261"/>
            <a:ext cx="9042791" cy="584817"/>
          </a:xfrm>
          <a:prstGeom prst="rect">
            <a:avLst/>
          </a:prstGeom>
        </p:spPr>
        <p:txBody>
          <a:bodyPr anchor="t" rtlCol="false" tIns="0" lIns="0" bIns="0" rIns="0">
            <a:spAutoFit/>
          </a:bodyPr>
          <a:lstStyle/>
          <a:p>
            <a:pPr algn="ctr">
              <a:lnSpc>
                <a:spcPts val="4920"/>
              </a:lnSpc>
            </a:pPr>
            <a:r>
              <a:rPr lang="en-US" sz="3000">
                <a:solidFill>
                  <a:srgbClr val="1C4F64"/>
                </a:solidFill>
                <a:latin typeface="Inter"/>
                <a:ea typeface="Inter"/>
                <a:cs typeface="Inter"/>
                <a:sym typeface="Inter"/>
              </a:rPr>
              <a:t>Biểu đồ Box-plot của cột total_sold và favorite</a:t>
            </a:r>
          </a:p>
        </p:txBody>
      </p:sp>
      <p:sp>
        <p:nvSpPr>
          <p:cNvPr name="TextBox 16" id="16"/>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692116" y="5143500"/>
            <a:ext cx="5246370" cy="3904402"/>
            <a:chOff x="0" y="0"/>
            <a:chExt cx="812800" cy="604894"/>
          </a:xfrm>
        </p:grpSpPr>
        <p:sp>
          <p:nvSpPr>
            <p:cNvPr name="Freeform 11" id="11"/>
            <p:cNvSpPr/>
            <p:nvPr/>
          </p:nvSpPr>
          <p:spPr>
            <a:xfrm flipH="false" flipV="false" rot="0">
              <a:off x="0" y="0"/>
              <a:ext cx="812800" cy="604894"/>
            </a:xfrm>
            <a:custGeom>
              <a:avLst/>
              <a:gdLst/>
              <a:ahLst/>
              <a:cxnLst/>
              <a:rect r="r" b="b" t="t" l="l"/>
              <a:pathLst>
                <a:path h="604894" w="812800">
                  <a:moveTo>
                    <a:pt x="84113" y="0"/>
                  </a:moveTo>
                  <a:lnTo>
                    <a:pt x="728687" y="0"/>
                  </a:lnTo>
                  <a:cubicBezTo>
                    <a:pt x="750995" y="0"/>
                    <a:pt x="772389" y="8862"/>
                    <a:pt x="788164" y="24636"/>
                  </a:cubicBezTo>
                  <a:cubicBezTo>
                    <a:pt x="803938" y="40411"/>
                    <a:pt x="812800" y="61805"/>
                    <a:pt x="812800" y="84113"/>
                  </a:cubicBezTo>
                  <a:lnTo>
                    <a:pt x="812800" y="520781"/>
                  </a:lnTo>
                  <a:cubicBezTo>
                    <a:pt x="812800" y="543089"/>
                    <a:pt x="803938" y="564484"/>
                    <a:pt x="788164" y="580258"/>
                  </a:cubicBezTo>
                  <a:cubicBezTo>
                    <a:pt x="772389" y="596032"/>
                    <a:pt x="750995" y="604894"/>
                    <a:pt x="728687" y="604894"/>
                  </a:cubicBezTo>
                  <a:lnTo>
                    <a:pt x="84113" y="604894"/>
                  </a:lnTo>
                  <a:cubicBezTo>
                    <a:pt x="61805" y="604894"/>
                    <a:pt x="40411" y="596032"/>
                    <a:pt x="24636" y="580258"/>
                  </a:cubicBezTo>
                  <a:cubicBezTo>
                    <a:pt x="8862" y="564484"/>
                    <a:pt x="0" y="543089"/>
                    <a:pt x="0" y="520781"/>
                  </a:cubicBezTo>
                  <a:lnTo>
                    <a:pt x="0" y="84113"/>
                  </a:lnTo>
                  <a:cubicBezTo>
                    <a:pt x="0" y="61805"/>
                    <a:pt x="8862" y="40411"/>
                    <a:pt x="24636" y="24636"/>
                  </a:cubicBezTo>
                  <a:cubicBezTo>
                    <a:pt x="40411" y="8862"/>
                    <a:pt x="61805" y="0"/>
                    <a:pt x="84113" y="0"/>
                  </a:cubicBezTo>
                  <a:close/>
                </a:path>
              </a:pathLst>
            </a:custGeom>
            <a:blipFill>
              <a:blip r:embed="rId6"/>
              <a:stretch>
                <a:fillRect l="0" t="-3694" r="0" b="-3694"/>
              </a:stretch>
            </a:blipFill>
          </p:spPr>
        </p:sp>
      </p:grpSp>
      <p:grpSp>
        <p:nvGrpSpPr>
          <p:cNvPr name="Group 12" id="12"/>
          <p:cNvGrpSpPr/>
          <p:nvPr/>
        </p:nvGrpSpPr>
        <p:grpSpPr>
          <a:xfrm rot="0">
            <a:off x="7879359" y="1680179"/>
            <a:ext cx="8831304" cy="6511654"/>
            <a:chOff x="0" y="0"/>
            <a:chExt cx="1018393" cy="750900"/>
          </a:xfrm>
        </p:grpSpPr>
        <p:sp>
          <p:nvSpPr>
            <p:cNvPr name="Freeform 13" id="13"/>
            <p:cNvSpPr/>
            <p:nvPr/>
          </p:nvSpPr>
          <p:spPr>
            <a:xfrm flipH="false" flipV="false" rot="0">
              <a:off x="0" y="0"/>
              <a:ext cx="1018393" cy="750900"/>
            </a:xfrm>
            <a:custGeom>
              <a:avLst/>
              <a:gdLst/>
              <a:ahLst/>
              <a:cxnLst/>
              <a:rect r="r" b="b" t="t" l="l"/>
              <a:pathLst>
                <a:path h="750900" w="1018393">
                  <a:moveTo>
                    <a:pt x="35942" y="0"/>
                  </a:moveTo>
                  <a:lnTo>
                    <a:pt x="982451" y="0"/>
                  </a:lnTo>
                  <a:cubicBezTo>
                    <a:pt x="1002301" y="0"/>
                    <a:pt x="1018393" y="16092"/>
                    <a:pt x="1018393" y="35942"/>
                  </a:cubicBezTo>
                  <a:lnTo>
                    <a:pt x="1018393" y="714957"/>
                  </a:lnTo>
                  <a:cubicBezTo>
                    <a:pt x="1018393" y="724490"/>
                    <a:pt x="1014606" y="733632"/>
                    <a:pt x="1007866" y="740372"/>
                  </a:cubicBezTo>
                  <a:cubicBezTo>
                    <a:pt x="1001125" y="747113"/>
                    <a:pt x="991983" y="750900"/>
                    <a:pt x="982451" y="750900"/>
                  </a:cubicBezTo>
                  <a:lnTo>
                    <a:pt x="35942" y="750900"/>
                  </a:lnTo>
                  <a:cubicBezTo>
                    <a:pt x="26410" y="750900"/>
                    <a:pt x="17268" y="747113"/>
                    <a:pt x="10527" y="740372"/>
                  </a:cubicBezTo>
                  <a:cubicBezTo>
                    <a:pt x="3787" y="733632"/>
                    <a:pt x="0" y="724490"/>
                    <a:pt x="0" y="714957"/>
                  </a:cubicBezTo>
                  <a:lnTo>
                    <a:pt x="0" y="35942"/>
                  </a:lnTo>
                  <a:cubicBezTo>
                    <a:pt x="0" y="26410"/>
                    <a:pt x="3787" y="17268"/>
                    <a:pt x="10527" y="10527"/>
                  </a:cubicBezTo>
                  <a:cubicBezTo>
                    <a:pt x="17268" y="3787"/>
                    <a:pt x="26410" y="0"/>
                    <a:pt x="35942" y="0"/>
                  </a:cubicBezTo>
                  <a:close/>
                </a:path>
              </a:pathLst>
            </a:custGeom>
            <a:blipFill>
              <a:blip r:embed="rId7"/>
              <a:stretch>
                <a:fillRect l="0" t="-2019" r="0" b="-2019"/>
              </a:stretch>
            </a:blipFill>
          </p:spPr>
        </p:sp>
      </p:grpSp>
      <p:sp>
        <p:nvSpPr>
          <p:cNvPr name="TextBox 14" id="14"/>
          <p:cNvSpPr txBox="true"/>
          <p:nvPr/>
        </p:nvSpPr>
        <p:spPr>
          <a:xfrm rot="0">
            <a:off x="1460524" y="1765904"/>
            <a:ext cx="6590767" cy="2901941"/>
          </a:xfrm>
          <a:prstGeom prst="rect">
            <a:avLst/>
          </a:prstGeom>
        </p:spPr>
        <p:txBody>
          <a:bodyPr anchor="t" rtlCol="false" tIns="0" lIns="0" bIns="0" rIns="0">
            <a:spAutoFit/>
          </a:bodyPr>
          <a:lstStyle/>
          <a:p>
            <a:pPr algn="l">
              <a:lnSpc>
                <a:spcPts val="5669"/>
              </a:lnSpc>
            </a:pPr>
            <a:r>
              <a:rPr lang="en-US" sz="6299" b="true">
                <a:solidFill>
                  <a:srgbClr val="000000"/>
                </a:solidFill>
                <a:latin typeface="Cormorant Garamond Bold"/>
                <a:ea typeface="Cormorant Garamond Bold"/>
                <a:cs typeface="Cormorant Garamond Bold"/>
                <a:sym typeface="Cormorant Garamond Bold"/>
              </a:rPr>
              <a:t>Trực quan dữ liệu để tìm Outliers</a:t>
            </a:r>
            <a:r>
              <a:rPr lang="en-US" sz="6299" b="true">
                <a:solidFill>
                  <a:srgbClr val="2B7695"/>
                </a:solidFill>
                <a:latin typeface="Cormorant Garamond Bold"/>
                <a:ea typeface="Cormorant Garamond Bold"/>
                <a:cs typeface="Cormorant Garamond Bold"/>
                <a:sym typeface="Cormorant Garamond Bold"/>
              </a:rPr>
              <a:t> </a:t>
            </a:r>
          </a:p>
          <a:p>
            <a:pPr algn="l">
              <a:lnSpc>
                <a:spcPts val="5669"/>
              </a:lnSpc>
            </a:pPr>
            <a:r>
              <a:rPr lang="en-US" sz="6299" b="true">
                <a:solidFill>
                  <a:srgbClr val="2B7695"/>
                </a:solidFill>
                <a:latin typeface="Cormorant Garamond Bold"/>
                <a:ea typeface="Cormorant Garamond Bold"/>
                <a:cs typeface="Cormorant Garamond Bold"/>
                <a:sym typeface="Cormorant Garamond Bold"/>
              </a:rPr>
              <a:t>bằng biểu đồ Boxplot</a:t>
            </a:r>
          </a:p>
        </p:txBody>
      </p:sp>
      <p:sp>
        <p:nvSpPr>
          <p:cNvPr name="TextBox 15" id="15"/>
          <p:cNvSpPr txBox="true"/>
          <p:nvPr/>
        </p:nvSpPr>
        <p:spPr>
          <a:xfrm rot="0">
            <a:off x="7677397" y="8492261"/>
            <a:ext cx="9042791" cy="584817"/>
          </a:xfrm>
          <a:prstGeom prst="rect">
            <a:avLst/>
          </a:prstGeom>
        </p:spPr>
        <p:txBody>
          <a:bodyPr anchor="t" rtlCol="false" tIns="0" lIns="0" bIns="0" rIns="0">
            <a:spAutoFit/>
          </a:bodyPr>
          <a:lstStyle/>
          <a:p>
            <a:pPr algn="ctr">
              <a:lnSpc>
                <a:spcPts val="4920"/>
              </a:lnSpc>
            </a:pPr>
            <a:r>
              <a:rPr lang="en-US" sz="3000">
                <a:solidFill>
                  <a:srgbClr val="1C4F64"/>
                </a:solidFill>
                <a:latin typeface="Inter"/>
                <a:ea typeface="Inter"/>
                <a:cs typeface="Inter"/>
                <a:sym typeface="Inter"/>
              </a:rPr>
              <a:t>Biểu đồ Box-plot của cột item_rating và total_sold</a:t>
            </a:r>
          </a:p>
        </p:txBody>
      </p:sp>
      <p:sp>
        <p:nvSpPr>
          <p:cNvPr name="TextBox 16" id="16"/>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2253421" y="3966338"/>
            <a:ext cx="13781159" cy="5110740"/>
            <a:chOff x="0" y="0"/>
            <a:chExt cx="2024808" cy="750900"/>
          </a:xfrm>
        </p:grpSpPr>
        <p:sp>
          <p:nvSpPr>
            <p:cNvPr name="Freeform 11" id="11"/>
            <p:cNvSpPr/>
            <p:nvPr/>
          </p:nvSpPr>
          <p:spPr>
            <a:xfrm flipH="false" flipV="false" rot="0">
              <a:off x="0" y="0"/>
              <a:ext cx="2024808" cy="750900"/>
            </a:xfrm>
            <a:custGeom>
              <a:avLst/>
              <a:gdLst/>
              <a:ahLst/>
              <a:cxnLst/>
              <a:rect r="r" b="b" t="t" l="l"/>
              <a:pathLst>
                <a:path h="750900" w="2024808">
                  <a:moveTo>
                    <a:pt x="23033" y="0"/>
                  </a:moveTo>
                  <a:lnTo>
                    <a:pt x="2001775" y="0"/>
                  </a:lnTo>
                  <a:cubicBezTo>
                    <a:pt x="2007884" y="0"/>
                    <a:pt x="2013743" y="2427"/>
                    <a:pt x="2018062" y="6746"/>
                  </a:cubicBezTo>
                  <a:cubicBezTo>
                    <a:pt x="2022382" y="11066"/>
                    <a:pt x="2024808" y="16924"/>
                    <a:pt x="2024808" y="23033"/>
                  </a:cubicBezTo>
                  <a:lnTo>
                    <a:pt x="2024808" y="727867"/>
                  </a:lnTo>
                  <a:cubicBezTo>
                    <a:pt x="2024808" y="740588"/>
                    <a:pt x="2014496" y="750900"/>
                    <a:pt x="2001775" y="750900"/>
                  </a:cubicBezTo>
                  <a:lnTo>
                    <a:pt x="23033" y="750900"/>
                  </a:lnTo>
                  <a:cubicBezTo>
                    <a:pt x="16924" y="750900"/>
                    <a:pt x="11066" y="748473"/>
                    <a:pt x="6746" y="744154"/>
                  </a:cubicBezTo>
                  <a:cubicBezTo>
                    <a:pt x="2427" y="739834"/>
                    <a:pt x="0" y="733976"/>
                    <a:pt x="0" y="727867"/>
                  </a:cubicBezTo>
                  <a:lnTo>
                    <a:pt x="0" y="23033"/>
                  </a:lnTo>
                  <a:cubicBezTo>
                    <a:pt x="0" y="16924"/>
                    <a:pt x="2427" y="11066"/>
                    <a:pt x="6746" y="6746"/>
                  </a:cubicBezTo>
                  <a:cubicBezTo>
                    <a:pt x="11066" y="2427"/>
                    <a:pt x="16924" y="0"/>
                    <a:pt x="23033" y="0"/>
                  </a:cubicBezTo>
                  <a:close/>
                </a:path>
              </a:pathLst>
            </a:custGeom>
            <a:blipFill>
              <a:blip r:embed="rId6"/>
              <a:stretch>
                <a:fillRect l="0" t="-728" r="0" b="-728"/>
              </a:stretch>
            </a:blipFill>
          </p:spPr>
        </p:sp>
      </p:grpSp>
      <p:sp>
        <p:nvSpPr>
          <p:cNvPr name="TextBox 12" id="12"/>
          <p:cNvSpPr txBox="true"/>
          <p:nvPr/>
        </p:nvSpPr>
        <p:spPr>
          <a:xfrm rot="0">
            <a:off x="1460524" y="1765904"/>
            <a:ext cx="14533292" cy="1478260"/>
          </a:xfrm>
          <a:prstGeom prst="rect">
            <a:avLst/>
          </a:prstGeom>
        </p:spPr>
        <p:txBody>
          <a:bodyPr anchor="t" rtlCol="false" tIns="0" lIns="0" bIns="0" rIns="0">
            <a:spAutoFit/>
          </a:bodyPr>
          <a:lstStyle/>
          <a:p>
            <a:pPr algn="ctr">
              <a:lnSpc>
                <a:spcPts val="5669"/>
              </a:lnSpc>
            </a:pPr>
            <a:r>
              <a:rPr lang="en-US" sz="6299" b="true">
                <a:solidFill>
                  <a:srgbClr val="000000"/>
                </a:solidFill>
                <a:latin typeface="Cormorant Garamond Bold"/>
                <a:ea typeface="Cormorant Garamond Bold"/>
                <a:cs typeface="Cormorant Garamond Bold"/>
                <a:sym typeface="Cormorant Garamond Bold"/>
              </a:rPr>
              <a:t>Trực quan phân phối dữ liệu bằng biểu đồ Histogram</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2100053" y="3966338"/>
            <a:ext cx="14087894" cy="5110740"/>
            <a:chOff x="0" y="0"/>
            <a:chExt cx="2069876" cy="750900"/>
          </a:xfrm>
        </p:grpSpPr>
        <p:sp>
          <p:nvSpPr>
            <p:cNvPr name="Freeform 11" id="11"/>
            <p:cNvSpPr/>
            <p:nvPr/>
          </p:nvSpPr>
          <p:spPr>
            <a:xfrm flipH="false" flipV="false" rot="0">
              <a:off x="0" y="0"/>
              <a:ext cx="2069876" cy="750900"/>
            </a:xfrm>
            <a:custGeom>
              <a:avLst/>
              <a:gdLst/>
              <a:ahLst/>
              <a:cxnLst/>
              <a:rect r="r" b="b" t="t" l="l"/>
              <a:pathLst>
                <a:path h="750900" w="2069876">
                  <a:moveTo>
                    <a:pt x="22531" y="0"/>
                  </a:moveTo>
                  <a:lnTo>
                    <a:pt x="2047344" y="0"/>
                  </a:lnTo>
                  <a:cubicBezTo>
                    <a:pt x="2059788" y="0"/>
                    <a:pt x="2069876" y="10088"/>
                    <a:pt x="2069876" y="22531"/>
                  </a:cubicBezTo>
                  <a:lnTo>
                    <a:pt x="2069876" y="728368"/>
                  </a:lnTo>
                  <a:cubicBezTo>
                    <a:pt x="2069876" y="734344"/>
                    <a:pt x="2067502" y="740075"/>
                    <a:pt x="2063276" y="744300"/>
                  </a:cubicBezTo>
                  <a:cubicBezTo>
                    <a:pt x="2059051" y="748526"/>
                    <a:pt x="2053320" y="750900"/>
                    <a:pt x="2047344" y="750900"/>
                  </a:cubicBezTo>
                  <a:lnTo>
                    <a:pt x="22531" y="750900"/>
                  </a:lnTo>
                  <a:cubicBezTo>
                    <a:pt x="16556" y="750900"/>
                    <a:pt x="10825" y="748526"/>
                    <a:pt x="6599" y="744300"/>
                  </a:cubicBezTo>
                  <a:cubicBezTo>
                    <a:pt x="2374" y="740075"/>
                    <a:pt x="0" y="734344"/>
                    <a:pt x="0" y="728368"/>
                  </a:cubicBezTo>
                  <a:lnTo>
                    <a:pt x="0" y="22531"/>
                  </a:lnTo>
                  <a:cubicBezTo>
                    <a:pt x="0" y="16556"/>
                    <a:pt x="2374" y="10825"/>
                    <a:pt x="6599" y="6599"/>
                  </a:cubicBezTo>
                  <a:cubicBezTo>
                    <a:pt x="10825" y="2374"/>
                    <a:pt x="16556" y="0"/>
                    <a:pt x="22531" y="0"/>
                  </a:cubicBezTo>
                  <a:close/>
                </a:path>
              </a:pathLst>
            </a:custGeom>
            <a:blipFill>
              <a:blip r:embed="rId6"/>
              <a:stretch>
                <a:fillRect l="-211" t="0" r="-211" b="0"/>
              </a:stretch>
            </a:blipFill>
          </p:spPr>
        </p:sp>
      </p:grpSp>
      <p:sp>
        <p:nvSpPr>
          <p:cNvPr name="TextBox 12" id="12"/>
          <p:cNvSpPr txBox="true"/>
          <p:nvPr/>
        </p:nvSpPr>
        <p:spPr>
          <a:xfrm rot="0">
            <a:off x="1460524" y="1765904"/>
            <a:ext cx="14533292" cy="1478260"/>
          </a:xfrm>
          <a:prstGeom prst="rect">
            <a:avLst/>
          </a:prstGeom>
        </p:spPr>
        <p:txBody>
          <a:bodyPr anchor="t" rtlCol="false" tIns="0" lIns="0" bIns="0" rIns="0">
            <a:spAutoFit/>
          </a:bodyPr>
          <a:lstStyle/>
          <a:p>
            <a:pPr algn="ctr">
              <a:lnSpc>
                <a:spcPts val="5669"/>
              </a:lnSpc>
            </a:pPr>
            <a:r>
              <a:rPr lang="en-US" sz="6299" b="true">
                <a:solidFill>
                  <a:srgbClr val="000000"/>
                </a:solidFill>
                <a:latin typeface="Cormorant Garamond Bold"/>
                <a:ea typeface="Cormorant Garamond Bold"/>
                <a:cs typeface="Cormorant Garamond Bold"/>
                <a:sym typeface="Cormorant Garamond Bold"/>
              </a:rPr>
              <a:t>Trực quan phân phối dữ liệu bằng biểu đồ Histogram</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2100053" y="3812971"/>
            <a:ext cx="14087894" cy="5264108"/>
            <a:chOff x="0" y="0"/>
            <a:chExt cx="2069876" cy="773433"/>
          </a:xfrm>
        </p:grpSpPr>
        <p:sp>
          <p:nvSpPr>
            <p:cNvPr name="Freeform 11" id="11"/>
            <p:cNvSpPr/>
            <p:nvPr/>
          </p:nvSpPr>
          <p:spPr>
            <a:xfrm flipH="false" flipV="false" rot="0">
              <a:off x="0" y="0"/>
              <a:ext cx="2069876" cy="773433"/>
            </a:xfrm>
            <a:custGeom>
              <a:avLst/>
              <a:gdLst/>
              <a:ahLst/>
              <a:cxnLst/>
              <a:rect r="r" b="b" t="t" l="l"/>
              <a:pathLst>
                <a:path h="773433" w="2069876">
                  <a:moveTo>
                    <a:pt x="22531" y="0"/>
                  </a:moveTo>
                  <a:lnTo>
                    <a:pt x="2047344" y="0"/>
                  </a:lnTo>
                  <a:cubicBezTo>
                    <a:pt x="2059788" y="0"/>
                    <a:pt x="2069876" y="10088"/>
                    <a:pt x="2069876" y="22531"/>
                  </a:cubicBezTo>
                  <a:lnTo>
                    <a:pt x="2069876" y="750902"/>
                  </a:lnTo>
                  <a:cubicBezTo>
                    <a:pt x="2069876" y="763346"/>
                    <a:pt x="2059788" y="773433"/>
                    <a:pt x="2047344" y="773433"/>
                  </a:cubicBezTo>
                  <a:lnTo>
                    <a:pt x="22531" y="773433"/>
                  </a:lnTo>
                  <a:cubicBezTo>
                    <a:pt x="16556" y="773433"/>
                    <a:pt x="10825" y="771060"/>
                    <a:pt x="6599" y="766834"/>
                  </a:cubicBezTo>
                  <a:cubicBezTo>
                    <a:pt x="2374" y="762609"/>
                    <a:pt x="0" y="756878"/>
                    <a:pt x="0" y="750902"/>
                  </a:cubicBezTo>
                  <a:lnTo>
                    <a:pt x="0" y="22531"/>
                  </a:lnTo>
                  <a:cubicBezTo>
                    <a:pt x="0" y="16556"/>
                    <a:pt x="2374" y="10825"/>
                    <a:pt x="6599" y="6599"/>
                  </a:cubicBezTo>
                  <a:cubicBezTo>
                    <a:pt x="10825" y="2374"/>
                    <a:pt x="16556" y="0"/>
                    <a:pt x="22531" y="0"/>
                  </a:cubicBezTo>
                  <a:close/>
                </a:path>
              </a:pathLst>
            </a:custGeom>
            <a:blipFill>
              <a:blip r:embed="rId6"/>
              <a:stretch>
                <a:fillRect l="0" t="-11" r="0" b="-11"/>
              </a:stretch>
            </a:blipFill>
          </p:spPr>
        </p:sp>
      </p:grpSp>
      <p:sp>
        <p:nvSpPr>
          <p:cNvPr name="TextBox 12" id="12"/>
          <p:cNvSpPr txBox="true"/>
          <p:nvPr/>
        </p:nvSpPr>
        <p:spPr>
          <a:xfrm rot="0">
            <a:off x="1460524" y="1765904"/>
            <a:ext cx="14533292" cy="1478260"/>
          </a:xfrm>
          <a:prstGeom prst="rect">
            <a:avLst/>
          </a:prstGeom>
        </p:spPr>
        <p:txBody>
          <a:bodyPr anchor="t" rtlCol="false" tIns="0" lIns="0" bIns="0" rIns="0">
            <a:spAutoFit/>
          </a:bodyPr>
          <a:lstStyle/>
          <a:p>
            <a:pPr algn="ctr">
              <a:lnSpc>
                <a:spcPts val="5669"/>
              </a:lnSpc>
            </a:pPr>
            <a:r>
              <a:rPr lang="en-US" sz="6299" b="true">
                <a:solidFill>
                  <a:srgbClr val="000000"/>
                </a:solidFill>
                <a:latin typeface="Cormorant Garamond Bold"/>
                <a:ea typeface="Cormorant Garamond Bold"/>
                <a:cs typeface="Cormorant Garamond Bold"/>
                <a:sym typeface="Cormorant Garamond Bold"/>
              </a:rPr>
              <a:t>Trực quan phân phối dữ liệu bằng biểu đồ Histogram</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2432124" y="4091370"/>
            <a:ext cx="14504979" cy="4985709"/>
            <a:chOff x="0" y="0"/>
            <a:chExt cx="2069876" cy="711466"/>
          </a:xfrm>
        </p:grpSpPr>
        <p:sp>
          <p:nvSpPr>
            <p:cNvPr name="Freeform 11" id="11"/>
            <p:cNvSpPr/>
            <p:nvPr/>
          </p:nvSpPr>
          <p:spPr>
            <a:xfrm flipH="false" flipV="false" rot="0">
              <a:off x="0" y="0"/>
              <a:ext cx="2069876" cy="711466"/>
            </a:xfrm>
            <a:custGeom>
              <a:avLst/>
              <a:gdLst/>
              <a:ahLst/>
              <a:cxnLst/>
              <a:rect r="r" b="b" t="t" l="l"/>
              <a:pathLst>
                <a:path h="711466" w="2069876">
                  <a:moveTo>
                    <a:pt x="21883" y="0"/>
                  </a:moveTo>
                  <a:lnTo>
                    <a:pt x="2047992" y="0"/>
                  </a:lnTo>
                  <a:cubicBezTo>
                    <a:pt x="2060078" y="0"/>
                    <a:pt x="2069876" y="9798"/>
                    <a:pt x="2069876" y="21883"/>
                  </a:cubicBezTo>
                  <a:lnTo>
                    <a:pt x="2069876" y="689582"/>
                  </a:lnTo>
                  <a:cubicBezTo>
                    <a:pt x="2069876" y="701668"/>
                    <a:pt x="2060078" y="711466"/>
                    <a:pt x="2047992" y="711466"/>
                  </a:cubicBezTo>
                  <a:lnTo>
                    <a:pt x="21883" y="711466"/>
                  </a:lnTo>
                  <a:cubicBezTo>
                    <a:pt x="9798" y="711466"/>
                    <a:pt x="0" y="701668"/>
                    <a:pt x="0" y="689582"/>
                  </a:cubicBezTo>
                  <a:lnTo>
                    <a:pt x="0" y="21883"/>
                  </a:lnTo>
                  <a:cubicBezTo>
                    <a:pt x="0" y="9798"/>
                    <a:pt x="9798" y="0"/>
                    <a:pt x="21883" y="0"/>
                  </a:cubicBezTo>
                  <a:close/>
                </a:path>
              </a:pathLst>
            </a:custGeom>
            <a:blipFill>
              <a:blip r:embed="rId6"/>
              <a:stretch>
                <a:fillRect l="0" t="-3" r="0" b="-3"/>
              </a:stretch>
            </a:blipFill>
          </p:spPr>
        </p:sp>
      </p:grpSp>
      <p:sp>
        <p:nvSpPr>
          <p:cNvPr name="TextBox 12" id="12"/>
          <p:cNvSpPr txBox="true"/>
          <p:nvPr/>
        </p:nvSpPr>
        <p:spPr>
          <a:xfrm rot="0">
            <a:off x="1460524" y="1765904"/>
            <a:ext cx="14533292" cy="1478260"/>
          </a:xfrm>
          <a:prstGeom prst="rect">
            <a:avLst/>
          </a:prstGeom>
        </p:spPr>
        <p:txBody>
          <a:bodyPr anchor="t" rtlCol="false" tIns="0" lIns="0" bIns="0" rIns="0">
            <a:spAutoFit/>
          </a:bodyPr>
          <a:lstStyle/>
          <a:p>
            <a:pPr algn="ctr">
              <a:lnSpc>
                <a:spcPts val="5669"/>
              </a:lnSpc>
            </a:pPr>
            <a:r>
              <a:rPr lang="en-US" sz="6299" b="true">
                <a:solidFill>
                  <a:srgbClr val="000000"/>
                </a:solidFill>
                <a:latin typeface="Cormorant Garamond Bold"/>
                <a:ea typeface="Cormorant Garamond Bold"/>
                <a:cs typeface="Cormorant Garamond Bold"/>
                <a:sym typeface="Cormorant Garamond Bold"/>
              </a:rPr>
              <a:t>Trực quan phân phối dữ liệu bằng biểu đồ Histogram</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591188" y="1732091"/>
            <a:ext cx="8856257" cy="6353402"/>
          </a:xfrm>
          <a:custGeom>
            <a:avLst/>
            <a:gdLst/>
            <a:ahLst/>
            <a:cxnLst/>
            <a:rect r="r" b="b" t="t" l="l"/>
            <a:pathLst>
              <a:path h="6353402" w="8856257">
                <a:moveTo>
                  <a:pt x="0" y="0"/>
                </a:moveTo>
                <a:lnTo>
                  <a:pt x="8856257" y="0"/>
                </a:lnTo>
                <a:lnTo>
                  <a:pt x="8856257" y="6353402"/>
                </a:lnTo>
                <a:lnTo>
                  <a:pt x="0" y="6353402"/>
                </a:lnTo>
                <a:lnTo>
                  <a:pt x="0" y="0"/>
                </a:lnTo>
                <a:close/>
              </a:path>
            </a:pathLst>
          </a:custGeom>
          <a:blipFill>
            <a:blip r:embed="rId6"/>
            <a:stretch>
              <a:fillRect l="0" t="0" r="0" b="0"/>
            </a:stretch>
          </a:blipFill>
        </p:spPr>
      </p:sp>
      <p:sp>
        <p:nvSpPr>
          <p:cNvPr name="TextBox 11" id="11"/>
          <p:cNvSpPr txBox="true"/>
          <p:nvPr/>
        </p:nvSpPr>
        <p:spPr>
          <a:xfrm rot="0">
            <a:off x="1460524" y="1765904"/>
            <a:ext cx="6590767" cy="2901941"/>
          </a:xfrm>
          <a:prstGeom prst="rect">
            <a:avLst/>
          </a:prstGeom>
        </p:spPr>
        <p:txBody>
          <a:bodyPr anchor="t" rtlCol="false" tIns="0" lIns="0" bIns="0" rIns="0">
            <a:spAutoFit/>
          </a:bodyPr>
          <a:lstStyle/>
          <a:p>
            <a:pPr algn="l">
              <a:lnSpc>
                <a:spcPts val="5669"/>
              </a:lnSpc>
            </a:pPr>
            <a:r>
              <a:rPr lang="en-US" sz="6299" b="true">
                <a:solidFill>
                  <a:srgbClr val="000000"/>
                </a:solidFill>
                <a:latin typeface="Cormorant Garamond Bold"/>
                <a:ea typeface="Cormorant Garamond Bold"/>
                <a:cs typeface="Cormorant Garamond Bold"/>
                <a:sym typeface="Cormorant Garamond Bold"/>
              </a:rPr>
              <a:t>Trực quan dữ liệu để tìm Outliers</a:t>
            </a:r>
            <a:r>
              <a:rPr lang="en-US" sz="6299" b="true">
                <a:solidFill>
                  <a:srgbClr val="2B7695"/>
                </a:solidFill>
                <a:latin typeface="Cormorant Garamond Bold"/>
                <a:ea typeface="Cormorant Garamond Bold"/>
                <a:cs typeface="Cormorant Garamond Bold"/>
                <a:sym typeface="Cormorant Garamond Bold"/>
              </a:rPr>
              <a:t> </a:t>
            </a:r>
          </a:p>
          <a:p>
            <a:pPr algn="l">
              <a:lnSpc>
                <a:spcPts val="5669"/>
              </a:lnSpc>
            </a:pPr>
            <a:r>
              <a:rPr lang="en-US" sz="6299" b="true">
                <a:solidFill>
                  <a:srgbClr val="2B7695"/>
                </a:solidFill>
                <a:latin typeface="Cormorant Garamond Bold"/>
                <a:ea typeface="Cormorant Garamond Bold"/>
                <a:cs typeface="Cormorant Garamond Bold"/>
                <a:sym typeface="Cormorant Garamond Bold"/>
              </a:rPr>
              <a:t>bằng biểu đồ Boxplot</a:t>
            </a:r>
          </a:p>
        </p:txBody>
      </p:sp>
      <p:sp>
        <p:nvSpPr>
          <p:cNvPr name="TextBox 12" id="12"/>
          <p:cNvSpPr txBox="true"/>
          <p:nvPr/>
        </p:nvSpPr>
        <p:spPr>
          <a:xfrm rot="0">
            <a:off x="1798763" y="7306990"/>
            <a:ext cx="5243185" cy="1404606"/>
          </a:xfrm>
          <a:prstGeom prst="rect">
            <a:avLst/>
          </a:prstGeom>
        </p:spPr>
        <p:txBody>
          <a:bodyPr anchor="t" rtlCol="false" tIns="0" lIns="0" bIns="0" rIns="0">
            <a:spAutoFit/>
          </a:bodyPr>
          <a:lstStyle/>
          <a:p>
            <a:pPr algn="just">
              <a:lnSpc>
                <a:spcPts val="5740"/>
              </a:lnSpc>
            </a:pPr>
            <a:r>
              <a:rPr lang="en-US" sz="3500">
                <a:solidFill>
                  <a:srgbClr val="1C4F64"/>
                </a:solidFill>
                <a:latin typeface="Inter"/>
                <a:ea typeface="Inter"/>
                <a:cs typeface="Inter"/>
                <a:sym typeface="Inter"/>
              </a:rPr>
              <a:t>Biểu đồ Box-plot của cột price_ori và price_actual</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8679587" y="2789495"/>
            <a:ext cx="7654039" cy="5701842"/>
          </a:xfrm>
          <a:custGeom>
            <a:avLst/>
            <a:gdLst/>
            <a:ahLst/>
            <a:cxnLst/>
            <a:rect r="r" b="b" t="t" l="l"/>
            <a:pathLst>
              <a:path h="5701842" w="7654039">
                <a:moveTo>
                  <a:pt x="0" y="0"/>
                </a:moveTo>
                <a:lnTo>
                  <a:pt x="7654039" y="0"/>
                </a:lnTo>
                <a:lnTo>
                  <a:pt x="7654039" y="5701842"/>
                </a:lnTo>
                <a:lnTo>
                  <a:pt x="0" y="5701842"/>
                </a:lnTo>
                <a:lnTo>
                  <a:pt x="0" y="0"/>
                </a:lnTo>
                <a:close/>
              </a:path>
            </a:pathLst>
          </a:custGeom>
          <a:blipFill>
            <a:blip r:embed="rId6"/>
            <a:stretch>
              <a:fillRect l="0" t="0" r="0" b="0"/>
            </a:stretch>
          </a:blipFill>
        </p:spPr>
      </p:sp>
      <p:sp>
        <p:nvSpPr>
          <p:cNvPr name="TextBox 11" id="11"/>
          <p:cNvSpPr txBox="true"/>
          <p:nvPr/>
        </p:nvSpPr>
        <p:spPr>
          <a:xfrm rot="0">
            <a:off x="1848592" y="2084642"/>
            <a:ext cx="6700178"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Làm sạch dữ liệu</a:t>
            </a:r>
          </a:p>
        </p:txBody>
      </p:sp>
      <p:sp>
        <p:nvSpPr>
          <p:cNvPr name="TextBox 12" id="12"/>
          <p:cNvSpPr txBox="true"/>
          <p:nvPr/>
        </p:nvSpPr>
        <p:spPr>
          <a:xfrm rot="0">
            <a:off x="1848592" y="3804910"/>
            <a:ext cx="6700178" cy="3925403"/>
          </a:xfrm>
          <a:prstGeom prst="rect">
            <a:avLst/>
          </a:prstGeom>
        </p:spPr>
        <p:txBody>
          <a:bodyPr anchor="t" rtlCol="false" tIns="0" lIns="0" bIns="0" rIns="0">
            <a:spAutoFit/>
          </a:bodyPr>
          <a:lstStyle/>
          <a:p>
            <a:pPr algn="l" marL="755651" indent="-377825" lvl="1">
              <a:lnSpc>
                <a:spcPts val="8015"/>
              </a:lnSpc>
              <a:buFont typeface="Arial"/>
              <a:buChar char="•"/>
            </a:pPr>
            <a:r>
              <a:rPr lang="en-US" sz="3500">
                <a:solidFill>
                  <a:srgbClr val="000000"/>
                </a:solidFill>
                <a:latin typeface="Inter"/>
                <a:ea typeface="Inter"/>
                <a:cs typeface="Inter"/>
                <a:sym typeface="Inter"/>
              </a:rPr>
              <a:t>Xóa dữ liệu không hợp lệ</a:t>
            </a:r>
          </a:p>
          <a:p>
            <a:pPr algn="l" marL="755651" indent="-377825" lvl="1">
              <a:lnSpc>
                <a:spcPts val="8015"/>
              </a:lnSpc>
              <a:buFont typeface="Arial"/>
              <a:buChar char="•"/>
            </a:pPr>
            <a:r>
              <a:rPr lang="en-US" sz="3500">
                <a:solidFill>
                  <a:srgbClr val="000000"/>
                </a:solidFill>
                <a:latin typeface="Inter"/>
                <a:ea typeface="Inter"/>
                <a:cs typeface="Inter"/>
                <a:sym typeface="Inter"/>
              </a:rPr>
              <a:t>Chuẩn hóa dữ liệu</a:t>
            </a:r>
          </a:p>
          <a:p>
            <a:pPr algn="l" marL="755651" indent="-377825" lvl="1">
              <a:lnSpc>
                <a:spcPts val="8015"/>
              </a:lnSpc>
              <a:buFont typeface="Arial"/>
              <a:buChar char="•"/>
            </a:pPr>
            <a:r>
              <a:rPr lang="en-US" sz="3500">
                <a:solidFill>
                  <a:srgbClr val="000000"/>
                </a:solidFill>
                <a:latin typeface="Inter"/>
                <a:ea typeface="Inter"/>
                <a:cs typeface="Inter"/>
                <a:sym typeface="Inter"/>
              </a:rPr>
              <a:t>Mã hóa dữ liệu (Data Encoding)</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0188481" y="3040410"/>
            <a:ext cx="6535251" cy="5671186"/>
          </a:xfrm>
          <a:custGeom>
            <a:avLst/>
            <a:gdLst/>
            <a:ahLst/>
            <a:cxnLst/>
            <a:rect r="r" b="b" t="t" l="l"/>
            <a:pathLst>
              <a:path h="5671186" w="6535251">
                <a:moveTo>
                  <a:pt x="0" y="0"/>
                </a:moveTo>
                <a:lnTo>
                  <a:pt x="6535251" y="0"/>
                </a:lnTo>
                <a:lnTo>
                  <a:pt x="6535251" y="5671186"/>
                </a:lnTo>
                <a:lnTo>
                  <a:pt x="0" y="5671186"/>
                </a:lnTo>
                <a:lnTo>
                  <a:pt x="0" y="0"/>
                </a:lnTo>
                <a:close/>
              </a:path>
            </a:pathLst>
          </a:custGeom>
          <a:blipFill>
            <a:blip r:embed="rId6"/>
            <a:stretch>
              <a:fillRect l="0" t="0" r="0" b="0"/>
            </a:stretch>
          </a:blipFill>
        </p:spPr>
      </p:sp>
      <p:sp>
        <p:nvSpPr>
          <p:cNvPr name="TextBox 11" id="11"/>
          <p:cNvSpPr txBox="true"/>
          <p:nvPr/>
        </p:nvSpPr>
        <p:spPr>
          <a:xfrm rot="0">
            <a:off x="1847149" y="1794479"/>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Xóa dữ liệu không hợp lệ</a:t>
            </a:r>
          </a:p>
        </p:txBody>
      </p:sp>
      <p:sp>
        <p:nvSpPr>
          <p:cNvPr name="TextBox 12" id="12"/>
          <p:cNvSpPr txBox="true"/>
          <p:nvPr/>
        </p:nvSpPr>
        <p:spPr>
          <a:xfrm rot="0">
            <a:off x="1847149" y="2766976"/>
            <a:ext cx="8780366" cy="5944620"/>
          </a:xfrm>
          <a:prstGeom prst="rect">
            <a:avLst/>
          </a:prstGeom>
        </p:spPr>
        <p:txBody>
          <a:bodyPr anchor="t" rtlCol="false" tIns="0" lIns="0" bIns="0" rIns="0">
            <a:spAutoFit/>
          </a:bodyPr>
          <a:lstStyle/>
          <a:p>
            <a:pPr algn="l" marL="755651" indent="-377825" lvl="1">
              <a:lnSpc>
                <a:spcPts val="8015"/>
              </a:lnSpc>
              <a:buFont typeface="Arial"/>
              <a:buChar char="•"/>
            </a:pPr>
            <a:r>
              <a:rPr lang="en-US" sz="3500">
                <a:solidFill>
                  <a:srgbClr val="000000"/>
                </a:solidFill>
                <a:latin typeface="Inter"/>
                <a:ea typeface="Inter"/>
                <a:cs typeface="Inter"/>
                <a:sym typeface="Inter"/>
              </a:rPr>
              <a:t>Dữ liệu thiếu</a:t>
            </a:r>
          </a:p>
          <a:p>
            <a:pPr algn="l" marL="755651" indent="-377825" lvl="1">
              <a:lnSpc>
                <a:spcPts val="8015"/>
              </a:lnSpc>
              <a:buFont typeface="Arial"/>
              <a:buChar char="•"/>
            </a:pPr>
            <a:r>
              <a:rPr lang="en-US" sz="3500">
                <a:solidFill>
                  <a:srgbClr val="000000"/>
                </a:solidFill>
                <a:latin typeface="Inter"/>
                <a:ea typeface="Inter"/>
                <a:cs typeface="Inter"/>
                <a:sym typeface="Inter"/>
              </a:rPr>
              <a:t>Dữ liệu trùng lặp </a:t>
            </a:r>
          </a:p>
          <a:p>
            <a:pPr algn="l" marL="755651" indent="-377825" lvl="1">
              <a:lnSpc>
                <a:spcPts val="8015"/>
              </a:lnSpc>
              <a:buFont typeface="Arial"/>
              <a:buChar char="•"/>
            </a:pPr>
            <a:r>
              <a:rPr lang="en-US" sz="3500">
                <a:solidFill>
                  <a:srgbClr val="000000"/>
                </a:solidFill>
                <a:latin typeface="Inter"/>
                <a:ea typeface="Inter"/>
                <a:cs typeface="Inter"/>
                <a:sym typeface="Inter"/>
              </a:rPr>
              <a:t>Dữ liệu phân phối không đồng đều</a:t>
            </a:r>
          </a:p>
          <a:p>
            <a:pPr algn="l" marL="755651" indent="-377825" lvl="1">
              <a:lnSpc>
                <a:spcPts val="8015"/>
              </a:lnSpc>
              <a:buFont typeface="Arial"/>
              <a:buChar char="•"/>
            </a:pPr>
            <a:r>
              <a:rPr lang="en-US" sz="3500">
                <a:solidFill>
                  <a:srgbClr val="000000"/>
                </a:solidFill>
                <a:latin typeface="Inter"/>
                <a:ea typeface="Inter"/>
                <a:cs typeface="Inter"/>
                <a:sym typeface="Inter"/>
              </a:rPr>
              <a:t>Giá trị ngoại lai (Outliers)</a:t>
            </a:r>
          </a:p>
          <a:p>
            <a:pPr algn="l" marL="755651" indent="-377825" lvl="1">
              <a:lnSpc>
                <a:spcPts val="8015"/>
              </a:lnSpc>
              <a:buFont typeface="Arial"/>
              <a:buChar char="•"/>
            </a:pPr>
            <a:r>
              <a:rPr lang="en-US" sz="3500">
                <a:solidFill>
                  <a:srgbClr val="000000"/>
                </a:solidFill>
                <a:latin typeface="Inter"/>
                <a:ea typeface="Inter"/>
                <a:cs typeface="Inter"/>
                <a:sym typeface="Inter"/>
              </a:rPr>
              <a:t>Ngoại lệ và giá trị không thực tế</a:t>
            </a:r>
          </a:p>
          <a:p>
            <a:pPr algn="l" marL="755651" indent="-377825" lvl="1">
              <a:lnSpc>
                <a:spcPts val="8015"/>
              </a:lnSpc>
              <a:buFont typeface="Arial"/>
              <a:buChar char="•"/>
            </a:pPr>
            <a:r>
              <a:rPr lang="en-US" sz="3500">
                <a:solidFill>
                  <a:srgbClr val="000000"/>
                </a:solidFill>
                <a:latin typeface="Inter"/>
                <a:ea typeface="Inter"/>
                <a:cs typeface="Inter"/>
                <a:sym typeface="Inter"/>
              </a:rPr>
              <a:t>Định dạng không đúng</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550859" y="5143500"/>
            <a:ext cx="17186281" cy="1105683"/>
            <a:chOff x="0" y="0"/>
            <a:chExt cx="4526428" cy="291209"/>
          </a:xfrm>
        </p:grpSpPr>
        <p:sp>
          <p:nvSpPr>
            <p:cNvPr name="Freeform 11" id="11"/>
            <p:cNvSpPr/>
            <p:nvPr/>
          </p:nvSpPr>
          <p:spPr>
            <a:xfrm flipH="false" flipV="false" rot="0">
              <a:off x="0" y="0"/>
              <a:ext cx="4526428" cy="291209"/>
            </a:xfrm>
            <a:custGeom>
              <a:avLst/>
              <a:gdLst/>
              <a:ahLst/>
              <a:cxnLst/>
              <a:rect r="r" b="b" t="t" l="l"/>
              <a:pathLst>
                <a:path h="291209" w="4526428">
                  <a:moveTo>
                    <a:pt x="0" y="0"/>
                  </a:moveTo>
                  <a:lnTo>
                    <a:pt x="4526428" y="0"/>
                  </a:lnTo>
                  <a:lnTo>
                    <a:pt x="4526428" y="291209"/>
                  </a:lnTo>
                  <a:lnTo>
                    <a:pt x="0" y="291209"/>
                  </a:lnTo>
                  <a:close/>
                </a:path>
              </a:pathLst>
            </a:custGeom>
            <a:solidFill>
              <a:srgbClr val="BCE6E9"/>
            </a:solidFill>
          </p:spPr>
        </p:sp>
        <p:sp>
          <p:nvSpPr>
            <p:cNvPr name="TextBox 12" id="12"/>
            <p:cNvSpPr txBox="true"/>
            <p:nvPr/>
          </p:nvSpPr>
          <p:spPr>
            <a:xfrm>
              <a:off x="0" y="-38100"/>
              <a:ext cx="4526428" cy="32930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336776" y="2958566"/>
            <a:ext cx="15671597" cy="5522571"/>
          </a:xfrm>
          <a:custGeom>
            <a:avLst/>
            <a:gdLst/>
            <a:ahLst/>
            <a:cxnLst/>
            <a:rect r="r" b="b" t="t" l="l"/>
            <a:pathLst>
              <a:path h="5522571" w="15671597">
                <a:moveTo>
                  <a:pt x="0" y="0"/>
                </a:moveTo>
                <a:lnTo>
                  <a:pt x="15671598" y="0"/>
                </a:lnTo>
                <a:lnTo>
                  <a:pt x="15671598" y="5522571"/>
                </a:lnTo>
                <a:lnTo>
                  <a:pt x="0" y="5522571"/>
                </a:lnTo>
                <a:lnTo>
                  <a:pt x="0" y="0"/>
                </a:lnTo>
                <a:close/>
              </a:path>
            </a:pathLst>
          </a:custGeom>
          <a:blipFill>
            <a:blip r:embed="rId6"/>
            <a:stretch>
              <a:fillRect l="0" t="0" r="0" b="0"/>
            </a:stretch>
          </a:blipFill>
        </p:spPr>
      </p:sp>
      <p:sp>
        <p:nvSpPr>
          <p:cNvPr name="TextBox 14" id="14"/>
          <p:cNvSpPr txBox="true"/>
          <p:nvPr/>
        </p:nvSpPr>
        <p:spPr>
          <a:xfrm rot="0">
            <a:off x="1847149" y="1794479"/>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Xóa dữ liệu không hợp lệ</a:t>
            </a:r>
          </a:p>
        </p:txBody>
      </p:sp>
      <p:sp>
        <p:nvSpPr>
          <p:cNvPr name="TextBox 15" id="15"/>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649889" y="1028700"/>
            <a:ext cx="8689913" cy="8412228"/>
          </a:xfrm>
          <a:custGeom>
            <a:avLst/>
            <a:gdLst/>
            <a:ahLst/>
            <a:cxnLst/>
            <a:rect r="r" b="b" t="t" l="l"/>
            <a:pathLst>
              <a:path h="8412228" w="8689913">
                <a:moveTo>
                  <a:pt x="0" y="0"/>
                </a:moveTo>
                <a:lnTo>
                  <a:pt x="8689913" y="0"/>
                </a:lnTo>
                <a:lnTo>
                  <a:pt x="8689913" y="8412228"/>
                </a:lnTo>
                <a:lnTo>
                  <a:pt x="0" y="8412228"/>
                </a:lnTo>
                <a:lnTo>
                  <a:pt x="0" y="0"/>
                </a:lnTo>
                <a:close/>
              </a:path>
            </a:pathLst>
          </a:custGeom>
          <a:blipFill>
            <a:blip r:embed="rId6"/>
            <a:stretch>
              <a:fillRect l="0" t="0" r="0" b="0"/>
            </a:stretch>
          </a:blipFill>
        </p:spPr>
      </p:sp>
      <p:sp>
        <p:nvSpPr>
          <p:cNvPr name="TextBox 11" id="11"/>
          <p:cNvSpPr txBox="true"/>
          <p:nvPr/>
        </p:nvSpPr>
        <p:spPr>
          <a:xfrm rot="0">
            <a:off x="1648415" y="6877681"/>
            <a:ext cx="5384105" cy="2870855"/>
          </a:xfrm>
          <a:prstGeom prst="rect">
            <a:avLst/>
          </a:prstGeom>
        </p:spPr>
        <p:txBody>
          <a:bodyPr anchor="t" rtlCol="false" tIns="0" lIns="0" bIns="0" rIns="0">
            <a:spAutoFit/>
          </a:bodyPr>
          <a:lstStyle/>
          <a:p>
            <a:pPr algn="r">
              <a:lnSpc>
                <a:spcPts val="5425"/>
              </a:lnSpc>
            </a:pPr>
            <a:r>
              <a:rPr lang="en-US" sz="3500">
                <a:solidFill>
                  <a:srgbClr val="000000"/>
                </a:solidFill>
                <a:latin typeface="Inter"/>
                <a:ea typeface="Inter"/>
                <a:cs typeface="Inter"/>
                <a:sym typeface="Inter"/>
              </a:rPr>
              <a:t>Hình ảnh số lượng của các cột dữ liệu sau khi xóa hết các giá trị</a:t>
            </a:r>
          </a:p>
          <a:p>
            <a:pPr algn="r">
              <a:lnSpc>
                <a:spcPts val="8015"/>
              </a:lnSpc>
            </a:pPr>
          </a:p>
        </p:txBody>
      </p:sp>
      <p:sp>
        <p:nvSpPr>
          <p:cNvPr name="Freeform 12" id="12"/>
          <p:cNvSpPr/>
          <p:nvPr/>
        </p:nvSpPr>
        <p:spPr>
          <a:xfrm flipH="false" flipV="false" rot="0">
            <a:off x="1997246" y="1670654"/>
            <a:ext cx="5254349" cy="4559640"/>
          </a:xfrm>
          <a:custGeom>
            <a:avLst/>
            <a:gdLst/>
            <a:ahLst/>
            <a:cxnLst/>
            <a:rect r="r" b="b" t="t" l="l"/>
            <a:pathLst>
              <a:path h="4559640" w="5254349">
                <a:moveTo>
                  <a:pt x="0" y="0"/>
                </a:moveTo>
                <a:lnTo>
                  <a:pt x="5254349" y="0"/>
                </a:lnTo>
                <a:lnTo>
                  <a:pt x="5254349" y="4559640"/>
                </a:lnTo>
                <a:lnTo>
                  <a:pt x="0" y="4559640"/>
                </a:lnTo>
                <a:lnTo>
                  <a:pt x="0" y="0"/>
                </a:lnTo>
                <a:close/>
              </a:path>
            </a:pathLst>
          </a:custGeom>
          <a:blipFill>
            <a:blip r:embed="rId7"/>
            <a:stretch>
              <a:fillRect l="0" t="0" r="0" b="0"/>
            </a:stretch>
          </a:blipFill>
        </p:spPr>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1201075" y="2467745"/>
            <a:ext cx="4932346" cy="5519855"/>
          </a:xfrm>
          <a:custGeom>
            <a:avLst/>
            <a:gdLst/>
            <a:ahLst/>
            <a:cxnLst/>
            <a:rect r="r" b="b" t="t" l="l"/>
            <a:pathLst>
              <a:path h="5519855" w="4932346">
                <a:moveTo>
                  <a:pt x="0" y="0"/>
                </a:moveTo>
                <a:lnTo>
                  <a:pt x="4932346" y="0"/>
                </a:lnTo>
                <a:lnTo>
                  <a:pt x="4932346" y="5519855"/>
                </a:lnTo>
                <a:lnTo>
                  <a:pt x="0" y="5519855"/>
                </a:lnTo>
                <a:lnTo>
                  <a:pt x="0" y="0"/>
                </a:lnTo>
                <a:close/>
              </a:path>
            </a:pathLst>
          </a:custGeom>
          <a:blipFill>
            <a:blip r:embed="rId6"/>
            <a:stretch>
              <a:fillRect l="0" t="0" r="0" b="0"/>
            </a:stretch>
          </a:blipFill>
        </p:spPr>
      </p:sp>
      <p:sp>
        <p:nvSpPr>
          <p:cNvPr name="TextBox 11" id="11"/>
          <p:cNvSpPr txBox="true"/>
          <p:nvPr/>
        </p:nvSpPr>
        <p:spPr>
          <a:xfrm rot="0">
            <a:off x="1847149" y="2115318"/>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Chuẩn hóa dữ liệu</a:t>
            </a:r>
          </a:p>
        </p:txBody>
      </p:sp>
      <p:sp>
        <p:nvSpPr>
          <p:cNvPr name="TextBox 12" id="12"/>
          <p:cNvSpPr txBox="true"/>
          <p:nvPr/>
        </p:nvSpPr>
        <p:spPr>
          <a:xfrm rot="0">
            <a:off x="1847149" y="3816232"/>
            <a:ext cx="8441231" cy="3493301"/>
          </a:xfrm>
          <a:prstGeom prst="rect">
            <a:avLst/>
          </a:prstGeom>
        </p:spPr>
        <p:txBody>
          <a:bodyPr anchor="t" rtlCol="false" tIns="0" lIns="0" bIns="0" rIns="0">
            <a:spAutoFit/>
          </a:bodyPr>
          <a:lstStyle/>
          <a:p>
            <a:pPr algn="just">
              <a:lnSpc>
                <a:spcPts val="7070"/>
              </a:lnSpc>
            </a:pPr>
            <a:r>
              <a:rPr lang="en-US" sz="3500">
                <a:solidFill>
                  <a:srgbClr val="000000"/>
                </a:solidFill>
                <a:latin typeface="Inter"/>
                <a:ea typeface="Inter"/>
                <a:cs typeface="Inter"/>
                <a:sym typeface="Inter"/>
              </a:rPr>
              <a:t>Đảm bảo rằng tất cả các giá trị trong cột này đều được chuẩn hóa và đồng nhất – chuyển đổi các giá trị đều là số hoặc chuỗi.</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550859" y="5143500"/>
            <a:ext cx="17186281" cy="1105683"/>
            <a:chOff x="0" y="0"/>
            <a:chExt cx="4526428" cy="291209"/>
          </a:xfrm>
        </p:grpSpPr>
        <p:sp>
          <p:nvSpPr>
            <p:cNvPr name="Freeform 11" id="11"/>
            <p:cNvSpPr/>
            <p:nvPr/>
          </p:nvSpPr>
          <p:spPr>
            <a:xfrm flipH="false" flipV="false" rot="0">
              <a:off x="0" y="0"/>
              <a:ext cx="4526428" cy="291209"/>
            </a:xfrm>
            <a:custGeom>
              <a:avLst/>
              <a:gdLst/>
              <a:ahLst/>
              <a:cxnLst/>
              <a:rect r="r" b="b" t="t" l="l"/>
              <a:pathLst>
                <a:path h="291209" w="4526428">
                  <a:moveTo>
                    <a:pt x="0" y="0"/>
                  </a:moveTo>
                  <a:lnTo>
                    <a:pt x="4526428" y="0"/>
                  </a:lnTo>
                  <a:lnTo>
                    <a:pt x="4526428" y="291209"/>
                  </a:lnTo>
                  <a:lnTo>
                    <a:pt x="0" y="291209"/>
                  </a:lnTo>
                  <a:close/>
                </a:path>
              </a:pathLst>
            </a:custGeom>
            <a:solidFill>
              <a:srgbClr val="BCE6E9"/>
            </a:solidFill>
          </p:spPr>
        </p:sp>
        <p:sp>
          <p:nvSpPr>
            <p:cNvPr name="TextBox 12" id="12"/>
            <p:cNvSpPr txBox="true"/>
            <p:nvPr/>
          </p:nvSpPr>
          <p:spPr>
            <a:xfrm>
              <a:off x="0" y="-38100"/>
              <a:ext cx="4526428" cy="32930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723175" y="870963"/>
            <a:ext cx="10841650" cy="8713417"/>
          </a:xfrm>
          <a:custGeom>
            <a:avLst/>
            <a:gdLst/>
            <a:ahLst/>
            <a:cxnLst/>
            <a:rect r="r" b="b" t="t" l="l"/>
            <a:pathLst>
              <a:path h="8713417" w="10841650">
                <a:moveTo>
                  <a:pt x="0" y="0"/>
                </a:moveTo>
                <a:lnTo>
                  <a:pt x="10841650" y="0"/>
                </a:lnTo>
                <a:lnTo>
                  <a:pt x="10841650" y="8713418"/>
                </a:lnTo>
                <a:lnTo>
                  <a:pt x="0" y="8713418"/>
                </a:lnTo>
                <a:lnTo>
                  <a:pt x="0" y="0"/>
                </a:lnTo>
                <a:close/>
              </a:path>
            </a:pathLst>
          </a:custGeom>
          <a:blipFill>
            <a:blip r:embed="rId6"/>
            <a:stretch>
              <a:fillRect l="0" t="0" r="0" b="0"/>
            </a:stretch>
          </a:blipFill>
        </p:spPr>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847149" y="3313901"/>
            <a:ext cx="14713538" cy="3236978"/>
          </a:xfrm>
          <a:custGeom>
            <a:avLst/>
            <a:gdLst/>
            <a:ahLst/>
            <a:cxnLst/>
            <a:rect r="r" b="b" t="t" l="l"/>
            <a:pathLst>
              <a:path h="3236978" w="14713538">
                <a:moveTo>
                  <a:pt x="0" y="0"/>
                </a:moveTo>
                <a:lnTo>
                  <a:pt x="14713538" y="0"/>
                </a:lnTo>
                <a:lnTo>
                  <a:pt x="14713538" y="3236978"/>
                </a:lnTo>
                <a:lnTo>
                  <a:pt x="0" y="3236978"/>
                </a:lnTo>
                <a:lnTo>
                  <a:pt x="0" y="0"/>
                </a:lnTo>
                <a:close/>
              </a:path>
            </a:pathLst>
          </a:custGeom>
          <a:blipFill>
            <a:blip r:embed="rId6"/>
            <a:stretch>
              <a:fillRect l="0" t="0" r="0" b="0"/>
            </a:stretch>
          </a:blipFill>
        </p:spPr>
      </p:sp>
      <p:sp>
        <p:nvSpPr>
          <p:cNvPr name="TextBox 11" id="11"/>
          <p:cNvSpPr txBox="true"/>
          <p:nvPr/>
        </p:nvSpPr>
        <p:spPr>
          <a:xfrm rot="0">
            <a:off x="1847149" y="2115318"/>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Chuẩn hóa dữ liệu</a:t>
            </a:r>
          </a:p>
        </p:txBody>
      </p:sp>
      <p:sp>
        <p:nvSpPr>
          <p:cNvPr name="TextBox 12" id="12"/>
          <p:cNvSpPr txBox="true"/>
          <p:nvPr/>
        </p:nvSpPr>
        <p:spPr>
          <a:xfrm rot="0">
            <a:off x="1847149" y="7009079"/>
            <a:ext cx="14713538" cy="1702518"/>
          </a:xfrm>
          <a:prstGeom prst="rect">
            <a:avLst/>
          </a:prstGeom>
        </p:spPr>
        <p:txBody>
          <a:bodyPr anchor="t" rtlCol="false" tIns="0" lIns="0" bIns="0" rIns="0">
            <a:spAutoFit/>
          </a:bodyPr>
          <a:lstStyle/>
          <a:p>
            <a:pPr algn="l">
              <a:lnSpc>
                <a:spcPts val="7070"/>
              </a:lnSpc>
            </a:pPr>
            <a:r>
              <a:rPr lang="en-US" sz="3500">
                <a:solidFill>
                  <a:srgbClr val="000000"/>
                </a:solidFill>
                <a:latin typeface="Inter"/>
                <a:ea typeface="Inter"/>
                <a:cs typeface="Inter"/>
                <a:sym typeface="Inter"/>
              </a:rPr>
              <a:t>Cột item_rating có chứa các ký tự chuỗi không phù hợp cần chuyển nhưng chuỗi này thành số 0</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774532" y="3461466"/>
            <a:ext cx="11791401" cy="5424400"/>
          </a:xfrm>
          <a:custGeom>
            <a:avLst/>
            <a:gdLst/>
            <a:ahLst/>
            <a:cxnLst/>
            <a:rect r="r" b="b" t="t" l="l"/>
            <a:pathLst>
              <a:path h="5424400" w="11791401">
                <a:moveTo>
                  <a:pt x="0" y="0"/>
                </a:moveTo>
                <a:lnTo>
                  <a:pt x="11791401" y="0"/>
                </a:lnTo>
                <a:lnTo>
                  <a:pt x="11791401" y="5424400"/>
                </a:lnTo>
                <a:lnTo>
                  <a:pt x="0" y="5424400"/>
                </a:lnTo>
                <a:lnTo>
                  <a:pt x="0" y="0"/>
                </a:lnTo>
                <a:close/>
              </a:path>
            </a:pathLst>
          </a:custGeom>
          <a:blipFill>
            <a:blip r:embed="rId6"/>
            <a:stretch>
              <a:fillRect l="0" t="0" r="0" b="0"/>
            </a:stretch>
          </a:blipFill>
        </p:spPr>
      </p:sp>
      <p:sp>
        <p:nvSpPr>
          <p:cNvPr name="TextBox 11" id="11"/>
          <p:cNvSpPr txBox="true"/>
          <p:nvPr/>
        </p:nvSpPr>
        <p:spPr>
          <a:xfrm rot="0">
            <a:off x="1847149" y="2115318"/>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Chuẩn hóa dữ liệu</a:t>
            </a: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896773" y="3415941"/>
            <a:ext cx="14794629" cy="3032899"/>
          </a:xfrm>
          <a:custGeom>
            <a:avLst/>
            <a:gdLst/>
            <a:ahLst/>
            <a:cxnLst/>
            <a:rect r="r" b="b" t="t" l="l"/>
            <a:pathLst>
              <a:path h="3032899" w="14794629">
                <a:moveTo>
                  <a:pt x="0" y="0"/>
                </a:moveTo>
                <a:lnTo>
                  <a:pt x="14794630" y="0"/>
                </a:lnTo>
                <a:lnTo>
                  <a:pt x="14794630" y="3032899"/>
                </a:lnTo>
                <a:lnTo>
                  <a:pt x="0" y="3032899"/>
                </a:lnTo>
                <a:lnTo>
                  <a:pt x="0" y="0"/>
                </a:lnTo>
                <a:close/>
              </a:path>
            </a:pathLst>
          </a:custGeom>
          <a:blipFill>
            <a:blip r:embed="rId6"/>
            <a:stretch>
              <a:fillRect l="0" t="0" r="0" b="0"/>
            </a:stretch>
          </a:blipFill>
        </p:spPr>
      </p:sp>
      <p:sp>
        <p:nvSpPr>
          <p:cNvPr name="TextBox 11" id="11"/>
          <p:cNvSpPr txBox="true"/>
          <p:nvPr/>
        </p:nvSpPr>
        <p:spPr>
          <a:xfrm rot="0">
            <a:off x="1847149" y="2115318"/>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Chuẩn hóa dữ liệu</a:t>
            </a:r>
          </a:p>
        </p:txBody>
      </p:sp>
      <p:sp>
        <p:nvSpPr>
          <p:cNvPr name="TextBox 12" id="12"/>
          <p:cNvSpPr txBox="true"/>
          <p:nvPr/>
        </p:nvSpPr>
        <p:spPr>
          <a:xfrm rot="0">
            <a:off x="1847149" y="6866973"/>
            <a:ext cx="14713538" cy="1844623"/>
          </a:xfrm>
          <a:prstGeom prst="rect">
            <a:avLst/>
          </a:prstGeom>
        </p:spPr>
        <p:txBody>
          <a:bodyPr anchor="t" rtlCol="false" tIns="0" lIns="0" bIns="0" rIns="0">
            <a:spAutoFit/>
          </a:bodyPr>
          <a:lstStyle/>
          <a:p>
            <a:pPr algn="l">
              <a:lnSpc>
                <a:spcPts val="4900"/>
              </a:lnSpc>
            </a:pPr>
            <a:r>
              <a:rPr lang="en-US" sz="3500">
                <a:solidFill>
                  <a:srgbClr val="000000"/>
                </a:solidFill>
                <a:latin typeface="Inter"/>
                <a:ea typeface="Inter"/>
                <a:cs typeface="Inter"/>
                <a:sym typeface="Inter"/>
              </a:rPr>
              <a:t>Cột favorite thì phức tạp hơn nó có chứa các ký tự phía trước mỗi con sao và sau nó có thêm kí tự “k”, t cần loại bỏ ký tự phía trước con số, sau đó nhân số nào có chữ k lên 1000 lần.</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847149" y="3145726"/>
            <a:ext cx="12043354" cy="5931352"/>
          </a:xfrm>
          <a:custGeom>
            <a:avLst/>
            <a:gdLst/>
            <a:ahLst/>
            <a:cxnLst/>
            <a:rect r="r" b="b" t="t" l="l"/>
            <a:pathLst>
              <a:path h="5931352" w="12043354">
                <a:moveTo>
                  <a:pt x="0" y="0"/>
                </a:moveTo>
                <a:lnTo>
                  <a:pt x="12043354" y="0"/>
                </a:lnTo>
                <a:lnTo>
                  <a:pt x="12043354" y="5931352"/>
                </a:lnTo>
                <a:lnTo>
                  <a:pt x="0" y="5931352"/>
                </a:lnTo>
                <a:lnTo>
                  <a:pt x="0" y="0"/>
                </a:lnTo>
                <a:close/>
              </a:path>
            </a:pathLst>
          </a:custGeom>
          <a:blipFill>
            <a:blip r:embed="rId6"/>
            <a:stretch>
              <a:fillRect l="0" t="0" r="0" b="0"/>
            </a:stretch>
          </a:blipFill>
        </p:spPr>
      </p:sp>
      <p:sp>
        <p:nvSpPr>
          <p:cNvPr name="TextBox 11" id="11"/>
          <p:cNvSpPr txBox="true"/>
          <p:nvPr/>
        </p:nvSpPr>
        <p:spPr>
          <a:xfrm rot="0">
            <a:off x="1847149" y="2115318"/>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Chuẩn hóa dữ liệu</a:t>
            </a: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615566" y="7752773"/>
            <a:ext cx="14351760" cy="2157688"/>
          </a:xfrm>
          <a:prstGeom prst="rect">
            <a:avLst/>
          </a:prstGeom>
        </p:spPr>
        <p:txBody>
          <a:bodyPr anchor="t" rtlCol="false" tIns="0" lIns="0" bIns="0" rIns="0">
            <a:spAutoFit/>
          </a:bodyPr>
          <a:lstStyle/>
          <a:p>
            <a:pPr algn="ctr">
              <a:lnSpc>
                <a:spcPts val="5810"/>
              </a:lnSpc>
            </a:pPr>
            <a:r>
              <a:rPr lang="en-US" sz="3500">
                <a:solidFill>
                  <a:srgbClr val="000000"/>
                </a:solidFill>
                <a:latin typeface="Inter"/>
                <a:ea typeface="Inter"/>
                <a:cs typeface="Inter"/>
                <a:sym typeface="Inter"/>
              </a:rPr>
              <a:t>Kiểm tra 5 dòng dòng đầu tiên của cột item_category_detail để kiểm tra dữ liệu.</a:t>
            </a:r>
          </a:p>
          <a:p>
            <a:pPr algn="l">
              <a:lnSpc>
                <a:spcPts val="5810"/>
              </a:lnSpc>
            </a:pPr>
          </a:p>
        </p:txBody>
      </p:sp>
      <p:sp>
        <p:nvSpPr>
          <p:cNvPr name="Freeform 11" id="11"/>
          <p:cNvSpPr/>
          <p:nvPr/>
        </p:nvSpPr>
        <p:spPr>
          <a:xfrm flipH="false" flipV="false" rot="0">
            <a:off x="1615566" y="2793088"/>
            <a:ext cx="14982982" cy="4472224"/>
          </a:xfrm>
          <a:custGeom>
            <a:avLst/>
            <a:gdLst/>
            <a:ahLst/>
            <a:cxnLst/>
            <a:rect r="r" b="b" t="t" l="l"/>
            <a:pathLst>
              <a:path h="4472224" w="14982982">
                <a:moveTo>
                  <a:pt x="0" y="0"/>
                </a:moveTo>
                <a:lnTo>
                  <a:pt x="14982982" y="0"/>
                </a:lnTo>
                <a:lnTo>
                  <a:pt x="14982982" y="4472224"/>
                </a:lnTo>
                <a:lnTo>
                  <a:pt x="0" y="4472224"/>
                </a:lnTo>
                <a:lnTo>
                  <a:pt x="0" y="0"/>
                </a:lnTo>
                <a:close/>
              </a:path>
            </a:pathLst>
          </a:custGeom>
          <a:blipFill>
            <a:blip r:embed="rId6"/>
            <a:stretch>
              <a:fillRect l="0" t="0" r="0" b="0"/>
            </a:stretch>
          </a:blipFill>
        </p:spPr>
      </p:sp>
      <p:sp>
        <p:nvSpPr>
          <p:cNvPr name="TextBox 12" id="12"/>
          <p:cNvSpPr txBox="true"/>
          <p:nvPr/>
        </p:nvSpPr>
        <p:spPr>
          <a:xfrm rot="0">
            <a:off x="2101141" y="1680305"/>
            <a:ext cx="13156891" cy="1781160"/>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Mã hóa dữ liệu (Data Encoding)</a:t>
            </a:r>
          </a:p>
          <a:p>
            <a:pPr algn="l">
              <a:lnSpc>
                <a:spcPts val="6750"/>
              </a:lnSpc>
            </a:pP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152475" y="3166935"/>
            <a:ext cx="13765929" cy="4732038"/>
          </a:xfrm>
          <a:custGeom>
            <a:avLst/>
            <a:gdLst/>
            <a:ahLst/>
            <a:cxnLst/>
            <a:rect r="r" b="b" t="t" l="l"/>
            <a:pathLst>
              <a:path h="4732038" w="13765929">
                <a:moveTo>
                  <a:pt x="0" y="0"/>
                </a:moveTo>
                <a:lnTo>
                  <a:pt x="13765930" y="0"/>
                </a:lnTo>
                <a:lnTo>
                  <a:pt x="13765930" y="4732038"/>
                </a:lnTo>
                <a:lnTo>
                  <a:pt x="0" y="4732038"/>
                </a:lnTo>
                <a:lnTo>
                  <a:pt x="0" y="0"/>
                </a:lnTo>
                <a:close/>
              </a:path>
            </a:pathLst>
          </a:custGeom>
          <a:blipFill>
            <a:blip r:embed="rId6"/>
            <a:stretch>
              <a:fillRect l="0" t="0" r="0" b="0"/>
            </a:stretch>
          </a:blipFill>
        </p:spPr>
      </p:sp>
      <p:sp>
        <p:nvSpPr>
          <p:cNvPr name="TextBox 11" id="11"/>
          <p:cNvSpPr txBox="true"/>
          <p:nvPr/>
        </p:nvSpPr>
        <p:spPr>
          <a:xfrm rot="0">
            <a:off x="2101141" y="1680305"/>
            <a:ext cx="13156891" cy="1781160"/>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Mã hóa dữ liệu (Data Encoding)</a:t>
            </a:r>
          </a:p>
          <a:p>
            <a:pPr algn="l">
              <a:lnSpc>
                <a:spcPts val="6750"/>
              </a:lnSpc>
            </a:pPr>
          </a:p>
        </p:txBody>
      </p:sp>
      <p:sp>
        <p:nvSpPr>
          <p:cNvPr name="TextBox 12" id="12"/>
          <p:cNvSpPr txBox="true"/>
          <p:nvPr/>
        </p:nvSpPr>
        <p:spPr>
          <a:xfrm rot="0">
            <a:off x="4649305" y="8285201"/>
            <a:ext cx="8772271" cy="690866"/>
          </a:xfrm>
          <a:prstGeom prst="rect">
            <a:avLst/>
          </a:prstGeom>
        </p:spPr>
        <p:txBody>
          <a:bodyPr anchor="t" rtlCol="false" tIns="0" lIns="0" bIns="0" rIns="0">
            <a:spAutoFit/>
          </a:bodyPr>
          <a:lstStyle/>
          <a:p>
            <a:pPr algn="l">
              <a:lnSpc>
                <a:spcPts val="5810"/>
              </a:lnSpc>
            </a:pPr>
            <a:r>
              <a:rPr lang="en-US" sz="3500">
                <a:solidFill>
                  <a:srgbClr val="000000"/>
                </a:solidFill>
                <a:latin typeface="Inter"/>
                <a:ea typeface="Inter"/>
                <a:cs typeface="Inter"/>
                <a:sym typeface="Inter"/>
              </a:rPr>
              <a:t>Cột item_category_detail sau khi mã hóa</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8417888" y="2279745"/>
            <a:ext cx="7490982" cy="994445"/>
          </a:xfrm>
          <a:prstGeom prst="rect">
            <a:avLst/>
          </a:prstGeom>
        </p:spPr>
        <p:txBody>
          <a:bodyPr anchor="t" rtlCol="false" tIns="0" lIns="0" bIns="0" rIns="0">
            <a:spAutoFit/>
          </a:bodyPr>
          <a:lstStyle/>
          <a:p>
            <a:pPr algn="ctr">
              <a:lnSpc>
                <a:spcPts val="7290"/>
              </a:lnSpc>
            </a:pPr>
            <a:r>
              <a:rPr lang="en-US" sz="8100" b="true">
                <a:solidFill>
                  <a:srgbClr val="47B0BF"/>
                </a:solidFill>
                <a:latin typeface="Cormorant Garamond Bold"/>
                <a:ea typeface="Cormorant Garamond Bold"/>
                <a:cs typeface="Cormorant Garamond Bold"/>
                <a:sym typeface="Cormorant Garamond Bold"/>
              </a:rPr>
              <a:t>Phân tích dữ liệu</a:t>
            </a:r>
          </a:p>
        </p:txBody>
      </p:sp>
      <p:grpSp>
        <p:nvGrpSpPr>
          <p:cNvPr name="Group 11" id="11"/>
          <p:cNvGrpSpPr/>
          <p:nvPr/>
        </p:nvGrpSpPr>
        <p:grpSpPr>
          <a:xfrm rot="-10800000">
            <a:off x="1946310" y="1845056"/>
            <a:ext cx="6101253" cy="6596889"/>
            <a:chOff x="0" y="0"/>
            <a:chExt cx="4399999" cy="4757433"/>
          </a:xfrm>
        </p:grpSpPr>
        <p:sp>
          <p:nvSpPr>
            <p:cNvPr name="Freeform 12" id="12"/>
            <p:cNvSpPr/>
            <p:nvPr/>
          </p:nvSpPr>
          <p:spPr>
            <a:xfrm flipH="false" flipV="false" rot="0">
              <a:off x="0" y="0"/>
              <a:ext cx="4399998" cy="4757432"/>
            </a:xfrm>
            <a:custGeom>
              <a:avLst/>
              <a:gdLst/>
              <a:ahLst/>
              <a:cxnLst/>
              <a:rect r="r" b="b" t="t" l="l"/>
              <a:pathLst>
                <a:path h="4757432" w="4399998">
                  <a:moveTo>
                    <a:pt x="40605" y="0"/>
                  </a:moveTo>
                  <a:lnTo>
                    <a:pt x="4359394" y="0"/>
                  </a:lnTo>
                  <a:cubicBezTo>
                    <a:pt x="4381819" y="0"/>
                    <a:pt x="4399998" y="18179"/>
                    <a:pt x="4399998" y="40605"/>
                  </a:cubicBezTo>
                  <a:lnTo>
                    <a:pt x="4399998" y="4716828"/>
                  </a:lnTo>
                  <a:cubicBezTo>
                    <a:pt x="4399998" y="4739253"/>
                    <a:pt x="4381819" y="4757432"/>
                    <a:pt x="4359394" y="4757432"/>
                  </a:cubicBezTo>
                  <a:lnTo>
                    <a:pt x="40605" y="4757432"/>
                  </a:lnTo>
                  <a:cubicBezTo>
                    <a:pt x="18179" y="4757432"/>
                    <a:pt x="0" y="4739253"/>
                    <a:pt x="0" y="4716828"/>
                  </a:cubicBezTo>
                  <a:lnTo>
                    <a:pt x="0" y="40605"/>
                  </a:lnTo>
                  <a:cubicBezTo>
                    <a:pt x="0" y="18179"/>
                    <a:pt x="18179" y="0"/>
                    <a:pt x="40605" y="0"/>
                  </a:cubicBezTo>
                  <a:close/>
                </a:path>
              </a:pathLst>
            </a:custGeom>
            <a:solidFill>
              <a:srgbClr val="FAFAFB"/>
            </a:solidFill>
            <a:ln w="123825" cap="rnd">
              <a:solidFill>
                <a:srgbClr val="8ED7E8"/>
              </a:solidFill>
              <a:prstDash val="solid"/>
              <a:round/>
            </a:ln>
          </p:spPr>
        </p:sp>
        <p:sp>
          <p:nvSpPr>
            <p:cNvPr name="TextBox 13" id="13"/>
            <p:cNvSpPr txBox="true"/>
            <p:nvPr/>
          </p:nvSpPr>
          <p:spPr>
            <a:xfrm>
              <a:off x="0" y="-38100"/>
              <a:ext cx="4399999" cy="4795533"/>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4" id="14"/>
          <p:cNvSpPr/>
          <p:nvPr/>
        </p:nvSpPr>
        <p:spPr>
          <a:xfrm flipH="false" flipV="false" rot="5400000">
            <a:off x="14093008" y="3984962"/>
            <a:ext cx="4971190" cy="2317076"/>
          </a:xfrm>
          <a:custGeom>
            <a:avLst/>
            <a:gdLst/>
            <a:ahLst/>
            <a:cxnLst/>
            <a:rect r="r" b="b" t="t" l="l"/>
            <a:pathLst>
              <a:path h="2317076" w="4971190">
                <a:moveTo>
                  <a:pt x="0" y="0"/>
                </a:moveTo>
                <a:lnTo>
                  <a:pt x="4971190" y="0"/>
                </a:lnTo>
                <a:lnTo>
                  <a:pt x="4971190" y="2317076"/>
                </a:lnTo>
                <a:lnTo>
                  <a:pt x="0" y="2317076"/>
                </a:lnTo>
                <a:lnTo>
                  <a:pt x="0" y="0"/>
                </a:lnTo>
                <a:close/>
              </a:path>
            </a:pathLst>
          </a:custGeom>
          <a:blipFill>
            <a:blip r:embed="rId6">
              <a:extLst>
                <a:ext uri="{96DAC541-7B7A-43D3-8B79-37D633B846F1}">
                  <asvg:svgBlip xmlns:asvg="http://schemas.microsoft.com/office/drawing/2016/SVG/main" r:embed="rId7"/>
                </a:ext>
              </a:extLst>
            </a:blip>
            <a:stretch>
              <a:fillRect l="0" t="-114545" r="0" b="0"/>
            </a:stretch>
          </a:blipFill>
          <a:ln cap="sq">
            <a:noFill/>
            <a:prstDash val="solid"/>
            <a:miter/>
          </a:ln>
        </p:spPr>
      </p:sp>
      <p:sp>
        <p:nvSpPr>
          <p:cNvPr name="TextBox 15" id="15"/>
          <p:cNvSpPr txBox="true"/>
          <p:nvPr/>
        </p:nvSpPr>
        <p:spPr>
          <a:xfrm rot="0">
            <a:off x="16170569" y="4640587"/>
            <a:ext cx="1294764" cy="958201"/>
          </a:xfrm>
          <a:prstGeom prst="rect">
            <a:avLst/>
          </a:prstGeom>
        </p:spPr>
        <p:txBody>
          <a:bodyPr anchor="t" rtlCol="false" tIns="0" lIns="0" bIns="0" rIns="0">
            <a:spAutoFit/>
          </a:bodyPr>
          <a:lstStyle/>
          <a:p>
            <a:pPr algn="ctr" marL="0" indent="0" lvl="0">
              <a:lnSpc>
                <a:spcPts val="7680"/>
              </a:lnSpc>
              <a:spcBef>
                <a:spcPct val="0"/>
              </a:spcBef>
            </a:pPr>
            <a:r>
              <a:rPr lang="en-US" b="true" sz="6000">
                <a:solidFill>
                  <a:srgbClr val="F8F8F8"/>
                </a:solidFill>
                <a:latin typeface="Inter Bold"/>
                <a:ea typeface="Inter Bold"/>
                <a:cs typeface="Inter Bold"/>
                <a:sym typeface="Inter Bold"/>
              </a:rPr>
              <a:t>03</a:t>
            </a:r>
          </a:p>
        </p:txBody>
      </p:sp>
      <p:sp>
        <p:nvSpPr>
          <p:cNvPr name="TextBox 16" id="16"/>
          <p:cNvSpPr txBox="true"/>
          <p:nvPr/>
        </p:nvSpPr>
        <p:spPr>
          <a:xfrm rot="0">
            <a:off x="8813290" y="3448049"/>
            <a:ext cx="6700178" cy="4739150"/>
          </a:xfrm>
          <a:prstGeom prst="rect">
            <a:avLst/>
          </a:prstGeom>
        </p:spPr>
        <p:txBody>
          <a:bodyPr anchor="t" rtlCol="false" tIns="0" lIns="0" bIns="0" rIns="0">
            <a:spAutoFit/>
          </a:bodyPr>
          <a:lstStyle/>
          <a:p>
            <a:pPr algn="l" marL="755651" indent="-377825" lvl="1">
              <a:lnSpc>
                <a:spcPts val="6335"/>
              </a:lnSpc>
              <a:buFont typeface="Arial"/>
              <a:buChar char="•"/>
            </a:pPr>
            <a:r>
              <a:rPr lang="en-US" sz="3500">
                <a:solidFill>
                  <a:srgbClr val="47B0BF"/>
                </a:solidFill>
                <a:latin typeface="Inter"/>
                <a:ea typeface="Inter"/>
                <a:cs typeface="Inter"/>
                <a:sym typeface="Inter"/>
              </a:rPr>
              <a:t>Các phương pháp sử dụng</a:t>
            </a:r>
          </a:p>
          <a:p>
            <a:pPr algn="l" marL="755651" indent="-377825" lvl="1">
              <a:lnSpc>
                <a:spcPts val="6335"/>
              </a:lnSpc>
              <a:buFont typeface="Arial"/>
              <a:buChar char="•"/>
            </a:pPr>
            <a:r>
              <a:rPr lang="en-US" sz="3500">
                <a:solidFill>
                  <a:srgbClr val="47B0BF"/>
                </a:solidFill>
                <a:latin typeface="Inter"/>
                <a:ea typeface="Inter"/>
                <a:cs typeface="Inter"/>
                <a:sym typeface="Inter"/>
              </a:rPr>
              <a:t>Tìm hiểu mối quan hệ giữa các thuộc tính</a:t>
            </a:r>
          </a:p>
          <a:p>
            <a:pPr algn="l" marL="755651" indent="-377825" lvl="1">
              <a:lnSpc>
                <a:spcPts val="6335"/>
              </a:lnSpc>
              <a:buFont typeface="Arial"/>
              <a:buChar char="•"/>
            </a:pPr>
            <a:r>
              <a:rPr lang="en-US" sz="3500">
                <a:solidFill>
                  <a:srgbClr val="47B0BF"/>
                </a:solidFill>
                <a:latin typeface="Inter"/>
                <a:ea typeface="Inter"/>
                <a:cs typeface="Inter"/>
                <a:sym typeface="Inter"/>
              </a:rPr>
              <a:t>Phân tích mối quan hệ của cột category1 với những cột khác</a:t>
            </a:r>
          </a:p>
        </p:txBody>
      </p:sp>
      <p:grpSp>
        <p:nvGrpSpPr>
          <p:cNvPr name="Group 17" id="17"/>
          <p:cNvGrpSpPr/>
          <p:nvPr/>
        </p:nvGrpSpPr>
        <p:grpSpPr>
          <a:xfrm rot="0">
            <a:off x="2513849" y="2662920"/>
            <a:ext cx="4966175" cy="496617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8"/>
              <a:stretch>
                <a:fillRect l="-3614" t="0" r="-3614" b="0"/>
              </a:stretch>
            </a:blipFill>
          </p:spPr>
        </p:sp>
      </p:grpSp>
      <p:sp>
        <p:nvSpPr>
          <p:cNvPr name="TextBox 19" id="19"/>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364583" y="1028700"/>
            <a:ext cx="13558834" cy="7924876"/>
          </a:xfrm>
          <a:custGeom>
            <a:avLst/>
            <a:gdLst/>
            <a:ahLst/>
            <a:cxnLst/>
            <a:rect r="r" b="b" t="t" l="l"/>
            <a:pathLst>
              <a:path h="7924876" w="13558834">
                <a:moveTo>
                  <a:pt x="0" y="0"/>
                </a:moveTo>
                <a:lnTo>
                  <a:pt x="13558834" y="0"/>
                </a:lnTo>
                <a:lnTo>
                  <a:pt x="13558834" y="7924876"/>
                </a:lnTo>
                <a:lnTo>
                  <a:pt x="0" y="7924876"/>
                </a:lnTo>
                <a:lnTo>
                  <a:pt x="0" y="0"/>
                </a:lnTo>
                <a:close/>
              </a:path>
            </a:pathLst>
          </a:custGeom>
          <a:blipFill>
            <a:blip r:embed="rId6"/>
            <a:stretch>
              <a:fillRect l="0" t="0" r="0" b="0"/>
            </a:stretch>
          </a:blipFill>
        </p:spPr>
      </p:sp>
      <p:sp>
        <p:nvSpPr>
          <p:cNvPr name="TextBox 11" id="11"/>
          <p:cNvSpPr txBox="true"/>
          <p:nvPr/>
        </p:nvSpPr>
        <p:spPr>
          <a:xfrm rot="0">
            <a:off x="6093473" y="8924678"/>
            <a:ext cx="6101054" cy="690866"/>
          </a:xfrm>
          <a:prstGeom prst="rect">
            <a:avLst/>
          </a:prstGeom>
        </p:spPr>
        <p:txBody>
          <a:bodyPr anchor="t" rtlCol="false" tIns="0" lIns="0" bIns="0" rIns="0">
            <a:spAutoFit/>
          </a:bodyPr>
          <a:lstStyle/>
          <a:p>
            <a:pPr algn="l">
              <a:lnSpc>
                <a:spcPts val="5810"/>
              </a:lnSpc>
            </a:pPr>
            <a:r>
              <a:rPr lang="en-US" sz="3500">
                <a:solidFill>
                  <a:srgbClr val="000000"/>
                </a:solidFill>
                <a:latin typeface="Inter"/>
                <a:ea typeface="Inter"/>
                <a:cs typeface="Inter"/>
                <a:sym typeface="Inter"/>
              </a:rPr>
              <a:t>Biểu đồ ma trận tương quan</a:t>
            </a: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682947" y="1794479"/>
            <a:ext cx="9875110" cy="923928"/>
          </a:xfrm>
          <a:prstGeom prst="rect">
            <a:avLst/>
          </a:prstGeom>
        </p:spPr>
        <p:txBody>
          <a:bodyPr anchor="t" rtlCol="false" tIns="0" lIns="0" bIns="0" rIns="0">
            <a:spAutoFit/>
          </a:bodyPr>
          <a:lstStyle/>
          <a:p>
            <a:pPr algn="l">
              <a:lnSpc>
                <a:spcPts val="6750"/>
              </a:lnSpc>
            </a:pPr>
            <a:r>
              <a:rPr lang="en-US" sz="7500" b="true">
                <a:solidFill>
                  <a:srgbClr val="1C4F64"/>
                </a:solidFill>
                <a:latin typeface="Cormorant Garamond Bold"/>
                <a:ea typeface="Cormorant Garamond Bold"/>
                <a:cs typeface="Cormorant Garamond Bold"/>
                <a:sym typeface="Cormorant Garamond Bold"/>
              </a:rPr>
              <a:t>Các phương pháp sử dụng</a:t>
            </a:r>
          </a:p>
        </p:txBody>
      </p:sp>
      <p:sp>
        <p:nvSpPr>
          <p:cNvPr name="TextBox 11" id="11"/>
          <p:cNvSpPr txBox="true"/>
          <p:nvPr/>
        </p:nvSpPr>
        <p:spPr>
          <a:xfrm rot="0">
            <a:off x="1803815" y="3132458"/>
            <a:ext cx="14680371" cy="5944620"/>
          </a:xfrm>
          <a:prstGeom prst="rect">
            <a:avLst/>
          </a:prstGeom>
        </p:spPr>
        <p:txBody>
          <a:bodyPr anchor="t" rtlCol="false" tIns="0" lIns="0" bIns="0" rIns="0">
            <a:spAutoFit/>
          </a:bodyPr>
          <a:lstStyle/>
          <a:p>
            <a:pPr algn="l" marL="755651" indent="-377825" lvl="1">
              <a:lnSpc>
                <a:spcPts val="8015"/>
              </a:lnSpc>
              <a:buFont typeface="Arial"/>
              <a:buChar char="•"/>
            </a:pPr>
            <a:r>
              <a:rPr lang="en-US" sz="3500">
                <a:solidFill>
                  <a:srgbClr val="000000"/>
                </a:solidFill>
                <a:latin typeface="Inter"/>
                <a:ea typeface="Inter"/>
                <a:cs typeface="Inter"/>
                <a:sym typeface="Inter"/>
              </a:rPr>
              <a:t>Hồi quy tuyến tính (Linear Rgression)</a:t>
            </a:r>
          </a:p>
          <a:p>
            <a:pPr algn="l" marL="755651" indent="-377825" lvl="1">
              <a:lnSpc>
                <a:spcPts val="8015"/>
              </a:lnSpc>
              <a:buFont typeface="Arial"/>
              <a:buChar char="•"/>
            </a:pPr>
            <a:r>
              <a:rPr lang="en-US" sz="3500">
                <a:solidFill>
                  <a:srgbClr val="000000"/>
                </a:solidFill>
                <a:latin typeface="Inter"/>
                <a:ea typeface="Inter"/>
                <a:cs typeface="Inter"/>
                <a:sym typeface="Inter"/>
              </a:rPr>
              <a:t>Hồi quy đa thức (Polynomial Regression)</a:t>
            </a:r>
          </a:p>
          <a:p>
            <a:pPr algn="l" marL="755651" indent="-377825" lvl="1">
              <a:lnSpc>
                <a:spcPts val="8015"/>
              </a:lnSpc>
              <a:buFont typeface="Arial"/>
              <a:buChar char="•"/>
            </a:pPr>
            <a:r>
              <a:rPr lang="en-US" sz="3500">
                <a:solidFill>
                  <a:srgbClr val="000000"/>
                </a:solidFill>
                <a:latin typeface="Inter"/>
                <a:ea typeface="Inter"/>
                <a:cs typeface="Inter"/>
                <a:sym typeface="Inter"/>
              </a:rPr>
              <a:t>Cây quyết đinh (Decision Tree Regression)</a:t>
            </a:r>
          </a:p>
          <a:p>
            <a:pPr algn="l" marL="755651" indent="-377825" lvl="1">
              <a:lnSpc>
                <a:spcPts val="8015"/>
              </a:lnSpc>
              <a:buFont typeface="Arial"/>
              <a:buChar char="•"/>
            </a:pPr>
            <a:r>
              <a:rPr lang="en-US" sz="3500">
                <a:solidFill>
                  <a:srgbClr val="000000"/>
                </a:solidFill>
                <a:latin typeface="Inter"/>
                <a:ea typeface="Inter"/>
                <a:cs typeface="Inter"/>
                <a:sym typeface="Inter"/>
              </a:rPr>
              <a:t>Rừng ngẫu nhiên (Random Forest Regression0</a:t>
            </a:r>
          </a:p>
          <a:p>
            <a:pPr algn="l" marL="755651" indent="-377825" lvl="1">
              <a:lnSpc>
                <a:spcPts val="8015"/>
              </a:lnSpc>
              <a:buFont typeface="Arial"/>
              <a:buChar char="•"/>
            </a:pPr>
            <a:r>
              <a:rPr lang="en-US" sz="3500">
                <a:solidFill>
                  <a:srgbClr val="000000"/>
                </a:solidFill>
                <a:latin typeface="Inter"/>
                <a:ea typeface="Inter"/>
                <a:cs typeface="Inter"/>
                <a:sym typeface="Inter"/>
              </a:rPr>
              <a:t>K láng giềng (K-Nearest Neighbors Regression)</a:t>
            </a:r>
          </a:p>
          <a:p>
            <a:pPr algn="l" marL="755651" indent="-377825" lvl="1">
              <a:lnSpc>
                <a:spcPts val="8015"/>
              </a:lnSpc>
              <a:buFont typeface="Arial"/>
              <a:buChar char="•"/>
            </a:pPr>
            <a:r>
              <a:rPr lang="en-US" sz="3500">
                <a:solidFill>
                  <a:srgbClr val="000000"/>
                </a:solidFill>
                <a:latin typeface="Inter"/>
                <a:ea typeface="Inter"/>
                <a:cs typeface="Inter"/>
                <a:sym typeface="Inter"/>
              </a:rPr>
              <a:t>Vector hỗ trợ (Super Vector Regression)</a:t>
            </a: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37</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494746" y="1028700"/>
            <a:ext cx="13298508" cy="6837279"/>
          </a:xfrm>
          <a:custGeom>
            <a:avLst/>
            <a:gdLst/>
            <a:ahLst/>
            <a:cxnLst/>
            <a:rect r="r" b="b" t="t" l="l"/>
            <a:pathLst>
              <a:path h="6837279" w="13298508">
                <a:moveTo>
                  <a:pt x="0" y="0"/>
                </a:moveTo>
                <a:lnTo>
                  <a:pt x="13298508" y="0"/>
                </a:lnTo>
                <a:lnTo>
                  <a:pt x="13298508" y="6837279"/>
                </a:lnTo>
                <a:lnTo>
                  <a:pt x="0" y="6837279"/>
                </a:lnTo>
                <a:lnTo>
                  <a:pt x="0" y="0"/>
                </a:lnTo>
                <a:close/>
              </a:path>
            </a:pathLst>
          </a:custGeom>
          <a:blipFill>
            <a:blip r:embed="rId6"/>
            <a:stretch>
              <a:fillRect l="0" t="0" r="0" b="0"/>
            </a:stretch>
          </a:blipFill>
        </p:spPr>
      </p:sp>
      <p:sp>
        <p:nvSpPr>
          <p:cNvPr name="Freeform 11" id="11"/>
          <p:cNvSpPr/>
          <p:nvPr/>
        </p:nvSpPr>
        <p:spPr>
          <a:xfrm flipH="false" flipV="false" rot="0">
            <a:off x="2925062" y="8373597"/>
            <a:ext cx="12437877" cy="884703"/>
          </a:xfrm>
          <a:custGeom>
            <a:avLst/>
            <a:gdLst/>
            <a:ahLst/>
            <a:cxnLst/>
            <a:rect r="r" b="b" t="t" l="l"/>
            <a:pathLst>
              <a:path h="884703" w="12437877">
                <a:moveTo>
                  <a:pt x="0" y="0"/>
                </a:moveTo>
                <a:lnTo>
                  <a:pt x="12437876" y="0"/>
                </a:lnTo>
                <a:lnTo>
                  <a:pt x="12437876" y="884703"/>
                </a:lnTo>
                <a:lnTo>
                  <a:pt x="0" y="884703"/>
                </a:lnTo>
                <a:lnTo>
                  <a:pt x="0" y="0"/>
                </a:lnTo>
                <a:close/>
              </a:path>
            </a:pathLst>
          </a:custGeom>
          <a:blipFill>
            <a:blip r:embed="rId7"/>
            <a:stretch>
              <a:fillRect l="0" t="0" r="0" b="0"/>
            </a:stretch>
          </a:blipFill>
        </p:spPr>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433855" y="2292761"/>
            <a:ext cx="9397173" cy="5720529"/>
          </a:xfrm>
          <a:custGeom>
            <a:avLst/>
            <a:gdLst/>
            <a:ahLst/>
            <a:cxnLst/>
            <a:rect r="r" b="b" t="t" l="l"/>
            <a:pathLst>
              <a:path h="5720529" w="9397173">
                <a:moveTo>
                  <a:pt x="0" y="0"/>
                </a:moveTo>
                <a:lnTo>
                  <a:pt x="9397173" y="0"/>
                </a:lnTo>
                <a:lnTo>
                  <a:pt x="9397173" y="5720528"/>
                </a:lnTo>
                <a:lnTo>
                  <a:pt x="0" y="5720528"/>
                </a:lnTo>
                <a:lnTo>
                  <a:pt x="0" y="0"/>
                </a:lnTo>
                <a:close/>
              </a:path>
            </a:pathLst>
          </a:custGeom>
          <a:blipFill>
            <a:blip r:embed="rId6"/>
            <a:stretch>
              <a:fillRect l="0" t="0" r="0" b="0"/>
            </a:stretch>
          </a:blipFill>
        </p:spPr>
      </p:sp>
      <p:sp>
        <p:nvSpPr>
          <p:cNvPr name="Freeform 11" id="11"/>
          <p:cNvSpPr/>
          <p:nvPr/>
        </p:nvSpPr>
        <p:spPr>
          <a:xfrm flipH="false" flipV="false" rot="0">
            <a:off x="1710582" y="2807527"/>
            <a:ext cx="5480240" cy="4671945"/>
          </a:xfrm>
          <a:custGeom>
            <a:avLst/>
            <a:gdLst/>
            <a:ahLst/>
            <a:cxnLst/>
            <a:rect r="r" b="b" t="t" l="l"/>
            <a:pathLst>
              <a:path h="4671945" w="5480240">
                <a:moveTo>
                  <a:pt x="0" y="0"/>
                </a:moveTo>
                <a:lnTo>
                  <a:pt x="5480240" y="0"/>
                </a:lnTo>
                <a:lnTo>
                  <a:pt x="5480240" y="4671946"/>
                </a:lnTo>
                <a:lnTo>
                  <a:pt x="0" y="4671946"/>
                </a:lnTo>
                <a:lnTo>
                  <a:pt x="0" y="0"/>
                </a:lnTo>
                <a:close/>
              </a:path>
            </a:pathLst>
          </a:custGeom>
          <a:blipFill>
            <a:blip r:embed="rId7"/>
            <a:stretch>
              <a:fillRect l="0" t="0" r="0" b="0"/>
            </a:stretch>
          </a:blipFill>
        </p:spPr>
      </p:sp>
      <p:sp>
        <p:nvSpPr>
          <p:cNvPr name="TextBox 12" id="12"/>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3" id="13"/>
          <p:cNvSpPr txBox="true"/>
          <p:nvPr/>
        </p:nvSpPr>
        <p:spPr>
          <a:xfrm rot="0">
            <a:off x="2169707" y="8288056"/>
            <a:ext cx="14877413" cy="1864287"/>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hồi quy tuyến tính thể hiện mối quan hệ giữa price_ori và price_actual</a:t>
            </a:r>
          </a:p>
          <a:p>
            <a:pPr algn="ctr">
              <a:lnSpc>
                <a:spcPts val="4970"/>
              </a:lnSpc>
            </a:pP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39</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971980" y="2644611"/>
            <a:ext cx="9213336" cy="5551035"/>
          </a:xfrm>
          <a:custGeom>
            <a:avLst/>
            <a:gdLst/>
            <a:ahLst/>
            <a:cxnLst/>
            <a:rect r="r" b="b" t="t" l="l"/>
            <a:pathLst>
              <a:path h="5551035" w="9213336">
                <a:moveTo>
                  <a:pt x="0" y="0"/>
                </a:moveTo>
                <a:lnTo>
                  <a:pt x="9213337" y="0"/>
                </a:lnTo>
                <a:lnTo>
                  <a:pt x="9213337" y="5551035"/>
                </a:lnTo>
                <a:lnTo>
                  <a:pt x="0" y="5551035"/>
                </a:lnTo>
                <a:lnTo>
                  <a:pt x="0" y="0"/>
                </a:lnTo>
                <a:close/>
              </a:path>
            </a:pathLst>
          </a:custGeom>
          <a:blipFill>
            <a:blip r:embed="rId6"/>
            <a:stretch>
              <a:fillRect l="0" t="0" r="0" b="0"/>
            </a:stretch>
          </a:blipFill>
        </p:spPr>
      </p:sp>
      <p:sp>
        <p:nvSpPr>
          <p:cNvPr name="Freeform 11" id="11"/>
          <p:cNvSpPr/>
          <p:nvPr/>
        </p:nvSpPr>
        <p:spPr>
          <a:xfrm flipH="false" flipV="false" rot="0">
            <a:off x="1381125" y="3100335"/>
            <a:ext cx="6763891" cy="4292774"/>
          </a:xfrm>
          <a:custGeom>
            <a:avLst/>
            <a:gdLst/>
            <a:ahLst/>
            <a:cxnLst/>
            <a:rect r="r" b="b" t="t" l="l"/>
            <a:pathLst>
              <a:path h="4292774" w="6763891">
                <a:moveTo>
                  <a:pt x="0" y="0"/>
                </a:moveTo>
                <a:lnTo>
                  <a:pt x="6763891" y="0"/>
                </a:lnTo>
                <a:lnTo>
                  <a:pt x="6763891" y="4292774"/>
                </a:lnTo>
                <a:lnTo>
                  <a:pt x="0" y="4292774"/>
                </a:lnTo>
                <a:lnTo>
                  <a:pt x="0" y="0"/>
                </a:lnTo>
                <a:close/>
              </a:path>
            </a:pathLst>
          </a:custGeom>
          <a:blipFill>
            <a:blip r:embed="rId7"/>
            <a:stretch>
              <a:fillRect l="0" t="0" r="0" b="0"/>
            </a:stretch>
          </a:blipFill>
        </p:spPr>
      </p:sp>
      <p:sp>
        <p:nvSpPr>
          <p:cNvPr name="TextBox 12" id="12"/>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3" id="13"/>
          <p:cNvSpPr txBox="true"/>
          <p:nvPr/>
        </p:nvSpPr>
        <p:spPr>
          <a:xfrm rot="0">
            <a:off x="1710582" y="8559344"/>
            <a:ext cx="14877413" cy="1235661"/>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hồi quy đa thức mối quan hệ price_ori và price_actual</a:t>
            </a:r>
          </a:p>
          <a:p>
            <a:pPr algn="ctr">
              <a:lnSpc>
                <a:spcPts val="4970"/>
              </a:lnSpc>
            </a:pP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40</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714196" y="2536799"/>
            <a:ext cx="9099265" cy="5766659"/>
          </a:xfrm>
          <a:custGeom>
            <a:avLst/>
            <a:gdLst/>
            <a:ahLst/>
            <a:cxnLst/>
            <a:rect r="r" b="b" t="t" l="l"/>
            <a:pathLst>
              <a:path h="5766659" w="9099265">
                <a:moveTo>
                  <a:pt x="0" y="0"/>
                </a:moveTo>
                <a:lnTo>
                  <a:pt x="9099265" y="0"/>
                </a:lnTo>
                <a:lnTo>
                  <a:pt x="9099265" y="5766659"/>
                </a:lnTo>
                <a:lnTo>
                  <a:pt x="0" y="5766659"/>
                </a:lnTo>
                <a:lnTo>
                  <a:pt x="0" y="0"/>
                </a:lnTo>
                <a:close/>
              </a:path>
            </a:pathLst>
          </a:custGeom>
          <a:blipFill>
            <a:blip r:embed="rId6"/>
            <a:stretch>
              <a:fillRect l="0" t="0" r="0" b="0"/>
            </a:stretch>
          </a:blipFill>
        </p:spPr>
      </p:sp>
      <p:sp>
        <p:nvSpPr>
          <p:cNvPr name="Freeform 11" id="11"/>
          <p:cNvSpPr/>
          <p:nvPr/>
        </p:nvSpPr>
        <p:spPr>
          <a:xfrm flipH="false" flipV="false" rot="0">
            <a:off x="1495537" y="4276350"/>
            <a:ext cx="5893111" cy="2287557"/>
          </a:xfrm>
          <a:custGeom>
            <a:avLst/>
            <a:gdLst/>
            <a:ahLst/>
            <a:cxnLst/>
            <a:rect r="r" b="b" t="t" l="l"/>
            <a:pathLst>
              <a:path h="2287557" w="5893111">
                <a:moveTo>
                  <a:pt x="0" y="0"/>
                </a:moveTo>
                <a:lnTo>
                  <a:pt x="5893111" y="0"/>
                </a:lnTo>
                <a:lnTo>
                  <a:pt x="5893111" y="2287557"/>
                </a:lnTo>
                <a:lnTo>
                  <a:pt x="0" y="2287557"/>
                </a:lnTo>
                <a:lnTo>
                  <a:pt x="0" y="0"/>
                </a:lnTo>
                <a:close/>
              </a:path>
            </a:pathLst>
          </a:custGeom>
          <a:blipFill>
            <a:blip r:embed="rId7"/>
            <a:stretch>
              <a:fillRect l="0" t="0" r="0" b="0"/>
            </a:stretch>
          </a:blipFill>
        </p:spPr>
      </p:sp>
      <p:sp>
        <p:nvSpPr>
          <p:cNvPr name="TextBox 12" id="12"/>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3" id="13"/>
          <p:cNvSpPr txBox="true"/>
          <p:nvPr/>
        </p:nvSpPr>
        <p:spPr>
          <a:xfrm rot="0">
            <a:off x="1710582" y="8559344"/>
            <a:ext cx="14877413"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cây quyết định mối quan hệ price_ori và price_actual</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41</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250796" y="2457992"/>
            <a:ext cx="9613424" cy="5924272"/>
          </a:xfrm>
          <a:custGeom>
            <a:avLst/>
            <a:gdLst/>
            <a:ahLst/>
            <a:cxnLst/>
            <a:rect r="r" b="b" t="t" l="l"/>
            <a:pathLst>
              <a:path h="5924272" w="9613424">
                <a:moveTo>
                  <a:pt x="0" y="0"/>
                </a:moveTo>
                <a:lnTo>
                  <a:pt x="9613424" y="0"/>
                </a:lnTo>
                <a:lnTo>
                  <a:pt x="9613424" y="5924272"/>
                </a:lnTo>
                <a:lnTo>
                  <a:pt x="0" y="5924272"/>
                </a:lnTo>
                <a:lnTo>
                  <a:pt x="0" y="0"/>
                </a:lnTo>
                <a:close/>
              </a:path>
            </a:pathLst>
          </a:custGeom>
          <a:blipFill>
            <a:blip r:embed="rId6"/>
            <a:stretch>
              <a:fillRect l="0" t="0" r="0" b="0"/>
            </a:stretch>
          </a:blipFill>
        </p:spPr>
      </p:sp>
      <p:sp>
        <p:nvSpPr>
          <p:cNvPr name="Freeform 11" id="11"/>
          <p:cNvSpPr/>
          <p:nvPr/>
        </p:nvSpPr>
        <p:spPr>
          <a:xfrm flipH="false" flipV="false" rot="0">
            <a:off x="1409877" y="4171153"/>
            <a:ext cx="5840919" cy="2113038"/>
          </a:xfrm>
          <a:custGeom>
            <a:avLst/>
            <a:gdLst/>
            <a:ahLst/>
            <a:cxnLst/>
            <a:rect r="r" b="b" t="t" l="l"/>
            <a:pathLst>
              <a:path h="2113038" w="5840919">
                <a:moveTo>
                  <a:pt x="0" y="0"/>
                </a:moveTo>
                <a:lnTo>
                  <a:pt x="5840919" y="0"/>
                </a:lnTo>
                <a:lnTo>
                  <a:pt x="5840919" y="2113038"/>
                </a:lnTo>
                <a:lnTo>
                  <a:pt x="0" y="2113038"/>
                </a:lnTo>
                <a:lnTo>
                  <a:pt x="0" y="0"/>
                </a:lnTo>
                <a:close/>
              </a:path>
            </a:pathLst>
          </a:custGeom>
          <a:blipFill>
            <a:blip r:embed="rId7"/>
            <a:stretch>
              <a:fillRect l="0" t="0" r="0" b="0"/>
            </a:stretch>
          </a:blipFill>
        </p:spPr>
      </p:sp>
      <p:sp>
        <p:nvSpPr>
          <p:cNvPr name="TextBox 12" id="12"/>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3" id="13"/>
          <p:cNvSpPr txBox="true"/>
          <p:nvPr/>
        </p:nvSpPr>
        <p:spPr>
          <a:xfrm rot="0">
            <a:off x="1710582" y="8559344"/>
            <a:ext cx="14877413" cy="1235661"/>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Random Forest mối quan hệ price_ori và price_actual</a:t>
            </a:r>
          </a:p>
          <a:p>
            <a:pPr algn="ctr">
              <a:lnSpc>
                <a:spcPts val="4970"/>
              </a:lnSpc>
            </a:pP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42</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281022" y="2425722"/>
            <a:ext cx="9668922" cy="5873870"/>
          </a:xfrm>
          <a:custGeom>
            <a:avLst/>
            <a:gdLst/>
            <a:ahLst/>
            <a:cxnLst/>
            <a:rect r="r" b="b" t="t" l="l"/>
            <a:pathLst>
              <a:path h="5873870" w="9668922">
                <a:moveTo>
                  <a:pt x="0" y="0"/>
                </a:moveTo>
                <a:lnTo>
                  <a:pt x="9668923" y="0"/>
                </a:lnTo>
                <a:lnTo>
                  <a:pt x="9668923" y="5873870"/>
                </a:lnTo>
                <a:lnTo>
                  <a:pt x="0" y="5873870"/>
                </a:lnTo>
                <a:lnTo>
                  <a:pt x="0" y="0"/>
                </a:lnTo>
                <a:close/>
              </a:path>
            </a:pathLst>
          </a:custGeom>
          <a:blipFill>
            <a:blip r:embed="rId6"/>
            <a:stretch>
              <a:fillRect l="0" t="0" r="0" b="0"/>
            </a:stretch>
          </a:blipFill>
        </p:spPr>
      </p:sp>
      <p:sp>
        <p:nvSpPr>
          <p:cNvPr name="Freeform 11" id="11"/>
          <p:cNvSpPr/>
          <p:nvPr/>
        </p:nvSpPr>
        <p:spPr>
          <a:xfrm flipH="false" flipV="false" rot="0">
            <a:off x="1670200" y="3682970"/>
            <a:ext cx="5610822" cy="3474317"/>
          </a:xfrm>
          <a:custGeom>
            <a:avLst/>
            <a:gdLst/>
            <a:ahLst/>
            <a:cxnLst/>
            <a:rect r="r" b="b" t="t" l="l"/>
            <a:pathLst>
              <a:path h="3474317" w="5610822">
                <a:moveTo>
                  <a:pt x="0" y="0"/>
                </a:moveTo>
                <a:lnTo>
                  <a:pt x="5610822" y="0"/>
                </a:lnTo>
                <a:lnTo>
                  <a:pt x="5610822" y="3474317"/>
                </a:lnTo>
                <a:lnTo>
                  <a:pt x="0" y="3474317"/>
                </a:lnTo>
                <a:lnTo>
                  <a:pt x="0" y="0"/>
                </a:lnTo>
                <a:close/>
              </a:path>
            </a:pathLst>
          </a:custGeom>
          <a:blipFill>
            <a:blip r:embed="rId7"/>
            <a:stretch>
              <a:fillRect l="0" t="0" r="0" b="0"/>
            </a:stretch>
          </a:blipFill>
        </p:spPr>
      </p:sp>
      <p:sp>
        <p:nvSpPr>
          <p:cNvPr name="TextBox 12" id="12"/>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3" id="13"/>
          <p:cNvSpPr txBox="true"/>
          <p:nvPr/>
        </p:nvSpPr>
        <p:spPr>
          <a:xfrm rot="0">
            <a:off x="1710582" y="8559344"/>
            <a:ext cx="14877413"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KNN mối quan hệ price_ori và price_actual</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43</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6148" y="460710"/>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700005" y="3953005"/>
            <a:ext cx="6107056" cy="2430567"/>
          </a:xfrm>
          <a:custGeom>
            <a:avLst/>
            <a:gdLst/>
            <a:ahLst/>
            <a:cxnLst/>
            <a:rect r="r" b="b" t="t" l="l"/>
            <a:pathLst>
              <a:path h="2430567" w="6107056">
                <a:moveTo>
                  <a:pt x="0" y="0"/>
                </a:moveTo>
                <a:lnTo>
                  <a:pt x="6107056" y="0"/>
                </a:lnTo>
                <a:lnTo>
                  <a:pt x="6107056" y="2430568"/>
                </a:lnTo>
                <a:lnTo>
                  <a:pt x="0" y="2430568"/>
                </a:lnTo>
                <a:lnTo>
                  <a:pt x="0" y="0"/>
                </a:lnTo>
                <a:close/>
              </a:path>
            </a:pathLst>
          </a:custGeom>
          <a:blipFill>
            <a:blip r:embed="rId6"/>
            <a:stretch>
              <a:fillRect l="0" t="0" r="0" b="0"/>
            </a:stretch>
          </a:blipFill>
        </p:spPr>
      </p:sp>
      <p:sp>
        <p:nvSpPr>
          <p:cNvPr name="Freeform 11" id="11"/>
          <p:cNvSpPr/>
          <p:nvPr/>
        </p:nvSpPr>
        <p:spPr>
          <a:xfrm flipH="false" flipV="false" rot="0">
            <a:off x="7170856" y="2547901"/>
            <a:ext cx="9417139" cy="5191198"/>
          </a:xfrm>
          <a:custGeom>
            <a:avLst/>
            <a:gdLst/>
            <a:ahLst/>
            <a:cxnLst/>
            <a:rect r="r" b="b" t="t" l="l"/>
            <a:pathLst>
              <a:path h="5191198" w="9417139">
                <a:moveTo>
                  <a:pt x="0" y="0"/>
                </a:moveTo>
                <a:lnTo>
                  <a:pt x="9417139" y="0"/>
                </a:lnTo>
                <a:lnTo>
                  <a:pt x="9417139" y="5191198"/>
                </a:lnTo>
                <a:lnTo>
                  <a:pt x="0" y="5191198"/>
                </a:lnTo>
                <a:lnTo>
                  <a:pt x="0" y="0"/>
                </a:lnTo>
                <a:close/>
              </a:path>
            </a:pathLst>
          </a:custGeom>
          <a:blipFill>
            <a:blip r:embed="rId7"/>
            <a:stretch>
              <a:fillRect l="0" t="0" r="0" b="0"/>
            </a:stretch>
          </a:blipFill>
        </p:spPr>
      </p:sp>
      <p:sp>
        <p:nvSpPr>
          <p:cNvPr name="TextBox 12" id="12"/>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3" id="13"/>
          <p:cNvSpPr txBox="true"/>
          <p:nvPr/>
        </p:nvSpPr>
        <p:spPr>
          <a:xfrm rot="0">
            <a:off x="1700005" y="8055666"/>
            <a:ext cx="14877413" cy="1235661"/>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SVR thể hiện mối quan hệ giữa price_ori và price_actual</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44</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6148" y="460710"/>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1" id="11"/>
          <p:cNvSpPr txBox="true"/>
          <p:nvPr/>
        </p:nvSpPr>
        <p:spPr>
          <a:xfrm rot="0">
            <a:off x="1240880" y="2814518"/>
            <a:ext cx="14877413" cy="5897079"/>
          </a:xfrm>
          <a:prstGeom prst="rect">
            <a:avLst/>
          </a:prstGeom>
        </p:spPr>
        <p:txBody>
          <a:bodyPr anchor="t" rtlCol="false" tIns="0" lIns="0" bIns="0" rIns="0">
            <a:spAutoFit/>
          </a:bodyPr>
          <a:lstStyle/>
          <a:p>
            <a:pPr algn="ctr">
              <a:lnSpc>
                <a:spcPts val="5915"/>
              </a:lnSpc>
            </a:pPr>
            <a:r>
              <a:rPr lang="en-US" sz="3500" b="true">
                <a:solidFill>
                  <a:srgbClr val="000000"/>
                </a:solidFill>
                <a:latin typeface="Inter Bold"/>
                <a:ea typeface="Inter Bold"/>
                <a:cs typeface="Inter Bold"/>
                <a:sym typeface="Inter Bold"/>
              </a:rPr>
              <a:t>Kết quả đánh giá R2 Score trên 6 mô hình:</a:t>
            </a:r>
          </a:p>
          <a:p>
            <a:pPr algn="ctr">
              <a:lnSpc>
                <a:spcPts val="5915"/>
              </a:lnSpc>
            </a:pPr>
            <a:r>
              <a:rPr lang="en-US" sz="3500">
                <a:solidFill>
                  <a:srgbClr val="000000"/>
                </a:solidFill>
                <a:latin typeface="Inter"/>
                <a:ea typeface="Inter"/>
                <a:cs typeface="Inter"/>
                <a:sym typeface="Inter"/>
              </a:rPr>
              <a:t>- Linear Regression R2 Score: 0.6209</a:t>
            </a:r>
          </a:p>
          <a:p>
            <a:pPr algn="ctr">
              <a:lnSpc>
                <a:spcPts val="5915"/>
              </a:lnSpc>
            </a:pPr>
            <a:r>
              <a:rPr lang="en-US" sz="3500">
                <a:solidFill>
                  <a:srgbClr val="000000"/>
                </a:solidFill>
                <a:latin typeface="Inter"/>
                <a:ea typeface="Inter"/>
                <a:cs typeface="Inter"/>
                <a:sym typeface="Inter"/>
              </a:rPr>
              <a:t>- Polynomial Regression R2 Score: 0.83382</a:t>
            </a:r>
          </a:p>
          <a:p>
            <a:pPr algn="ctr">
              <a:lnSpc>
                <a:spcPts val="5915"/>
              </a:lnSpc>
            </a:pPr>
            <a:r>
              <a:rPr lang="en-US" sz="3500">
                <a:solidFill>
                  <a:srgbClr val="000000"/>
                </a:solidFill>
                <a:latin typeface="Inter"/>
                <a:ea typeface="Inter"/>
                <a:cs typeface="Inter"/>
                <a:sym typeface="Inter"/>
              </a:rPr>
              <a:t>- Decision Tree Regression R2 Score: 0,82526</a:t>
            </a:r>
          </a:p>
          <a:p>
            <a:pPr algn="ctr">
              <a:lnSpc>
                <a:spcPts val="5915"/>
              </a:lnSpc>
            </a:pPr>
            <a:r>
              <a:rPr lang="en-US" sz="3500">
                <a:solidFill>
                  <a:srgbClr val="000000"/>
                </a:solidFill>
                <a:latin typeface="Inter"/>
                <a:ea typeface="Inter"/>
                <a:cs typeface="Inter"/>
                <a:sym typeface="Inter"/>
              </a:rPr>
              <a:t>- Random Forest Regression R2 Score: 0.842</a:t>
            </a:r>
          </a:p>
          <a:p>
            <a:pPr algn="ctr">
              <a:lnSpc>
                <a:spcPts val="5915"/>
              </a:lnSpc>
            </a:pPr>
            <a:r>
              <a:rPr lang="en-US" sz="3500">
                <a:solidFill>
                  <a:srgbClr val="000000"/>
                </a:solidFill>
                <a:latin typeface="Inter"/>
                <a:ea typeface="Inter"/>
                <a:cs typeface="Inter"/>
                <a:sym typeface="Inter"/>
              </a:rPr>
              <a:t>- K-Nearest Neighbors Regression R2 Score: 0.84772</a:t>
            </a:r>
          </a:p>
          <a:p>
            <a:pPr algn="ctr">
              <a:lnSpc>
                <a:spcPts val="5915"/>
              </a:lnSpc>
            </a:pPr>
            <a:r>
              <a:rPr lang="en-US" sz="3500">
                <a:solidFill>
                  <a:srgbClr val="000000"/>
                </a:solidFill>
                <a:latin typeface="Inter"/>
                <a:ea typeface="Inter"/>
                <a:cs typeface="Inter"/>
                <a:sym typeface="Inter"/>
              </a:rPr>
              <a:t>- Super Vector Regression R2 Score: 0.832</a:t>
            </a:r>
          </a:p>
          <a:p>
            <a:pPr algn="ctr">
              <a:lnSpc>
                <a:spcPts val="5915"/>
              </a:lnSpc>
            </a:pP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45</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6148" y="460710"/>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710582" y="1404633"/>
            <a:ext cx="14866836" cy="800080"/>
          </a:xfrm>
          <a:prstGeom prst="rect">
            <a:avLst/>
          </a:prstGeom>
        </p:spPr>
        <p:txBody>
          <a:bodyPr anchor="t" rtlCol="false" tIns="0" lIns="0" bIns="0" rIns="0">
            <a:spAutoFit/>
          </a:bodyPr>
          <a:lstStyle/>
          <a:p>
            <a:pPr algn="l">
              <a:lnSpc>
                <a:spcPts val="5850"/>
              </a:lnSpc>
            </a:pPr>
            <a:r>
              <a:rPr lang="en-US" sz="6500" b="true">
                <a:solidFill>
                  <a:srgbClr val="1C4F64"/>
                </a:solidFill>
                <a:latin typeface="Cormorant Garamond Bold"/>
                <a:ea typeface="Cormorant Garamond Bold"/>
                <a:cs typeface="Cormorant Garamond Bold"/>
                <a:sym typeface="Cormorant Garamond Bold"/>
              </a:rPr>
              <a:t>Tìm hiểu mối quan hệ giữa giá gốc và giá bán</a:t>
            </a:r>
          </a:p>
        </p:txBody>
      </p:sp>
      <p:sp>
        <p:nvSpPr>
          <p:cNvPr name="TextBox 11" id="11"/>
          <p:cNvSpPr txBox="true"/>
          <p:nvPr/>
        </p:nvSpPr>
        <p:spPr>
          <a:xfrm rot="0">
            <a:off x="1700005" y="2814518"/>
            <a:ext cx="14877413" cy="5897079"/>
          </a:xfrm>
          <a:prstGeom prst="rect">
            <a:avLst/>
          </a:prstGeom>
        </p:spPr>
        <p:txBody>
          <a:bodyPr anchor="t" rtlCol="false" tIns="0" lIns="0" bIns="0" rIns="0">
            <a:spAutoFit/>
          </a:bodyPr>
          <a:lstStyle/>
          <a:p>
            <a:pPr algn="ctr">
              <a:lnSpc>
                <a:spcPts val="5915"/>
              </a:lnSpc>
            </a:pPr>
            <a:r>
              <a:rPr lang="en-US" sz="3500" b="true">
                <a:solidFill>
                  <a:srgbClr val="000000"/>
                </a:solidFill>
                <a:latin typeface="Inter Bold"/>
                <a:ea typeface="Inter Bold"/>
                <a:cs typeface="Inter Bold"/>
                <a:sym typeface="Inter Bold"/>
              </a:rPr>
              <a:t>Kết quả đánh giá MSE trên 6 mô hình</a:t>
            </a:r>
          </a:p>
          <a:p>
            <a:pPr algn="ctr">
              <a:lnSpc>
                <a:spcPts val="5915"/>
              </a:lnSpc>
            </a:pPr>
            <a:r>
              <a:rPr lang="en-US" sz="3500">
                <a:solidFill>
                  <a:srgbClr val="000000"/>
                </a:solidFill>
                <a:latin typeface="Inter"/>
                <a:ea typeface="Inter"/>
                <a:cs typeface="Inter"/>
                <a:sym typeface="Inter"/>
              </a:rPr>
              <a:t>- Linear Regression MSE: 4733.5092</a:t>
            </a:r>
          </a:p>
          <a:p>
            <a:pPr algn="ctr">
              <a:lnSpc>
                <a:spcPts val="5915"/>
              </a:lnSpc>
            </a:pPr>
            <a:r>
              <a:rPr lang="en-US" sz="3500">
                <a:solidFill>
                  <a:srgbClr val="000000"/>
                </a:solidFill>
                <a:latin typeface="Inter"/>
                <a:ea typeface="Inter"/>
                <a:cs typeface="Inter"/>
                <a:sym typeface="Inter"/>
              </a:rPr>
              <a:t>- Polynomial Regression MSE: 3519.8327</a:t>
            </a:r>
          </a:p>
          <a:p>
            <a:pPr algn="ctr">
              <a:lnSpc>
                <a:spcPts val="5915"/>
              </a:lnSpc>
            </a:pPr>
            <a:r>
              <a:rPr lang="en-US" sz="3500">
                <a:solidFill>
                  <a:srgbClr val="000000"/>
                </a:solidFill>
                <a:latin typeface="Inter"/>
                <a:ea typeface="Inter"/>
                <a:cs typeface="Inter"/>
                <a:sym typeface="Inter"/>
              </a:rPr>
              <a:t>- Decision Tree Regression MSE: 3701.15659</a:t>
            </a:r>
          </a:p>
          <a:p>
            <a:pPr algn="ctr">
              <a:lnSpc>
                <a:spcPts val="5915"/>
              </a:lnSpc>
            </a:pPr>
            <a:r>
              <a:rPr lang="en-US" sz="3500">
                <a:solidFill>
                  <a:srgbClr val="000000"/>
                </a:solidFill>
                <a:latin typeface="Inter"/>
                <a:ea typeface="Inter"/>
                <a:cs typeface="Inter"/>
                <a:sym typeface="Inter"/>
              </a:rPr>
              <a:t>- Random Forest Regression MSE: 3346.4529</a:t>
            </a:r>
          </a:p>
          <a:p>
            <a:pPr algn="ctr">
              <a:lnSpc>
                <a:spcPts val="5915"/>
              </a:lnSpc>
            </a:pPr>
            <a:r>
              <a:rPr lang="en-US" sz="3500">
                <a:solidFill>
                  <a:srgbClr val="000000"/>
                </a:solidFill>
                <a:latin typeface="Inter"/>
                <a:ea typeface="Inter"/>
                <a:cs typeface="Inter"/>
                <a:sym typeface="Inter"/>
              </a:rPr>
              <a:t>- K-Nearest Neighbors Regression MSE: 3225.4047</a:t>
            </a:r>
          </a:p>
          <a:p>
            <a:pPr algn="ctr">
              <a:lnSpc>
                <a:spcPts val="5915"/>
              </a:lnSpc>
            </a:pPr>
            <a:r>
              <a:rPr lang="en-US" sz="3500">
                <a:solidFill>
                  <a:srgbClr val="000000"/>
                </a:solidFill>
                <a:latin typeface="Inter"/>
                <a:ea typeface="Inter"/>
                <a:cs typeface="Inter"/>
                <a:sym typeface="Inter"/>
              </a:rPr>
              <a:t>- Super Vector Regression MSE: 3556.8587</a:t>
            </a:r>
          </a:p>
          <a:p>
            <a:pPr algn="ctr">
              <a:lnSpc>
                <a:spcPts val="5915"/>
              </a:lnSpc>
            </a:pP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46</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384030" y="2285565"/>
            <a:ext cx="9428239" cy="5715870"/>
          </a:xfrm>
          <a:custGeom>
            <a:avLst/>
            <a:gdLst/>
            <a:ahLst/>
            <a:cxnLst/>
            <a:rect r="r" b="b" t="t" l="l"/>
            <a:pathLst>
              <a:path h="5715870" w="9428239">
                <a:moveTo>
                  <a:pt x="0" y="0"/>
                </a:moveTo>
                <a:lnTo>
                  <a:pt x="9428239" y="0"/>
                </a:lnTo>
                <a:lnTo>
                  <a:pt x="9428239" y="5715870"/>
                </a:lnTo>
                <a:lnTo>
                  <a:pt x="0" y="5715870"/>
                </a:lnTo>
                <a:lnTo>
                  <a:pt x="0" y="0"/>
                </a:lnTo>
                <a:close/>
              </a:path>
            </a:pathLst>
          </a:custGeom>
          <a:blipFill>
            <a:blip r:embed="rId6"/>
            <a:stretch>
              <a:fillRect l="0" t="0" r="0" b="0"/>
            </a:stretch>
          </a:blipFill>
        </p:spPr>
      </p:sp>
      <p:sp>
        <p:nvSpPr>
          <p:cNvPr name="TextBox 11" id="11"/>
          <p:cNvSpPr txBox="true"/>
          <p:nvPr/>
        </p:nvSpPr>
        <p:spPr>
          <a:xfrm rot="0">
            <a:off x="1028700" y="8470043"/>
            <a:ext cx="16018420"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hồi quy đa thức quan hệ giữa total_sold và favorite</a:t>
            </a:r>
          </a:p>
        </p:txBody>
      </p:sp>
      <p:sp>
        <p:nvSpPr>
          <p:cNvPr name="TextBox 12" id="12"/>
          <p:cNvSpPr txBox="true"/>
          <p:nvPr/>
        </p:nvSpPr>
        <p:spPr>
          <a:xfrm rot="0">
            <a:off x="1475731" y="1289643"/>
            <a:ext cx="15336538" cy="742972"/>
          </a:xfrm>
          <a:prstGeom prst="rect">
            <a:avLst/>
          </a:prstGeom>
        </p:spPr>
        <p:txBody>
          <a:bodyPr anchor="t" rtlCol="false" tIns="0" lIns="0" bIns="0" rIns="0">
            <a:spAutoFit/>
          </a:bodyPr>
          <a:lstStyle/>
          <a:p>
            <a:pPr algn="l">
              <a:lnSpc>
                <a:spcPts val="5400"/>
              </a:lnSpc>
            </a:pPr>
            <a:r>
              <a:rPr lang="en-US" sz="6000" b="true">
                <a:solidFill>
                  <a:srgbClr val="1C4F64"/>
                </a:solidFill>
                <a:latin typeface="Cormorant Garamond Bold"/>
                <a:ea typeface="Cormorant Garamond Bold"/>
                <a:cs typeface="Cormorant Garamond Bold"/>
                <a:sym typeface="Cormorant Garamond Bold"/>
              </a:rPr>
              <a:t>Tìm hiểu mối quan hệ giữa số lượt thích và giá bán</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47</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321303" y="2396221"/>
            <a:ext cx="9490965" cy="5991172"/>
          </a:xfrm>
          <a:custGeom>
            <a:avLst/>
            <a:gdLst/>
            <a:ahLst/>
            <a:cxnLst/>
            <a:rect r="r" b="b" t="t" l="l"/>
            <a:pathLst>
              <a:path h="5991172" w="9490965">
                <a:moveTo>
                  <a:pt x="0" y="0"/>
                </a:moveTo>
                <a:lnTo>
                  <a:pt x="9490966" y="0"/>
                </a:lnTo>
                <a:lnTo>
                  <a:pt x="9490966" y="5991172"/>
                </a:lnTo>
                <a:lnTo>
                  <a:pt x="0" y="5991172"/>
                </a:lnTo>
                <a:lnTo>
                  <a:pt x="0" y="0"/>
                </a:lnTo>
                <a:close/>
              </a:path>
            </a:pathLst>
          </a:custGeom>
          <a:blipFill>
            <a:blip r:embed="rId6"/>
            <a:stretch>
              <a:fillRect l="0" t="0" r="0" b="0"/>
            </a:stretch>
          </a:blipFill>
        </p:spPr>
      </p:sp>
      <p:sp>
        <p:nvSpPr>
          <p:cNvPr name="TextBox 11" id="11"/>
          <p:cNvSpPr txBox="true"/>
          <p:nvPr/>
        </p:nvSpPr>
        <p:spPr>
          <a:xfrm rot="0">
            <a:off x="1475731" y="1289643"/>
            <a:ext cx="15336538" cy="742972"/>
          </a:xfrm>
          <a:prstGeom prst="rect">
            <a:avLst/>
          </a:prstGeom>
        </p:spPr>
        <p:txBody>
          <a:bodyPr anchor="t" rtlCol="false" tIns="0" lIns="0" bIns="0" rIns="0">
            <a:spAutoFit/>
          </a:bodyPr>
          <a:lstStyle/>
          <a:p>
            <a:pPr algn="l">
              <a:lnSpc>
                <a:spcPts val="5400"/>
              </a:lnSpc>
            </a:pPr>
            <a:r>
              <a:rPr lang="en-US" sz="6000" b="true">
                <a:solidFill>
                  <a:srgbClr val="1C4F64"/>
                </a:solidFill>
                <a:latin typeface="Cormorant Garamond Bold"/>
                <a:ea typeface="Cormorant Garamond Bold"/>
                <a:cs typeface="Cormorant Garamond Bold"/>
                <a:sym typeface="Cormorant Garamond Bold"/>
              </a:rPr>
              <a:t>Tìm hiểu mối quan hệ giữa số lượt thích và giá bán</a:t>
            </a:r>
          </a:p>
        </p:txBody>
      </p:sp>
      <p:sp>
        <p:nvSpPr>
          <p:cNvPr name="TextBox 12" id="12"/>
          <p:cNvSpPr txBox="true"/>
          <p:nvPr/>
        </p:nvSpPr>
        <p:spPr>
          <a:xfrm rot="0">
            <a:off x="1028700" y="8674800"/>
            <a:ext cx="16018420"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Decision Tree quan hệ giữa total_sold và favorite</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48</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5550446" y="2261092"/>
            <a:ext cx="11301259" cy="5933161"/>
          </a:xfrm>
          <a:custGeom>
            <a:avLst/>
            <a:gdLst/>
            <a:ahLst/>
            <a:cxnLst/>
            <a:rect r="r" b="b" t="t" l="l"/>
            <a:pathLst>
              <a:path h="5933161" w="11301259">
                <a:moveTo>
                  <a:pt x="0" y="0"/>
                </a:moveTo>
                <a:lnTo>
                  <a:pt x="11301259" y="0"/>
                </a:lnTo>
                <a:lnTo>
                  <a:pt x="11301259" y="5933161"/>
                </a:lnTo>
                <a:lnTo>
                  <a:pt x="0" y="5933161"/>
                </a:lnTo>
                <a:lnTo>
                  <a:pt x="0" y="0"/>
                </a:lnTo>
                <a:close/>
              </a:path>
            </a:pathLst>
          </a:custGeom>
          <a:blipFill>
            <a:blip r:embed="rId6"/>
            <a:stretch>
              <a:fillRect l="0" t="0" r="0" b="0"/>
            </a:stretch>
          </a:blipFill>
        </p:spPr>
      </p:sp>
      <p:sp>
        <p:nvSpPr>
          <p:cNvPr name="TextBox 11" id="11"/>
          <p:cNvSpPr txBox="true"/>
          <p:nvPr/>
        </p:nvSpPr>
        <p:spPr>
          <a:xfrm rot="0">
            <a:off x="1475731" y="1289643"/>
            <a:ext cx="15336538" cy="742972"/>
          </a:xfrm>
          <a:prstGeom prst="rect">
            <a:avLst/>
          </a:prstGeom>
        </p:spPr>
        <p:txBody>
          <a:bodyPr anchor="t" rtlCol="false" tIns="0" lIns="0" bIns="0" rIns="0">
            <a:spAutoFit/>
          </a:bodyPr>
          <a:lstStyle/>
          <a:p>
            <a:pPr algn="l">
              <a:lnSpc>
                <a:spcPts val="5400"/>
              </a:lnSpc>
            </a:pPr>
            <a:r>
              <a:rPr lang="en-US" sz="6000" b="true">
                <a:solidFill>
                  <a:srgbClr val="1C4F64"/>
                </a:solidFill>
                <a:latin typeface="Cormorant Garamond Bold"/>
                <a:ea typeface="Cormorant Garamond Bold"/>
                <a:cs typeface="Cormorant Garamond Bold"/>
                <a:sym typeface="Cormorant Garamond Bold"/>
              </a:rPr>
              <a:t>Tìm hiểu mối quan hệ giữa số lượt thích và giá bán</a:t>
            </a:r>
          </a:p>
        </p:txBody>
      </p:sp>
      <p:sp>
        <p:nvSpPr>
          <p:cNvPr name="TextBox 12" id="12"/>
          <p:cNvSpPr txBox="true"/>
          <p:nvPr/>
        </p:nvSpPr>
        <p:spPr>
          <a:xfrm rot="0">
            <a:off x="1240880" y="8651264"/>
            <a:ext cx="16018420"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Random Forest mối quan hệ price_ori và price_actual</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49</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7784046" y="2502776"/>
            <a:ext cx="9028222" cy="5778062"/>
          </a:xfrm>
          <a:custGeom>
            <a:avLst/>
            <a:gdLst/>
            <a:ahLst/>
            <a:cxnLst/>
            <a:rect r="r" b="b" t="t" l="l"/>
            <a:pathLst>
              <a:path h="5778062" w="9028222">
                <a:moveTo>
                  <a:pt x="0" y="0"/>
                </a:moveTo>
                <a:lnTo>
                  <a:pt x="9028223" y="0"/>
                </a:lnTo>
                <a:lnTo>
                  <a:pt x="9028223" y="5778063"/>
                </a:lnTo>
                <a:lnTo>
                  <a:pt x="0" y="5778063"/>
                </a:lnTo>
                <a:lnTo>
                  <a:pt x="0" y="0"/>
                </a:lnTo>
                <a:close/>
              </a:path>
            </a:pathLst>
          </a:custGeom>
          <a:blipFill>
            <a:blip r:embed="rId6"/>
            <a:stretch>
              <a:fillRect l="0" t="0" r="0" b="0"/>
            </a:stretch>
          </a:blipFill>
        </p:spPr>
      </p:sp>
      <p:sp>
        <p:nvSpPr>
          <p:cNvPr name="TextBox 11" id="11"/>
          <p:cNvSpPr txBox="true"/>
          <p:nvPr/>
        </p:nvSpPr>
        <p:spPr>
          <a:xfrm rot="0">
            <a:off x="1475731" y="1289643"/>
            <a:ext cx="15336538" cy="742972"/>
          </a:xfrm>
          <a:prstGeom prst="rect">
            <a:avLst/>
          </a:prstGeom>
        </p:spPr>
        <p:txBody>
          <a:bodyPr anchor="t" rtlCol="false" tIns="0" lIns="0" bIns="0" rIns="0">
            <a:spAutoFit/>
          </a:bodyPr>
          <a:lstStyle/>
          <a:p>
            <a:pPr algn="l">
              <a:lnSpc>
                <a:spcPts val="5400"/>
              </a:lnSpc>
            </a:pPr>
            <a:r>
              <a:rPr lang="en-US" sz="6000" b="true">
                <a:solidFill>
                  <a:srgbClr val="1C4F64"/>
                </a:solidFill>
                <a:latin typeface="Cormorant Garamond Bold"/>
                <a:ea typeface="Cormorant Garamond Bold"/>
                <a:cs typeface="Cormorant Garamond Bold"/>
                <a:sym typeface="Cormorant Garamond Bold"/>
              </a:rPr>
              <a:t>Tìm hiểu mối quan hệ giữa số lượt thích và giá bán</a:t>
            </a:r>
          </a:p>
        </p:txBody>
      </p:sp>
      <p:sp>
        <p:nvSpPr>
          <p:cNvPr name="TextBox 12" id="12"/>
          <p:cNvSpPr txBox="true"/>
          <p:nvPr/>
        </p:nvSpPr>
        <p:spPr>
          <a:xfrm rot="0">
            <a:off x="1028700" y="8674800"/>
            <a:ext cx="16018420"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KNN mối quan hệ total_sold và favorite</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50</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5745861" y="2375784"/>
            <a:ext cx="11301259" cy="6032047"/>
          </a:xfrm>
          <a:custGeom>
            <a:avLst/>
            <a:gdLst/>
            <a:ahLst/>
            <a:cxnLst/>
            <a:rect r="r" b="b" t="t" l="l"/>
            <a:pathLst>
              <a:path h="6032047" w="11301259">
                <a:moveTo>
                  <a:pt x="0" y="0"/>
                </a:moveTo>
                <a:lnTo>
                  <a:pt x="11301259" y="0"/>
                </a:lnTo>
                <a:lnTo>
                  <a:pt x="11301259" y="6032047"/>
                </a:lnTo>
                <a:lnTo>
                  <a:pt x="0" y="6032047"/>
                </a:lnTo>
                <a:lnTo>
                  <a:pt x="0" y="0"/>
                </a:lnTo>
                <a:close/>
              </a:path>
            </a:pathLst>
          </a:custGeom>
          <a:blipFill>
            <a:blip r:embed="rId6"/>
            <a:stretch>
              <a:fillRect l="0" t="0" r="0" b="0"/>
            </a:stretch>
          </a:blipFill>
        </p:spPr>
      </p:sp>
      <p:sp>
        <p:nvSpPr>
          <p:cNvPr name="TextBox 11" id="11"/>
          <p:cNvSpPr txBox="true"/>
          <p:nvPr/>
        </p:nvSpPr>
        <p:spPr>
          <a:xfrm rot="0">
            <a:off x="1475731" y="1289643"/>
            <a:ext cx="15336538" cy="742972"/>
          </a:xfrm>
          <a:prstGeom prst="rect">
            <a:avLst/>
          </a:prstGeom>
        </p:spPr>
        <p:txBody>
          <a:bodyPr anchor="t" rtlCol="false" tIns="0" lIns="0" bIns="0" rIns="0">
            <a:spAutoFit/>
          </a:bodyPr>
          <a:lstStyle/>
          <a:p>
            <a:pPr algn="l">
              <a:lnSpc>
                <a:spcPts val="5400"/>
              </a:lnSpc>
            </a:pPr>
            <a:r>
              <a:rPr lang="en-US" sz="6000" b="true">
                <a:solidFill>
                  <a:srgbClr val="1C4F64"/>
                </a:solidFill>
                <a:latin typeface="Cormorant Garamond Bold"/>
                <a:ea typeface="Cormorant Garamond Bold"/>
                <a:cs typeface="Cormorant Garamond Bold"/>
                <a:sym typeface="Cormorant Garamond Bold"/>
              </a:rPr>
              <a:t>Tìm hiểu mối quan hệ giữa số lượt thích và giá bán</a:t>
            </a:r>
          </a:p>
        </p:txBody>
      </p:sp>
      <p:sp>
        <p:nvSpPr>
          <p:cNvPr name="TextBox 12" id="12"/>
          <p:cNvSpPr txBox="true"/>
          <p:nvPr/>
        </p:nvSpPr>
        <p:spPr>
          <a:xfrm rot="0">
            <a:off x="1066800" y="8674800"/>
            <a:ext cx="16018420" cy="607036"/>
          </a:xfrm>
          <a:prstGeom prst="rect">
            <a:avLst/>
          </a:prstGeom>
        </p:spPr>
        <p:txBody>
          <a:bodyPr anchor="t" rtlCol="false" tIns="0" lIns="0" bIns="0" rIns="0">
            <a:spAutoFit/>
          </a:bodyPr>
          <a:lstStyle/>
          <a:p>
            <a:pPr algn="ctr">
              <a:lnSpc>
                <a:spcPts val="4970"/>
              </a:lnSpc>
            </a:pPr>
            <a:r>
              <a:rPr lang="en-US" sz="3500">
                <a:solidFill>
                  <a:srgbClr val="000000"/>
                </a:solidFill>
                <a:latin typeface="Inter"/>
                <a:ea typeface="Inter"/>
                <a:cs typeface="Inter"/>
                <a:sym typeface="Inter"/>
              </a:rPr>
              <a:t>Biểu đồ scatter SVR thể hiện mối quan hệ giữa total_sold và favorite</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51</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475731" y="1746854"/>
            <a:ext cx="15336538" cy="742972"/>
          </a:xfrm>
          <a:prstGeom prst="rect">
            <a:avLst/>
          </a:prstGeom>
        </p:spPr>
        <p:txBody>
          <a:bodyPr anchor="t" rtlCol="false" tIns="0" lIns="0" bIns="0" rIns="0">
            <a:spAutoFit/>
          </a:bodyPr>
          <a:lstStyle/>
          <a:p>
            <a:pPr algn="l">
              <a:lnSpc>
                <a:spcPts val="5400"/>
              </a:lnSpc>
            </a:pPr>
            <a:r>
              <a:rPr lang="en-US" sz="6000" b="true">
                <a:solidFill>
                  <a:srgbClr val="1C4F64"/>
                </a:solidFill>
                <a:latin typeface="Cormorant Garamond Bold"/>
                <a:ea typeface="Cormorant Garamond Bold"/>
                <a:cs typeface="Cormorant Garamond Bold"/>
                <a:sym typeface="Cormorant Garamond Bold"/>
              </a:rPr>
              <a:t>Tìm hiểu mối quan hệ giữa số lượt thích và giá bán</a:t>
            </a:r>
          </a:p>
        </p:txBody>
      </p:sp>
      <p:sp>
        <p:nvSpPr>
          <p:cNvPr name="TextBox 11" id="11"/>
          <p:cNvSpPr txBox="true"/>
          <p:nvPr/>
        </p:nvSpPr>
        <p:spPr>
          <a:xfrm rot="0">
            <a:off x="1134790" y="2591069"/>
            <a:ext cx="16018420" cy="5919348"/>
          </a:xfrm>
          <a:prstGeom prst="rect">
            <a:avLst/>
          </a:prstGeom>
        </p:spPr>
        <p:txBody>
          <a:bodyPr anchor="t" rtlCol="false" tIns="0" lIns="0" bIns="0" rIns="0">
            <a:spAutoFit/>
          </a:bodyPr>
          <a:lstStyle/>
          <a:p>
            <a:pPr algn="ctr">
              <a:lnSpc>
                <a:spcPts val="6790"/>
              </a:lnSpc>
            </a:pPr>
            <a:r>
              <a:rPr lang="en-US" sz="3500" b="true">
                <a:solidFill>
                  <a:srgbClr val="000000"/>
                </a:solidFill>
                <a:latin typeface="Inter Bold"/>
                <a:ea typeface="Inter Bold"/>
                <a:cs typeface="Inter Bold"/>
                <a:sym typeface="Inter Bold"/>
              </a:rPr>
              <a:t>Kết quả đánh giá R2 Score trên 6 mô hình:</a:t>
            </a:r>
          </a:p>
          <a:p>
            <a:pPr algn="ctr">
              <a:lnSpc>
                <a:spcPts val="6790"/>
              </a:lnSpc>
            </a:pPr>
            <a:r>
              <a:rPr lang="en-US" sz="3500">
                <a:solidFill>
                  <a:srgbClr val="000000"/>
                </a:solidFill>
                <a:latin typeface="Inter"/>
                <a:ea typeface="Inter"/>
                <a:cs typeface="Inter"/>
                <a:sym typeface="Inter"/>
              </a:rPr>
              <a:t>- Linear Regression R2 Score: : 0.37393</a:t>
            </a:r>
          </a:p>
          <a:p>
            <a:pPr algn="ctr">
              <a:lnSpc>
                <a:spcPts val="6790"/>
              </a:lnSpc>
            </a:pPr>
            <a:r>
              <a:rPr lang="en-US" sz="3500">
                <a:solidFill>
                  <a:srgbClr val="000000"/>
                </a:solidFill>
                <a:latin typeface="Inter"/>
                <a:ea typeface="Inter"/>
                <a:cs typeface="Inter"/>
                <a:sym typeface="Inter"/>
              </a:rPr>
              <a:t>- Polynomial Regression R2 Score: 0.4381</a:t>
            </a:r>
          </a:p>
          <a:p>
            <a:pPr algn="ctr">
              <a:lnSpc>
                <a:spcPts val="6790"/>
              </a:lnSpc>
            </a:pPr>
            <a:r>
              <a:rPr lang="en-US" sz="3500">
                <a:solidFill>
                  <a:srgbClr val="000000"/>
                </a:solidFill>
                <a:latin typeface="Inter"/>
                <a:ea typeface="Inter"/>
                <a:cs typeface="Inter"/>
                <a:sym typeface="Inter"/>
              </a:rPr>
              <a:t>- Decision Tree Regression R2 Score: 0,43561</a:t>
            </a:r>
          </a:p>
          <a:p>
            <a:pPr algn="ctr">
              <a:lnSpc>
                <a:spcPts val="6790"/>
              </a:lnSpc>
            </a:pPr>
            <a:r>
              <a:rPr lang="en-US" sz="3500">
                <a:solidFill>
                  <a:srgbClr val="000000"/>
                </a:solidFill>
                <a:latin typeface="Inter"/>
                <a:ea typeface="Inter"/>
                <a:cs typeface="Inter"/>
                <a:sym typeface="Inter"/>
              </a:rPr>
              <a:t>- Random Forest Regression R2 Score: 0.404928</a:t>
            </a:r>
          </a:p>
          <a:p>
            <a:pPr algn="ctr">
              <a:lnSpc>
                <a:spcPts val="6790"/>
              </a:lnSpc>
            </a:pPr>
            <a:r>
              <a:rPr lang="en-US" sz="3500">
                <a:solidFill>
                  <a:srgbClr val="000000"/>
                </a:solidFill>
                <a:latin typeface="Inter"/>
                <a:ea typeface="Inter"/>
                <a:cs typeface="Inter"/>
                <a:sym typeface="Inter"/>
              </a:rPr>
              <a:t>- K-Nearest Neighbors Regression R2 Score: 0.42916</a:t>
            </a:r>
          </a:p>
          <a:p>
            <a:pPr algn="ctr">
              <a:lnSpc>
                <a:spcPts val="6790"/>
              </a:lnSpc>
            </a:pPr>
            <a:r>
              <a:rPr lang="en-US" sz="3500">
                <a:solidFill>
                  <a:srgbClr val="000000"/>
                </a:solidFill>
                <a:latin typeface="Inter"/>
                <a:ea typeface="Inter"/>
                <a:cs typeface="Inter"/>
                <a:sym typeface="Inter"/>
              </a:rPr>
              <a:t>- Super Vector Regression R2 Score: 0.4062</a:t>
            </a: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52</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5618548" y="1028700"/>
            <a:ext cx="11640752" cy="7682896"/>
          </a:xfrm>
          <a:custGeom>
            <a:avLst/>
            <a:gdLst/>
            <a:ahLst/>
            <a:cxnLst/>
            <a:rect r="r" b="b" t="t" l="l"/>
            <a:pathLst>
              <a:path h="7682896" w="11640752">
                <a:moveTo>
                  <a:pt x="0" y="0"/>
                </a:moveTo>
                <a:lnTo>
                  <a:pt x="11640752" y="0"/>
                </a:lnTo>
                <a:lnTo>
                  <a:pt x="11640752" y="7682896"/>
                </a:lnTo>
                <a:lnTo>
                  <a:pt x="0" y="7682896"/>
                </a:lnTo>
                <a:lnTo>
                  <a:pt x="0" y="0"/>
                </a:lnTo>
                <a:close/>
              </a:path>
            </a:pathLst>
          </a:custGeom>
          <a:blipFill>
            <a:blip r:embed="rId6"/>
            <a:stretch>
              <a:fillRect l="0" t="0" r="0" b="0"/>
            </a:stretch>
          </a:blipFill>
        </p:spPr>
      </p:sp>
      <p:sp>
        <p:nvSpPr>
          <p:cNvPr name="TextBox 11" id="11"/>
          <p:cNvSpPr txBox="true"/>
          <p:nvPr/>
        </p:nvSpPr>
        <p:spPr>
          <a:xfrm rot="0">
            <a:off x="1277274" y="2732164"/>
            <a:ext cx="3921407" cy="5210091"/>
          </a:xfrm>
          <a:prstGeom prst="rect">
            <a:avLst/>
          </a:prstGeom>
        </p:spPr>
        <p:txBody>
          <a:bodyPr anchor="t" rtlCol="false" tIns="0" lIns="0" bIns="0" rIns="0">
            <a:spAutoFit/>
          </a:bodyPr>
          <a:lstStyle/>
          <a:p>
            <a:pPr algn="ctr">
              <a:lnSpc>
                <a:spcPts val="6750"/>
              </a:lnSpc>
            </a:pPr>
            <a:r>
              <a:rPr lang="en-US" sz="7500" b="true">
                <a:solidFill>
                  <a:srgbClr val="000000"/>
                </a:solidFill>
                <a:latin typeface="Cormorant Garamond Bold"/>
                <a:ea typeface="Cormorant Garamond Bold"/>
                <a:cs typeface="Cormorant Garamond Bold"/>
                <a:sym typeface="Cormorant Garamond Bold"/>
              </a:rPr>
              <a:t>Mối quan hệ của cột category1</a:t>
            </a:r>
            <a:r>
              <a:rPr lang="en-US" sz="7500" b="true">
                <a:solidFill>
                  <a:srgbClr val="1C4F64"/>
                </a:solidFill>
                <a:latin typeface="Cormorant Garamond Bold"/>
                <a:ea typeface="Cormorant Garamond Bold"/>
                <a:cs typeface="Cormorant Garamond Bold"/>
                <a:sym typeface="Cormorant Garamond Bold"/>
              </a:rPr>
              <a:t> </a:t>
            </a:r>
            <a:r>
              <a:rPr lang="en-US" sz="7500" b="true">
                <a:solidFill>
                  <a:srgbClr val="2B7695"/>
                </a:solidFill>
                <a:latin typeface="Cormorant Garamond Bold"/>
                <a:ea typeface="Cormorant Garamond Bold"/>
                <a:cs typeface="Cormorant Garamond Bold"/>
                <a:sym typeface="Cormorant Garamond Bold"/>
              </a:rPr>
              <a:t>với những cột khác</a:t>
            </a:r>
          </a:p>
          <a:p>
            <a:pPr algn="ctr">
              <a:lnSpc>
                <a:spcPts val="6750"/>
              </a:lnSpc>
            </a:pPr>
          </a:p>
        </p:txBody>
      </p:sp>
      <p:sp>
        <p:nvSpPr>
          <p:cNvPr name="TextBox 12" id="12"/>
          <p:cNvSpPr txBox="true"/>
          <p:nvPr/>
        </p:nvSpPr>
        <p:spPr>
          <a:xfrm rot="0">
            <a:off x="1621059" y="8725621"/>
            <a:ext cx="15638241" cy="1255333"/>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số lượt bán của từng loại sản phẩm</a:t>
            </a:r>
          </a:p>
          <a:p>
            <a:pPr algn="ctr">
              <a:lnSpc>
                <a:spcPts val="5040"/>
              </a:lnSpc>
            </a:pP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53</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5655034" y="1791994"/>
            <a:ext cx="11604266" cy="6150261"/>
          </a:xfrm>
          <a:custGeom>
            <a:avLst/>
            <a:gdLst/>
            <a:ahLst/>
            <a:cxnLst/>
            <a:rect r="r" b="b" t="t" l="l"/>
            <a:pathLst>
              <a:path h="6150261" w="11604266">
                <a:moveTo>
                  <a:pt x="0" y="0"/>
                </a:moveTo>
                <a:lnTo>
                  <a:pt x="11604266" y="0"/>
                </a:lnTo>
                <a:lnTo>
                  <a:pt x="11604266" y="6150261"/>
                </a:lnTo>
                <a:lnTo>
                  <a:pt x="0" y="6150261"/>
                </a:lnTo>
                <a:lnTo>
                  <a:pt x="0" y="0"/>
                </a:lnTo>
                <a:close/>
              </a:path>
            </a:pathLst>
          </a:custGeom>
          <a:blipFill>
            <a:blip r:embed="rId6"/>
            <a:stretch>
              <a:fillRect l="0" t="0" r="0" b="0"/>
            </a:stretch>
          </a:blipFill>
        </p:spPr>
      </p:sp>
      <p:sp>
        <p:nvSpPr>
          <p:cNvPr name="TextBox 11" id="11"/>
          <p:cNvSpPr txBox="true"/>
          <p:nvPr/>
        </p:nvSpPr>
        <p:spPr>
          <a:xfrm rot="0">
            <a:off x="1277274" y="2732164"/>
            <a:ext cx="3921407" cy="5210091"/>
          </a:xfrm>
          <a:prstGeom prst="rect">
            <a:avLst/>
          </a:prstGeom>
        </p:spPr>
        <p:txBody>
          <a:bodyPr anchor="t" rtlCol="false" tIns="0" lIns="0" bIns="0" rIns="0">
            <a:spAutoFit/>
          </a:bodyPr>
          <a:lstStyle/>
          <a:p>
            <a:pPr algn="ctr">
              <a:lnSpc>
                <a:spcPts val="6750"/>
              </a:lnSpc>
            </a:pPr>
            <a:r>
              <a:rPr lang="en-US" sz="7500" b="true">
                <a:solidFill>
                  <a:srgbClr val="000000"/>
                </a:solidFill>
                <a:latin typeface="Cormorant Garamond Bold"/>
                <a:ea typeface="Cormorant Garamond Bold"/>
                <a:cs typeface="Cormorant Garamond Bold"/>
                <a:sym typeface="Cormorant Garamond Bold"/>
              </a:rPr>
              <a:t>Mối quan hệ của cột category1</a:t>
            </a:r>
            <a:r>
              <a:rPr lang="en-US" sz="7500" b="true">
                <a:solidFill>
                  <a:srgbClr val="1C4F64"/>
                </a:solidFill>
                <a:latin typeface="Cormorant Garamond Bold"/>
                <a:ea typeface="Cormorant Garamond Bold"/>
                <a:cs typeface="Cormorant Garamond Bold"/>
                <a:sym typeface="Cormorant Garamond Bold"/>
              </a:rPr>
              <a:t> </a:t>
            </a:r>
            <a:r>
              <a:rPr lang="en-US" sz="7500" b="true">
                <a:solidFill>
                  <a:srgbClr val="2B7695"/>
                </a:solidFill>
                <a:latin typeface="Cormorant Garamond Bold"/>
                <a:ea typeface="Cormorant Garamond Bold"/>
                <a:cs typeface="Cormorant Garamond Bold"/>
                <a:sym typeface="Cormorant Garamond Bold"/>
              </a:rPr>
              <a:t>với những cột khác</a:t>
            </a:r>
          </a:p>
          <a:p>
            <a:pPr algn="ctr">
              <a:lnSpc>
                <a:spcPts val="6750"/>
              </a:lnSpc>
            </a:pPr>
          </a:p>
        </p:txBody>
      </p:sp>
      <p:sp>
        <p:nvSpPr>
          <p:cNvPr name="TextBox 12" id="12"/>
          <p:cNvSpPr txBox="true"/>
          <p:nvPr/>
        </p:nvSpPr>
        <p:spPr>
          <a:xfrm rot="0">
            <a:off x="1621059" y="8393524"/>
            <a:ext cx="15638241" cy="1893476"/>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phân phối số lượt bán và giá bán trung bình của từng loại sản phẩm</a:t>
            </a:r>
          </a:p>
          <a:p>
            <a:pPr algn="ctr">
              <a:lnSpc>
                <a:spcPts val="5040"/>
              </a:lnSpc>
            </a:pP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54</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5537820" y="1575404"/>
            <a:ext cx="11845305" cy="6366851"/>
          </a:xfrm>
          <a:custGeom>
            <a:avLst/>
            <a:gdLst/>
            <a:ahLst/>
            <a:cxnLst/>
            <a:rect r="r" b="b" t="t" l="l"/>
            <a:pathLst>
              <a:path h="6366851" w="11845305">
                <a:moveTo>
                  <a:pt x="0" y="0"/>
                </a:moveTo>
                <a:lnTo>
                  <a:pt x="11845305" y="0"/>
                </a:lnTo>
                <a:lnTo>
                  <a:pt x="11845305" y="6366851"/>
                </a:lnTo>
                <a:lnTo>
                  <a:pt x="0" y="6366851"/>
                </a:lnTo>
                <a:lnTo>
                  <a:pt x="0" y="0"/>
                </a:lnTo>
                <a:close/>
              </a:path>
            </a:pathLst>
          </a:custGeom>
          <a:blipFill>
            <a:blip r:embed="rId6"/>
            <a:stretch>
              <a:fillRect l="0" t="0" r="0" b="0"/>
            </a:stretch>
          </a:blipFill>
        </p:spPr>
      </p:sp>
      <p:sp>
        <p:nvSpPr>
          <p:cNvPr name="TextBox 11" id="11"/>
          <p:cNvSpPr txBox="true"/>
          <p:nvPr/>
        </p:nvSpPr>
        <p:spPr>
          <a:xfrm rot="0">
            <a:off x="1277274" y="2732164"/>
            <a:ext cx="3921407" cy="5210091"/>
          </a:xfrm>
          <a:prstGeom prst="rect">
            <a:avLst/>
          </a:prstGeom>
        </p:spPr>
        <p:txBody>
          <a:bodyPr anchor="t" rtlCol="false" tIns="0" lIns="0" bIns="0" rIns="0">
            <a:spAutoFit/>
          </a:bodyPr>
          <a:lstStyle/>
          <a:p>
            <a:pPr algn="ctr">
              <a:lnSpc>
                <a:spcPts val="6750"/>
              </a:lnSpc>
            </a:pPr>
            <a:r>
              <a:rPr lang="en-US" sz="7500" b="true">
                <a:solidFill>
                  <a:srgbClr val="000000"/>
                </a:solidFill>
                <a:latin typeface="Cormorant Garamond Bold"/>
                <a:ea typeface="Cormorant Garamond Bold"/>
                <a:cs typeface="Cormorant Garamond Bold"/>
                <a:sym typeface="Cormorant Garamond Bold"/>
              </a:rPr>
              <a:t>Mối quan hệ của cột category1</a:t>
            </a:r>
            <a:r>
              <a:rPr lang="en-US" sz="7500" b="true">
                <a:solidFill>
                  <a:srgbClr val="1C4F64"/>
                </a:solidFill>
                <a:latin typeface="Cormorant Garamond Bold"/>
                <a:ea typeface="Cormorant Garamond Bold"/>
                <a:cs typeface="Cormorant Garamond Bold"/>
                <a:sym typeface="Cormorant Garamond Bold"/>
              </a:rPr>
              <a:t> </a:t>
            </a:r>
            <a:r>
              <a:rPr lang="en-US" sz="7500" b="true">
                <a:solidFill>
                  <a:srgbClr val="2B7695"/>
                </a:solidFill>
                <a:latin typeface="Cormorant Garamond Bold"/>
                <a:ea typeface="Cormorant Garamond Bold"/>
                <a:cs typeface="Cormorant Garamond Bold"/>
                <a:sym typeface="Cormorant Garamond Bold"/>
              </a:rPr>
              <a:t>với những cột khác</a:t>
            </a:r>
          </a:p>
          <a:p>
            <a:pPr algn="ctr">
              <a:lnSpc>
                <a:spcPts val="6750"/>
              </a:lnSpc>
            </a:pPr>
          </a:p>
        </p:txBody>
      </p:sp>
      <p:sp>
        <p:nvSpPr>
          <p:cNvPr name="TextBox 12" id="12"/>
          <p:cNvSpPr txBox="true"/>
          <p:nvPr/>
        </p:nvSpPr>
        <p:spPr>
          <a:xfrm rot="0">
            <a:off x="1621059" y="8230599"/>
            <a:ext cx="15638241" cy="1893476"/>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phân phối số lượt bán và số lượt thích trung bình của từng loại sản phẩm</a:t>
            </a:r>
          </a:p>
          <a:p>
            <a:pPr algn="ctr">
              <a:lnSpc>
                <a:spcPts val="5040"/>
              </a:lnSpc>
            </a:pP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55</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5554731" y="1927378"/>
            <a:ext cx="11704569" cy="5515778"/>
          </a:xfrm>
          <a:custGeom>
            <a:avLst/>
            <a:gdLst/>
            <a:ahLst/>
            <a:cxnLst/>
            <a:rect r="r" b="b" t="t" l="l"/>
            <a:pathLst>
              <a:path h="5515778" w="11704569">
                <a:moveTo>
                  <a:pt x="0" y="0"/>
                </a:moveTo>
                <a:lnTo>
                  <a:pt x="11704569" y="0"/>
                </a:lnTo>
                <a:lnTo>
                  <a:pt x="11704569" y="5515779"/>
                </a:lnTo>
                <a:lnTo>
                  <a:pt x="0" y="5515779"/>
                </a:lnTo>
                <a:lnTo>
                  <a:pt x="0" y="0"/>
                </a:lnTo>
                <a:close/>
              </a:path>
            </a:pathLst>
          </a:custGeom>
          <a:blipFill>
            <a:blip r:embed="rId6"/>
            <a:stretch>
              <a:fillRect l="0" t="0" r="0" b="0"/>
            </a:stretch>
          </a:blipFill>
        </p:spPr>
      </p:sp>
      <p:sp>
        <p:nvSpPr>
          <p:cNvPr name="TextBox 11" id="11"/>
          <p:cNvSpPr txBox="true"/>
          <p:nvPr/>
        </p:nvSpPr>
        <p:spPr>
          <a:xfrm rot="0">
            <a:off x="1277274" y="2732164"/>
            <a:ext cx="3921407" cy="5210091"/>
          </a:xfrm>
          <a:prstGeom prst="rect">
            <a:avLst/>
          </a:prstGeom>
        </p:spPr>
        <p:txBody>
          <a:bodyPr anchor="t" rtlCol="false" tIns="0" lIns="0" bIns="0" rIns="0">
            <a:spAutoFit/>
          </a:bodyPr>
          <a:lstStyle/>
          <a:p>
            <a:pPr algn="ctr">
              <a:lnSpc>
                <a:spcPts val="6750"/>
              </a:lnSpc>
            </a:pPr>
            <a:r>
              <a:rPr lang="en-US" sz="7500" b="true">
                <a:solidFill>
                  <a:srgbClr val="000000"/>
                </a:solidFill>
                <a:latin typeface="Cormorant Garamond Bold"/>
                <a:ea typeface="Cormorant Garamond Bold"/>
                <a:cs typeface="Cormorant Garamond Bold"/>
                <a:sym typeface="Cormorant Garamond Bold"/>
              </a:rPr>
              <a:t>Mối quan hệ của cột category1</a:t>
            </a:r>
            <a:r>
              <a:rPr lang="en-US" sz="7500" b="true">
                <a:solidFill>
                  <a:srgbClr val="1C4F64"/>
                </a:solidFill>
                <a:latin typeface="Cormorant Garamond Bold"/>
                <a:ea typeface="Cormorant Garamond Bold"/>
                <a:cs typeface="Cormorant Garamond Bold"/>
                <a:sym typeface="Cormorant Garamond Bold"/>
              </a:rPr>
              <a:t> </a:t>
            </a:r>
            <a:r>
              <a:rPr lang="en-US" sz="7500" b="true">
                <a:solidFill>
                  <a:srgbClr val="2B7695"/>
                </a:solidFill>
                <a:latin typeface="Cormorant Garamond Bold"/>
                <a:ea typeface="Cormorant Garamond Bold"/>
                <a:cs typeface="Cormorant Garamond Bold"/>
                <a:sym typeface="Cormorant Garamond Bold"/>
              </a:rPr>
              <a:t>với những cột khác</a:t>
            </a:r>
          </a:p>
          <a:p>
            <a:pPr algn="ctr">
              <a:lnSpc>
                <a:spcPts val="6750"/>
              </a:lnSpc>
            </a:pPr>
          </a:p>
        </p:txBody>
      </p:sp>
      <p:sp>
        <p:nvSpPr>
          <p:cNvPr name="TextBox 12" id="12"/>
          <p:cNvSpPr txBox="true"/>
          <p:nvPr/>
        </p:nvSpPr>
        <p:spPr>
          <a:xfrm rot="0">
            <a:off x="1621059" y="8230599"/>
            <a:ext cx="15638241" cy="1255333"/>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mối quan hệ giữa price_actual, favorite, total_sold của từng loại sản phẩm</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56</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4543011" y="1395719"/>
            <a:ext cx="12544941" cy="7213341"/>
          </a:xfrm>
          <a:custGeom>
            <a:avLst/>
            <a:gdLst/>
            <a:ahLst/>
            <a:cxnLst/>
            <a:rect r="r" b="b" t="t" l="l"/>
            <a:pathLst>
              <a:path h="7213341" w="12544941">
                <a:moveTo>
                  <a:pt x="0" y="0"/>
                </a:moveTo>
                <a:lnTo>
                  <a:pt x="12544940" y="0"/>
                </a:lnTo>
                <a:lnTo>
                  <a:pt x="12544940" y="7213340"/>
                </a:lnTo>
                <a:lnTo>
                  <a:pt x="0" y="7213340"/>
                </a:lnTo>
                <a:lnTo>
                  <a:pt x="0" y="0"/>
                </a:lnTo>
                <a:close/>
              </a:path>
            </a:pathLst>
          </a:custGeom>
          <a:blipFill>
            <a:blip r:embed="rId6"/>
            <a:stretch>
              <a:fillRect l="0" t="0" r="0" b="0"/>
            </a:stretch>
          </a:blipFill>
        </p:spPr>
      </p:sp>
      <p:sp>
        <p:nvSpPr>
          <p:cNvPr name="TextBox 11" id="11"/>
          <p:cNvSpPr txBox="true"/>
          <p:nvPr/>
        </p:nvSpPr>
        <p:spPr>
          <a:xfrm rot="0">
            <a:off x="1621059" y="8688736"/>
            <a:ext cx="15638241" cy="617189"/>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price_ori qua các tháng của từng loại sản phẩm</a:t>
            </a:r>
          </a:p>
        </p:txBody>
      </p:sp>
      <p:sp>
        <p:nvSpPr>
          <p:cNvPr name="Freeform 12" id="12"/>
          <p:cNvSpPr/>
          <p:nvPr/>
        </p:nvSpPr>
        <p:spPr>
          <a:xfrm flipH="false" flipV="false" rot="0">
            <a:off x="1516022" y="1395719"/>
            <a:ext cx="3337033" cy="7415628"/>
          </a:xfrm>
          <a:custGeom>
            <a:avLst/>
            <a:gdLst/>
            <a:ahLst/>
            <a:cxnLst/>
            <a:rect r="r" b="b" t="t" l="l"/>
            <a:pathLst>
              <a:path h="7415628" w="3337033">
                <a:moveTo>
                  <a:pt x="0" y="0"/>
                </a:moveTo>
                <a:lnTo>
                  <a:pt x="3337032" y="0"/>
                </a:lnTo>
                <a:lnTo>
                  <a:pt x="3337032" y="7415627"/>
                </a:lnTo>
                <a:lnTo>
                  <a:pt x="0" y="7415627"/>
                </a:lnTo>
                <a:lnTo>
                  <a:pt x="0" y="0"/>
                </a:lnTo>
                <a:close/>
              </a:path>
            </a:pathLst>
          </a:custGeom>
          <a:blipFill>
            <a:blip r:embed="rId7"/>
            <a:stretch>
              <a:fillRect l="0" t="0" r="0" b="0"/>
            </a:stretch>
          </a:blipFill>
        </p:spPr>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57</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4279150" y="960428"/>
            <a:ext cx="12951575" cy="7965219"/>
          </a:xfrm>
          <a:custGeom>
            <a:avLst/>
            <a:gdLst/>
            <a:ahLst/>
            <a:cxnLst/>
            <a:rect r="r" b="b" t="t" l="l"/>
            <a:pathLst>
              <a:path h="7965219" w="12951575">
                <a:moveTo>
                  <a:pt x="0" y="0"/>
                </a:moveTo>
                <a:lnTo>
                  <a:pt x="12951575" y="0"/>
                </a:lnTo>
                <a:lnTo>
                  <a:pt x="12951575" y="7965218"/>
                </a:lnTo>
                <a:lnTo>
                  <a:pt x="0" y="7965218"/>
                </a:lnTo>
                <a:lnTo>
                  <a:pt x="0" y="0"/>
                </a:lnTo>
                <a:close/>
              </a:path>
            </a:pathLst>
          </a:custGeom>
          <a:blipFill>
            <a:blip r:embed="rId6"/>
            <a:stretch>
              <a:fillRect l="0" t="0" r="0" b="0"/>
            </a:stretch>
          </a:blipFill>
        </p:spPr>
      </p:sp>
      <p:sp>
        <p:nvSpPr>
          <p:cNvPr name="Freeform 11" id="11"/>
          <p:cNvSpPr/>
          <p:nvPr/>
        </p:nvSpPr>
        <p:spPr>
          <a:xfrm flipH="false" flipV="false" rot="0">
            <a:off x="1395751" y="1128450"/>
            <a:ext cx="3457303" cy="7682896"/>
          </a:xfrm>
          <a:custGeom>
            <a:avLst/>
            <a:gdLst/>
            <a:ahLst/>
            <a:cxnLst/>
            <a:rect r="r" b="b" t="t" l="l"/>
            <a:pathLst>
              <a:path h="7682896" w="3457303">
                <a:moveTo>
                  <a:pt x="0" y="0"/>
                </a:moveTo>
                <a:lnTo>
                  <a:pt x="3457303" y="0"/>
                </a:lnTo>
                <a:lnTo>
                  <a:pt x="3457303" y="7682896"/>
                </a:lnTo>
                <a:lnTo>
                  <a:pt x="0" y="7682896"/>
                </a:lnTo>
                <a:lnTo>
                  <a:pt x="0" y="0"/>
                </a:lnTo>
                <a:close/>
              </a:path>
            </a:pathLst>
          </a:custGeom>
          <a:blipFill>
            <a:blip r:embed="rId7"/>
            <a:stretch>
              <a:fillRect l="0" t="0" r="0" b="0"/>
            </a:stretch>
          </a:blipFill>
        </p:spPr>
      </p:sp>
      <p:sp>
        <p:nvSpPr>
          <p:cNvPr name="TextBox 12" id="12"/>
          <p:cNvSpPr txBox="true"/>
          <p:nvPr/>
        </p:nvSpPr>
        <p:spPr>
          <a:xfrm rot="0">
            <a:off x="1789293" y="8991353"/>
            <a:ext cx="15638241" cy="617189"/>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số lượt bán của các loại sản phẩm trong 2 tháng 4 và 5</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58</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621059" y="1162050"/>
            <a:ext cx="14493826" cy="7409968"/>
          </a:xfrm>
          <a:custGeom>
            <a:avLst/>
            <a:gdLst/>
            <a:ahLst/>
            <a:cxnLst/>
            <a:rect r="r" b="b" t="t" l="l"/>
            <a:pathLst>
              <a:path h="7409968" w="14493826">
                <a:moveTo>
                  <a:pt x="0" y="0"/>
                </a:moveTo>
                <a:lnTo>
                  <a:pt x="14493825" y="0"/>
                </a:lnTo>
                <a:lnTo>
                  <a:pt x="14493825" y="7409968"/>
                </a:lnTo>
                <a:lnTo>
                  <a:pt x="0" y="7409968"/>
                </a:lnTo>
                <a:lnTo>
                  <a:pt x="0" y="0"/>
                </a:lnTo>
                <a:close/>
              </a:path>
            </a:pathLst>
          </a:custGeom>
          <a:blipFill>
            <a:blip r:embed="rId6"/>
            <a:stretch>
              <a:fillRect l="0" t="0" r="0" b="0"/>
            </a:stretch>
          </a:blipFill>
        </p:spPr>
      </p:sp>
      <p:sp>
        <p:nvSpPr>
          <p:cNvPr name="TextBox 11" id="11"/>
          <p:cNvSpPr txBox="true"/>
          <p:nvPr/>
        </p:nvSpPr>
        <p:spPr>
          <a:xfrm rot="0">
            <a:off x="1789293" y="8725621"/>
            <a:ext cx="15638241" cy="617189"/>
          </a:xfrm>
          <a:prstGeom prst="rect">
            <a:avLst/>
          </a:prstGeom>
        </p:spPr>
        <p:txBody>
          <a:bodyPr anchor="t" rtlCol="false" tIns="0" lIns="0" bIns="0" rIns="0">
            <a:spAutoFit/>
          </a:bodyPr>
          <a:lstStyle/>
          <a:p>
            <a:pPr algn="ctr">
              <a:lnSpc>
                <a:spcPts val="5040"/>
              </a:lnSpc>
            </a:pPr>
            <a:r>
              <a:rPr lang="en-US" sz="3500" i="true">
                <a:solidFill>
                  <a:srgbClr val="2B7695"/>
                </a:solidFill>
                <a:latin typeface="Inter Italics"/>
                <a:ea typeface="Inter Italics"/>
                <a:cs typeface="Inter Italics"/>
                <a:sym typeface="Inter Italics"/>
              </a:rPr>
              <a:t>Biểu đồ thể hiện số lượt bán của các loại sản phẩm trong 2 tháng 4 và 5</a:t>
            </a:r>
          </a:p>
        </p:txBody>
      </p:sp>
      <p:sp>
        <p:nvSpPr>
          <p:cNvPr name="TextBox 12" id="12"/>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59</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8471676" y="3422441"/>
            <a:ext cx="7372502" cy="994445"/>
          </a:xfrm>
          <a:prstGeom prst="rect">
            <a:avLst/>
          </a:prstGeom>
        </p:spPr>
        <p:txBody>
          <a:bodyPr anchor="t" rtlCol="false" tIns="0" lIns="0" bIns="0" rIns="0">
            <a:spAutoFit/>
          </a:bodyPr>
          <a:lstStyle/>
          <a:p>
            <a:pPr algn="ctr">
              <a:lnSpc>
                <a:spcPts val="7290"/>
              </a:lnSpc>
            </a:pPr>
            <a:r>
              <a:rPr lang="en-US" sz="8100" b="true">
                <a:solidFill>
                  <a:srgbClr val="348894"/>
                </a:solidFill>
                <a:latin typeface="Cormorant Garamond Bold"/>
                <a:ea typeface="Cormorant Garamond Bold"/>
                <a:cs typeface="Cormorant Garamond Bold"/>
                <a:sym typeface="Cormorant Garamond Bold"/>
              </a:rPr>
              <a:t>Mô hình dự đoán</a:t>
            </a:r>
          </a:p>
        </p:txBody>
      </p:sp>
      <p:grpSp>
        <p:nvGrpSpPr>
          <p:cNvPr name="Group 11" id="11"/>
          <p:cNvGrpSpPr/>
          <p:nvPr/>
        </p:nvGrpSpPr>
        <p:grpSpPr>
          <a:xfrm rot="-10800000">
            <a:off x="1946310" y="1845056"/>
            <a:ext cx="6101253" cy="6596889"/>
            <a:chOff x="0" y="0"/>
            <a:chExt cx="4399999" cy="4757433"/>
          </a:xfrm>
        </p:grpSpPr>
        <p:sp>
          <p:nvSpPr>
            <p:cNvPr name="Freeform 12" id="12"/>
            <p:cNvSpPr/>
            <p:nvPr/>
          </p:nvSpPr>
          <p:spPr>
            <a:xfrm flipH="false" flipV="false" rot="0">
              <a:off x="0" y="0"/>
              <a:ext cx="4399998" cy="4757432"/>
            </a:xfrm>
            <a:custGeom>
              <a:avLst/>
              <a:gdLst/>
              <a:ahLst/>
              <a:cxnLst/>
              <a:rect r="r" b="b" t="t" l="l"/>
              <a:pathLst>
                <a:path h="4757432" w="4399998">
                  <a:moveTo>
                    <a:pt x="40605" y="0"/>
                  </a:moveTo>
                  <a:lnTo>
                    <a:pt x="4359394" y="0"/>
                  </a:lnTo>
                  <a:cubicBezTo>
                    <a:pt x="4381819" y="0"/>
                    <a:pt x="4399998" y="18179"/>
                    <a:pt x="4399998" y="40605"/>
                  </a:cubicBezTo>
                  <a:lnTo>
                    <a:pt x="4399998" y="4716828"/>
                  </a:lnTo>
                  <a:cubicBezTo>
                    <a:pt x="4399998" y="4739253"/>
                    <a:pt x="4381819" y="4757432"/>
                    <a:pt x="4359394" y="4757432"/>
                  </a:cubicBezTo>
                  <a:lnTo>
                    <a:pt x="40605" y="4757432"/>
                  </a:lnTo>
                  <a:cubicBezTo>
                    <a:pt x="18179" y="4757432"/>
                    <a:pt x="0" y="4739253"/>
                    <a:pt x="0" y="4716828"/>
                  </a:cubicBezTo>
                  <a:lnTo>
                    <a:pt x="0" y="40605"/>
                  </a:lnTo>
                  <a:cubicBezTo>
                    <a:pt x="0" y="18179"/>
                    <a:pt x="18179" y="0"/>
                    <a:pt x="40605" y="0"/>
                  </a:cubicBezTo>
                  <a:close/>
                </a:path>
              </a:pathLst>
            </a:custGeom>
            <a:solidFill>
              <a:srgbClr val="FAFAFB"/>
            </a:solidFill>
            <a:ln w="123825" cap="rnd">
              <a:solidFill>
                <a:srgbClr val="47B0BF"/>
              </a:solidFill>
              <a:prstDash val="solid"/>
              <a:round/>
            </a:ln>
          </p:spPr>
        </p:sp>
        <p:sp>
          <p:nvSpPr>
            <p:cNvPr name="TextBox 13" id="13"/>
            <p:cNvSpPr txBox="true"/>
            <p:nvPr/>
          </p:nvSpPr>
          <p:spPr>
            <a:xfrm>
              <a:off x="0" y="-38100"/>
              <a:ext cx="4399999" cy="4795533"/>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4" id="14"/>
          <p:cNvSpPr/>
          <p:nvPr/>
        </p:nvSpPr>
        <p:spPr>
          <a:xfrm flipH="false" flipV="false" rot="5400000">
            <a:off x="14093008" y="3984962"/>
            <a:ext cx="4971190" cy="2317076"/>
          </a:xfrm>
          <a:custGeom>
            <a:avLst/>
            <a:gdLst/>
            <a:ahLst/>
            <a:cxnLst/>
            <a:rect r="r" b="b" t="t" l="l"/>
            <a:pathLst>
              <a:path h="2317076" w="4971190">
                <a:moveTo>
                  <a:pt x="0" y="0"/>
                </a:moveTo>
                <a:lnTo>
                  <a:pt x="4971190" y="0"/>
                </a:lnTo>
                <a:lnTo>
                  <a:pt x="4971190" y="2317076"/>
                </a:lnTo>
                <a:lnTo>
                  <a:pt x="0" y="2317076"/>
                </a:lnTo>
                <a:lnTo>
                  <a:pt x="0" y="0"/>
                </a:lnTo>
                <a:close/>
              </a:path>
            </a:pathLst>
          </a:custGeom>
          <a:blipFill>
            <a:blip r:embed="rId6">
              <a:extLst>
                <a:ext uri="{96DAC541-7B7A-43D3-8B79-37D633B846F1}">
                  <asvg:svgBlip xmlns:asvg="http://schemas.microsoft.com/office/drawing/2016/SVG/main" r:embed="rId7"/>
                </a:ext>
              </a:extLst>
            </a:blip>
            <a:stretch>
              <a:fillRect l="0" t="-114545" r="0" b="0"/>
            </a:stretch>
          </a:blipFill>
          <a:ln cap="sq">
            <a:noFill/>
            <a:prstDash val="solid"/>
            <a:miter/>
          </a:ln>
        </p:spPr>
      </p:sp>
      <p:sp>
        <p:nvSpPr>
          <p:cNvPr name="TextBox 15" id="15"/>
          <p:cNvSpPr txBox="true"/>
          <p:nvPr/>
        </p:nvSpPr>
        <p:spPr>
          <a:xfrm rot="0">
            <a:off x="16170569" y="4640587"/>
            <a:ext cx="1294764" cy="958201"/>
          </a:xfrm>
          <a:prstGeom prst="rect">
            <a:avLst/>
          </a:prstGeom>
        </p:spPr>
        <p:txBody>
          <a:bodyPr anchor="t" rtlCol="false" tIns="0" lIns="0" bIns="0" rIns="0">
            <a:spAutoFit/>
          </a:bodyPr>
          <a:lstStyle/>
          <a:p>
            <a:pPr algn="ctr" marL="0" indent="0" lvl="0">
              <a:lnSpc>
                <a:spcPts val="7680"/>
              </a:lnSpc>
              <a:spcBef>
                <a:spcPct val="0"/>
              </a:spcBef>
            </a:pPr>
            <a:r>
              <a:rPr lang="en-US" b="true" sz="6000">
                <a:solidFill>
                  <a:srgbClr val="F8F8F8"/>
                </a:solidFill>
                <a:latin typeface="Inter Bold"/>
                <a:ea typeface="Inter Bold"/>
                <a:cs typeface="Inter Bold"/>
                <a:sym typeface="Inter Bold"/>
              </a:rPr>
              <a:t>04</a:t>
            </a:r>
          </a:p>
        </p:txBody>
      </p:sp>
      <p:sp>
        <p:nvSpPr>
          <p:cNvPr name="TextBox 16" id="16"/>
          <p:cNvSpPr txBox="true"/>
          <p:nvPr/>
        </p:nvSpPr>
        <p:spPr>
          <a:xfrm rot="0">
            <a:off x="9144000" y="5227313"/>
            <a:ext cx="6700178" cy="896578"/>
          </a:xfrm>
          <a:prstGeom prst="rect">
            <a:avLst/>
          </a:prstGeom>
        </p:spPr>
        <p:txBody>
          <a:bodyPr anchor="t" rtlCol="false" tIns="0" lIns="0" bIns="0" rIns="0">
            <a:spAutoFit/>
          </a:bodyPr>
          <a:lstStyle/>
          <a:p>
            <a:pPr algn="l">
              <a:lnSpc>
                <a:spcPts val="8015"/>
              </a:lnSpc>
            </a:pPr>
            <a:r>
              <a:rPr lang="en-US" sz="3500">
                <a:solidFill>
                  <a:srgbClr val="348894"/>
                </a:solidFill>
                <a:latin typeface="Inter"/>
                <a:ea typeface="Inter"/>
                <a:cs typeface="Inter"/>
                <a:sym typeface="Inter"/>
              </a:rPr>
              <a:t>Dự đoán giá bán sau cùng</a:t>
            </a:r>
          </a:p>
        </p:txBody>
      </p:sp>
      <p:grpSp>
        <p:nvGrpSpPr>
          <p:cNvPr name="Group 17" id="17"/>
          <p:cNvGrpSpPr/>
          <p:nvPr/>
        </p:nvGrpSpPr>
        <p:grpSpPr>
          <a:xfrm rot="0">
            <a:off x="2667666" y="2814229"/>
            <a:ext cx="4658541" cy="465854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8"/>
              <a:stretch>
                <a:fillRect l="0" t="-617" r="0" b="-617"/>
              </a:stretch>
            </a:blipFill>
          </p:spPr>
        </p:sp>
      </p:grpSp>
      <p:sp>
        <p:nvSpPr>
          <p:cNvPr name="TextBox 19" id="19"/>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60</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3903640" y="2682656"/>
            <a:ext cx="715092" cy="178773"/>
          </a:xfrm>
          <a:custGeom>
            <a:avLst/>
            <a:gdLst/>
            <a:ahLst/>
            <a:cxnLst/>
            <a:rect r="r" b="b" t="t" l="l"/>
            <a:pathLst>
              <a:path h="178773" w="715092">
                <a:moveTo>
                  <a:pt x="0" y="0"/>
                </a:moveTo>
                <a:lnTo>
                  <a:pt x="715093" y="0"/>
                </a:lnTo>
                <a:lnTo>
                  <a:pt x="715093" y="178773"/>
                </a:lnTo>
                <a:lnTo>
                  <a:pt x="0" y="1787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198681" y="1539653"/>
            <a:ext cx="11696408" cy="5658439"/>
          </a:xfrm>
          <a:custGeom>
            <a:avLst/>
            <a:gdLst/>
            <a:ahLst/>
            <a:cxnLst/>
            <a:rect r="r" b="b" t="t" l="l"/>
            <a:pathLst>
              <a:path h="5658439" w="11696408">
                <a:moveTo>
                  <a:pt x="0" y="0"/>
                </a:moveTo>
                <a:lnTo>
                  <a:pt x="11696407" y="0"/>
                </a:lnTo>
                <a:lnTo>
                  <a:pt x="11696407" y="5658439"/>
                </a:lnTo>
                <a:lnTo>
                  <a:pt x="0" y="5658439"/>
                </a:lnTo>
                <a:lnTo>
                  <a:pt x="0" y="0"/>
                </a:lnTo>
                <a:close/>
              </a:path>
            </a:pathLst>
          </a:custGeom>
          <a:blipFill>
            <a:blip r:embed="rId8"/>
            <a:stretch>
              <a:fillRect l="0" t="0" r="0" b="0"/>
            </a:stretch>
          </a:blipFill>
        </p:spPr>
      </p:sp>
      <p:sp>
        <p:nvSpPr>
          <p:cNvPr name="Freeform 12" id="12"/>
          <p:cNvSpPr/>
          <p:nvPr/>
        </p:nvSpPr>
        <p:spPr>
          <a:xfrm flipH="false" flipV="false" rot="0">
            <a:off x="5233273" y="7758272"/>
            <a:ext cx="10280195" cy="1500028"/>
          </a:xfrm>
          <a:custGeom>
            <a:avLst/>
            <a:gdLst/>
            <a:ahLst/>
            <a:cxnLst/>
            <a:rect r="r" b="b" t="t" l="l"/>
            <a:pathLst>
              <a:path h="1500028" w="10280195">
                <a:moveTo>
                  <a:pt x="0" y="0"/>
                </a:moveTo>
                <a:lnTo>
                  <a:pt x="10280195" y="0"/>
                </a:lnTo>
                <a:lnTo>
                  <a:pt x="10280195" y="1500028"/>
                </a:lnTo>
                <a:lnTo>
                  <a:pt x="0" y="1500028"/>
                </a:lnTo>
                <a:lnTo>
                  <a:pt x="0" y="0"/>
                </a:lnTo>
                <a:close/>
              </a:path>
            </a:pathLst>
          </a:custGeom>
          <a:blipFill>
            <a:blip r:embed="rId9"/>
            <a:stretch>
              <a:fillRect l="0" t="0" r="0" b="0"/>
            </a:stretch>
          </a:blipFill>
        </p:spPr>
      </p:sp>
      <p:sp>
        <p:nvSpPr>
          <p:cNvPr name="TextBox 13" id="13"/>
          <p:cNvSpPr txBox="true"/>
          <p:nvPr/>
        </p:nvSpPr>
        <p:spPr>
          <a:xfrm rot="0">
            <a:off x="2074754" y="2647992"/>
            <a:ext cx="2150368" cy="5210091"/>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Dự đoán giá bán sau cùng</a:t>
            </a:r>
          </a:p>
        </p:txBody>
      </p:sp>
      <p:sp>
        <p:nvSpPr>
          <p:cNvPr name="TextBox 14" id="14"/>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61</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5385109" y="2021768"/>
            <a:ext cx="715092" cy="178773"/>
          </a:xfrm>
          <a:custGeom>
            <a:avLst/>
            <a:gdLst/>
            <a:ahLst/>
            <a:cxnLst/>
            <a:rect r="r" b="b" t="t" l="l"/>
            <a:pathLst>
              <a:path h="178773" w="715092">
                <a:moveTo>
                  <a:pt x="0" y="0"/>
                </a:moveTo>
                <a:lnTo>
                  <a:pt x="715092" y="0"/>
                </a:lnTo>
                <a:lnTo>
                  <a:pt x="715092" y="178773"/>
                </a:lnTo>
                <a:lnTo>
                  <a:pt x="0" y="1787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187799" y="3280244"/>
            <a:ext cx="13912402" cy="5796834"/>
          </a:xfrm>
          <a:custGeom>
            <a:avLst/>
            <a:gdLst/>
            <a:ahLst/>
            <a:cxnLst/>
            <a:rect r="r" b="b" t="t" l="l"/>
            <a:pathLst>
              <a:path h="5796834" w="13912402">
                <a:moveTo>
                  <a:pt x="0" y="0"/>
                </a:moveTo>
                <a:lnTo>
                  <a:pt x="13912402" y="0"/>
                </a:lnTo>
                <a:lnTo>
                  <a:pt x="13912402" y="5796834"/>
                </a:lnTo>
                <a:lnTo>
                  <a:pt x="0" y="5796834"/>
                </a:lnTo>
                <a:lnTo>
                  <a:pt x="0" y="0"/>
                </a:lnTo>
                <a:close/>
              </a:path>
            </a:pathLst>
          </a:custGeom>
          <a:blipFill>
            <a:blip r:embed="rId8"/>
            <a:stretch>
              <a:fillRect l="0" t="0" r="0" b="0"/>
            </a:stretch>
          </a:blipFill>
        </p:spPr>
      </p:sp>
      <p:sp>
        <p:nvSpPr>
          <p:cNvPr name="TextBox 12" id="12"/>
          <p:cNvSpPr txBox="true"/>
          <p:nvPr/>
        </p:nvSpPr>
        <p:spPr>
          <a:xfrm rot="0">
            <a:off x="2187799" y="1758728"/>
            <a:ext cx="9875110" cy="923928"/>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Dự đoán giá bán sau cùng</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62</a:t>
            </a:r>
          </a:p>
        </p:txBody>
      </p:sp>
    </p:spTree>
  </p:cSld>
  <p:clrMapOvr>
    <a:masterClrMapping/>
  </p:clrMapOvr>
  <p:transition spd="med">
    <p:fade/>
  </p:transition>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544883"/>
            <a:ext cx="17186281" cy="9365579"/>
            <a:chOff x="0" y="0"/>
            <a:chExt cx="4728203" cy="2576611"/>
          </a:xfrm>
        </p:grpSpPr>
        <p:sp>
          <p:nvSpPr>
            <p:cNvPr name="Freeform 8" id="8"/>
            <p:cNvSpPr/>
            <p:nvPr/>
          </p:nvSpPr>
          <p:spPr>
            <a:xfrm flipH="false" flipV="false" rot="0">
              <a:off x="0" y="0"/>
              <a:ext cx="4728203" cy="2576611"/>
            </a:xfrm>
            <a:custGeom>
              <a:avLst/>
              <a:gdLst/>
              <a:ahLst/>
              <a:cxnLst/>
              <a:rect r="r" b="b" t="t" l="l"/>
              <a:pathLst>
                <a:path h="2576611" w="4728203">
                  <a:moveTo>
                    <a:pt x="45047" y="0"/>
                  </a:moveTo>
                  <a:lnTo>
                    <a:pt x="4683156" y="0"/>
                  </a:lnTo>
                  <a:cubicBezTo>
                    <a:pt x="4708035" y="0"/>
                    <a:pt x="4728203" y="20168"/>
                    <a:pt x="4728203" y="45047"/>
                  </a:cubicBezTo>
                  <a:lnTo>
                    <a:pt x="4728203" y="2531564"/>
                  </a:lnTo>
                  <a:cubicBezTo>
                    <a:pt x="4728203" y="2556443"/>
                    <a:pt x="4708035" y="2576611"/>
                    <a:pt x="4683156" y="2576611"/>
                  </a:cubicBezTo>
                  <a:lnTo>
                    <a:pt x="45047" y="2576611"/>
                  </a:lnTo>
                  <a:cubicBezTo>
                    <a:pt x="33100" y="2576611"/>
                    <a:pt x="21642" y="2571865"/>
                    <a:pt x="13194" y="2563417"/>
                  </a:cubicBezTo>
                  <a:cubicBezTo>
                    <a:pt x="4746" y="2554969"/>
                    <a:pt x="0" y="2543511"/>
                    <a:pt x="0" y="2531564"/>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61471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5155922" y="1785101"/>
            <a:ext cx="715092" cy="178773"/>
          </a:xfrm>
          <a:custGeom>
            <a:avLst/>
            <a:gdLst/>
            <a:ahLst/>
            <a:cxnLst/>
            <a:rect r="r" b="b" t="t" l="l"/>
            <a:pathLst>
              <a:path h="178773" w="715092">
                <a:moveTo>
                  <a:pt x="0" y="0"/>
                </a:moveTo>
                <a:lnTo>
                  <a:pt x="715092" y="0"/>
                </a:lnTo>
                <a:lnTo>
                  <a:pt x="715092" y="178773"/>
                </a:lnTo>
                <a:lnTo>
                  <a:pt x="0" y="1787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187799" y="1432675"/>
            <a:ext cx="9875110" cy="923928"/>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Kết luận tổng quan</a:t>
            </a:r>
          </a:p>
        </p:txBody>
      </p:sp>
      <p:sp>
        <p:nvSpPr>
          <p:cNvPr name="TextBox 12" id="12"/>
          <p:cNvSpPr txBox="true"/>
          <p:nvPr/>
        </p:nvSpPr>
        <p:spPr>
          <a:xfrm rot="0">
            <a:off x="2187799" y="2623976"/>
            <a:ext cx="13912402" cy="7286486"/>
          </a:xfrm>
          <a:prstGeom prst="rect">
            <a:avLst/>
          </a:prstGeom>
        </p:spPr>
        <p:txBody>
          <a:bodyPr anchor="t" rtlCol="false" tIns="0" lIns="0" bIns="0" rIns="0">
            <a:spAutoFit/>
          </a:bodyPr>
          <a:lstStyle/>
          <a:p>
            <a:pPr algn="just" marL="755651" indent="-377825" lvl="1">
              <a:lnSpc>
                <a:spcPts val="5775"/>
              </a:lnSpc>
              <a:buFont typeface="Arial"/>
              <a:buChar char="•"/>
            </a:pPr>
            <a:r>
              <a:rPr lang="en-US" sz="3500">
                <a:solidFill>
                  <a:srgbClr val="000000"/>
                </a:solidFill>
                <a:latin typeface="Inter"/>
                <a:ea typeface="Inter"/>
                <a:cs typeface="Inter"/>
                <a:sym typeface="Inter"/>
              </a:rPr>
              <a:t>Mô hình Random Forest Regression thể hiện khả năng dự đoán giá bán thực tế với độ chính xác cao dựa trên các yếu tố đầu vào. </a:t>
            </a:r>
          </a:p>
          <a:p>
            <a:pPr algn="just" marL="755651" indent="-377825" lvl="1">
              <a:lnSpc>
                <a:spcPts val="5775"/>
              </a:lnSpc>
              <a:buFont typeface="Arial"/>
              <a:buChar char="•"/>
            </a:pPr>
            <a:r>
              <a:rPr lang="en-US" sz="3500">
                <a:solidFill>
                  <a:srgbClr val="000000"/>
                </a:solidFill>
                <a:latin typeface="Inter"/>
                <a:ea typeface="Inter"/>
                <a:cs typeface="Inter"/>
                <a:sym typeface="Inter"/>
              </a:rPr>
              <a:t>Việc sử dụng mã hóa loại sản phẩm đã giúp mô hình tận dụng tối đa thông tin phân loại sản phẩm để tăng độ chính xác trong dự đoán. </a:t>
            </a:r>
          </a:p>
          <a:p>
            <a:pPr algn="just" marL="755651" indent="-377825" lvl="1">
              <a:lnSpc>
                <a:spcPts val="5775"/>
              </a:lnSpc>
              <a:buFont typeface="Arial"/>
              <a:buChar char="•"/>
            </a:pPr>
            <a:r>
              <a:rPr lang="en-US" sz="3500">
                <a:solidFill>
                  <a:srgbClr val="000000"/>
                </a:solidFill>
                <a:latin typeface="Inter"/>
                <a:ea typeface="Inter"/>
                <a:cs typeface="Inter"/>
                <a:sym typeface="Inter"/>
              </a:rPr>
              <a:t>Với hiệu năng đạt được, mô hình có thể ứng dụng thực tế trong việc phân tích và dự đoán giá bán sản phẩm trong các hệ thống thương mại điện tử.</a:t>
            </a:r>
          </a:p>
          <a:p>
            <a:pPr algn="just">
              <a:lnSpc>
                <a:spcPts val="5775"/>
              </a:lnSpc>
            </a:pP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63</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9324559" y="3201307"/>
            <a:ext cx="5450534" cy="994445"/>
          </a:xfrm>
          <a:prstGeom prst="rect">
            <a:avLst/>
          </a:prstGeom>
        </p:spPr>
        <p:txBody>
          <a:bodyPr anchor="t" rtlCol="false" tIns="0" lIns="0" bIns="0" rIns="0">
            <a:spAutoFit/>
          </a:bodyPr>
          <a:lstStyle/>
          <a:p>
            <a:pPr algn="ctr">
              <a:lnSpc>
                <a:spcPts val="7290"/>
              </a:lnSpc>
            </a:pPr>
            <a:r>
              <a:rPr lang="en-US" sz="8100" b="true">
                <a:solidFill>
                  <a:srgbClr val="1C4F64"/>
                </a:solidFill>
                <a:latin typeface="Cormorant Garamond Bold"/>
                <a:ea typeface="Cormorant Garamond Bold"/>
                <a:cs typeface="Cormorant Garamond Bold"/>
                <a:sym typeface="Cormorant Garamond Bold"/>
              </a:rPr>
              <a:t>Kết luận</a:t>
            </a:r>
          </a:p>
        </p:txBody>
      </p:sp>
      <p:grpSp>
        <p:nvGrpSpPr>
          <p:cNvPr name="Group 11" id="11"/>
          <p:cNvGrpSpPr/>
          <p:nvPr/>
        </p:nvGrpSpPr>
        <p:grpSpPr>
          <a:xfrm rot="-10800000">
            <a:off x="1946310" y="1845056"/>
            <a:ext cx="6101253" cy="6596889"/>
            <a:chOff x="0" y="0"/>
            <a:chExt cx="4399999" cy="4757433"/>
          </a:xfrm>
        </p:grpSpPr>
        <p:sp>
          <p:nvSpPr>
            <p:cNvPr name="Freeform 12" id="12"/>
            <p:cNvSpPr/>
            <p:nvPr/>
          </p:nvSpPr>
          <p:spPr>
            <a:xfrm flipH="false" flipV="false" rot="0">
              <a:off x="0" y="0"/>
              <a:ext cx="4399998" cy="4757432"/>
            </a:xfrm>
            <a:custGeom>
              <a:avLst/>
              <a:gdLst/>
              <a:ahLst/>
              <a:cxnLst/>
              <a:rect r="r" b="b" t="t" l="l"/>
              <a:pathLst>
                <a:path h="4757432" w="4399998">
                  <a:moveTo>
                    <a:pt x="40605" y="0"/>
                  </a:moveTo>
                  <a:lnTo>
                    <a:pt x="4359394" y="0"/>
                  </a:lnTo>
                  <a:cubicBezTo>
                    <a:pt x="4381819" y="0"/>
                    <a:pt x="4399998" y="18179"/>
                    <a:pt x="4399998" y="40605"/>
                  </a:cubicBezTo>
                  <a:lnTo>
                    <a:pt x="4399998" y="4716828"/>
                  </a:lnTo>
                  <a:cubicBezTo>
                    <a:pt x="4399998" y="4739253"/>
                    <a:pt x="4381819" y="4757432"/>
                    <a:pt x="4359394" y="4757432"/>
                  </a:cubicBezTo>
                  <a:lnTo>
                    <a:pt x="40605" y="4757432"/>
                  </a:lnTo>
                  <a:cubicBezTo>
                    <a:pt x="18179" y="4757432"/>
                    <a:pt x="0" y="4739253"/>
                    <a:pt x="0" y="4716828"/>
                  </a:cubicBezTo>
                  <a:lnTo>
                    <a:pt x="0" y="40605"/>
                  </a:lnTo>
                  <a:cubicBezTo>
                    <a:pt x="0" y="18179"/>
                    <a:pt x="18179" y="0"/>
                    <a:pt x="40605" y="0"/>
                  </a:cubicBezTo>
                  <a:close/>
                </a:path>
              </a:pathLst>
            </a:custGeom>
            <a:solidFill>
              <a:srgbClr val="FAFAFB"/>
            </a:solidFill>
            <a:ln w="123825" cap="rnd">
              <a:solidFill>
                <a:srgbClr val="1C4F64"/>
              </a:solidFill>
              <a:prstDash val="solid"/>
              <a:round/>
            </a:ln>
          </p:spPr>
        </p:sp>
        <p:sp>
          <p:nvSpPr>
            <p:cNvPr name="TextBox 13" id="13"/>
            <p:cNvSpPr txBox="true"/>
            <p:nvPr/>
          </p:nvSpPr>
          <p:spPr>
            <a:xfrm>
              <a:off x="0" y="-38100"/>
              <a:ext cx="4399999" cy="4795533"/>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4" id="14"/>
          <p:cNvSpPr/>
          <p:nvPr/>
        </p:nvSpPr>
        <p:spPr>
          <a:xfrm flipH="false" flipV="false" rot="5400000">
            <a:off x="14093008" y="3984962"/>
            <a:ext cx="4971190" cy="2317076"/>
          </a:xfrm>
          <a:custGeom>
            <a:avLst/>
            <a:gdLst/>
            <a:ahLst/>
            <a:cxnLst/>
            <a:rect r="r" b="b" t="t" l="l"/>
            <a:pathLst>
              <a:path h="2317076" w="4971190">
                <a:moveTo>
                  <a:pt x="0" y="0"/>
                </a:moveTo>
                <a:lnTo>
                  <a:pt x="4971190" y="0"/>
                </a:lnTo>
                <a:lnTo>
                  <a:pt x="4971190" y="2317076"/>
                </a:lnTo>
                <a:lnTo>
                  <a:pt x="0" y="2317076"/>
                </a:lnTo>
                <a:lnTo>
                  <a:pt x="0" y="0"/>
                </a:lnTo>
                <a:close/>
              </a:path>
            </a:pathLst>
          </a:custGeom>
          <a:blipFill>
            <a:blip r:embed="rId6">
              <a:extLst>
                <a:ext uri="{96DAC541-7B7A-43D3-8B79-37D633B846F1}">
                  <asvg:svgBlip xmlns:asvg="http://schemas.microsoft.com/office/drawing/2016/SVG/main" r:embed="rId7"/>
                </a:ext>
              </a:extLst>
            </a:blip>
            <a:stretch>
              <a:fillRect l="0" t="-114545" r="0" b="0"/>
            </a:stretch>
          </a:blipFill>
          <a:ln cap="sq">
            <a:noFill/>
            <a:prstDash val="solid"/>
            <a:miter/>
          </a:ln>
        </p:spPr>
      </p:sp>
      <p:sp>
        <p:nvSpPr>
          <p:cNvPr name="TextBox 15" id="15"/>
          <p:cNvSpPr txBox="true"/>
          <p:nvPr/>
        </p:nvSpPr>
        <p:spPr>
          <a:xfrm rot="0">
            <a:off x="16170569" y="4640587"/>
            <a:ext cx="1294764" cy="958201"/>
          </a:xfrm>
          <a:prstGeom prst="rect">
            <a:avLst/>
          </a:prstGeom>
        </p:spPr>
        <p:txBody>
          <a:bodyPr anchor="t" rtlCol="false" tIns="0" lIns="0" bIns="0" rIns="0">
            <a:spAutoFit/>
          </a:bodyPr>
          <a:lstStyle/>
          <a:p>
            <a:pPr algn="ctr" marL="0" indent="0" lvl="0">
              <a:lnSpc>
                <a:spcPts val="7680"/>
              </a:lnSpc>
              <a:spcBef>
                <a:spcPct val="0"/>
              </a:spcBef>
            </a:pPr>
            <a:r>
              <a:rPr lang="en-US" b="true" sz="6000">
                <a:solidFill>
                  <a:srgbClr val="F8F8F8"/>
                </a:solidFill>
                <a:latin typeface="Inter Bold"/>
                <a:ea typeface="Inter Bold"/>
                <a:cs typeface="Inter Bold"/>
                <a:sym typeface="Inter Bold"/>
              </a:rPr>
              <a:t>05</a:t>
            </a:r>
          </a:p>
        </p:txBody>
      </p:sp>
      <p:sp>
        <p:nvSpPr>
          <p:cNvPr name="TextBox 16" id="16"/>
          <p:cNvSpPr txBox="true"/>
          <p:nvPr/>
        </p:nvSpPr>
        <p:spPr>
          <a:xfrm rot="0">
            <a:off x="9608413" y="4316737"/>
            <a:ext cx="6700178" cy="2915795"/>
          </a:xfrm>
          <a:prstGeom prst="rect">
            <a:avLst/>
          </a:prstGeom>
        </p:spPr>
        <p:txBody>
          <a:bodyPr anchor="t" rtlCol="false" tIns="0" lIns="0" bIns="0" rIns="0">
            <a:spAutoFit/>
          </a:bodyPr>
          <a:lstStyle/>
          <a:p>
            <a:pPr algn="l" marL="755651" indent="-377825" lvl="1">
              <a:lnSpc>
                <a:spcPts val="8015"/>
              </a:lnSpc>
              <a:buFont typeface="Arial"/>
              <a:buChar char="•"/>
            </a:pPr>
            <a:r>
              <a:rPr lang="en-US" sz="3500">
                <a:solidFill>
                  <a:srgbClr val="1C4F64"/>
                </a:solidFill>
                <a:latin typeface="Inter"/>
                <a:ea typeface="Inter"/>
                <a:cs typeface="Inter"/>
                <a:sym typeface="Inter"/>
              </a:rPr>
              <a:t>Kết quả đạt được</a:t>
            </a:r>
          </a:p>
          <a:p>
            <a:pPr algn="l" marL="755651" indent="-377825" lvl="1">
              <a:lnSpc>
                <a:spcPts val="8015"/>
              </a:lnSpc>
              <a:buFont typeface="Arial"/>
              <a:buChar char="•"/>
            </a:pPr>
            <a:r>
              <a:rPr lang="en-US" sz="3500">
                <a:solidFill>
                  <a:srgbClr val="1C4F64"/>
                </a:solidFill>
                <a:latin typeface="Inter"/>
                <a:ea typeface="Inter"/>
                <a:cs typeface="Inter"/>
                <a:sym typeface="Inter"/>
              </a:rPr>
              <a:t>Hạn chế</a:t>
            </a:r>
          </a:p>
          <a:p>
            <a:pPr algn="l" marL="755651" indent="-377825" lvl="1">
              <a:lnSpc>
                <a:spcPts val="8015"/>
              </a:lnSpc>
              <a:buFont typeface="Arial"/>
              <a:buChar char="•"/>
            </a:pPr>
            <a:r>
              <a:rPr lang="en-US" sz="3500">
                <a:solidFill>
                  <a:srgbClr val="1C4F64"/>
                </a:solidFill>
                <a:latin typeface="Inter"/>
                <a:ea typeface="Inter"/>
                <a:cs typeface="Inter"/>
                <a:sym typeface="Inter"/>
              </a:rPr>
              <a:t>Hướng phát triển</a:t>
            </a:r>
          </a:p>
        </p:txBody>
      </p:sp>
      <p:grpSp>
        <p:nvGrpSpPr>
          <p:cNvPr name="Group 17" id="17"/>
          <p:cNvGrpSpPr/>
          <p:nvPr/>
        </p:nvGrpSpPr>
        <p:grpSpPr>
          <a:xfrm rot="0">
            <a:off x="2874924" y="2829996"/>
            <a:ext cx="4244025" cy="4627008"/>
            <a:chOff x="0" y="0"/>
            <a:chExt cx="812800" cy="886147"/>
          </a:xfrm>
        </p:grpSpPr>
        <p:sp>
          <p:nvSpPr>
            <p:cNvPr name="Freeform 18" id="18"/>
            <p:cNvSpPr/>
            <p:nvPr/>
          </p:nvSpPr>
          <p:spPr>
            <a:xfrm flipH="false" flipV="false" rot="0">
              <a:off x="0" y="0"/>
              <a:ext cx="812800" cy="886147"/>
            </a:xfrm>
            <a:custGeom>
              <a:avLst/>
              <a:gdLst/>
              <a:ahLst/>
              <a:cxnLst/>
              <a:rect r="r" b="b" t="t" l="l"/>
              <a:pathLst>
                <a:path h="886147" w="812800">
                  <a:moveTo>
                    <a:pt x="0" y="0"/>
                  </a:moveTo>
                  <a:lnTo>
                    <a:pt x="812800" y="0"/>
                  </a:lnTo>
                  <a:lnTo>
                    <a:pt x="812800" y="886147"/>
                  </a:lnTo>
                  <a:lnTo>
                    <a:pt x="0" y="886147"/>
                  </a:lnTo>
                  <a:close/>
                </a:path>
              </a:pathLst>
            </a:custGeom>
            <a:blipFill>
              <a:blip r:embed="rId8"/>
              <a:stretch>
                <a:fillRect l="-2450" t="0" r="-2450" b="0"/>
              </a:stretch>
            </a:blipFill>
          </p:spPr>
        </p:sp>
      </p:grpSp>
      <p:sp>
        <p:nvSpPr>
          <p:cNvPr name="TextBox 19" id="19"/>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64</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11201075" y="2024734"/>
            <a:ext cx="5817102" cy="6237531"/>
          </a:xfrm>
          <a:custGeom>
            <a:avLst/>
            <a:gdLst/>
            <a:ahLst/>
            <a:cxnLst/>
            <a:rect r="r" b="b" t="t" l="l"/>
            <a:pathLst>
              <a:path h="6237531" w="5817102">
                <a:moveTo>
                  <a:pt x="0" y="0"/>
                </a:moveTo>
                <a:lnTo>
                  <a:pt x="5817102" y="0"/>
                </a:lnTo>
                <a:lnTo>
                  <a:pt x="5817102" y="6237532"/>
                </a:lnTo>
                <a:lnTo>
                  <a:pt x="0" y="6237532"/>
                </a:lnTo>
                <a:lnTo>
                  <a:pt x="0" y="0"/>
                </a:lnTo>
                <a:close/>
              </a:path>
            </a:pathLst>
          </a:custGeom>
          <a:blipFill>
            <a:blip r:embed="rId6"/>
            <a:stretch>
              <a:fillRect l="-3414" t="0" r="-3414" b="0"/>
            </a:stretch>
          </a:blipFill>
        </p:spPr>
      </p:sp>
      <p:sp>
        <p:nvSpPr>
          <p:cNvPr name="TextBox 11" id="11"/>
          <p:cNvSpPr txBox="true"/>
          <p:nvPr/>
        </p:nvSpPr>
        <p:spPr>
          <a:xfrm rot="0">
            <a:off x="1887657" y="2177134"/>
            <a:ext cx="9875110" cy="923928"/>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Kết quả đạt được</a:t>
            </a:r>
          </a:p>
        </p:txBody>
      </p:sp>
      <p:sp>
        <p:nvSpPr>
          <p:cNvPr name="TextBox 12" id="12"/>
          <p:cNvSpPr txBox="true"/>
          <p:nvPr/>
        </p:nvSpPr>
        <p:spPr>
          <a:xfrm rot="0">
            <a:off x="1488892" y="3070941"/>
            <a:ext cx="9131586" cy="5008818"/>
          </a:xfrm>
          <a:prstGeom prst="rect">
            <a:avLst/>
          </a:prstGeom>
        </p:spPr>
        <p:txBody>
          <a:bodyPr anchor="t" rtlCol="false" tIns="0" lIns="0" bIns="0" rIns="0">
            <a:spAutoFit/>
          </a:bodyPr>
          <a:lstStyle/>
          <a:p>
            <a:pPr algn="just" marL="755651" indent="-377825" lvl="1">
              <a:lnSpc>
                <a:spcPts val="6685"/>
              </a:lnSpc>
              <a:buFont typeface="Arial"/>
              <a:buChar char="•"/>
            </a:pPr>
            <a:r>
              <a:rPr lang="en-US" sz="3500">
                <a:solidFill>
                  <a:srgbClr val="000000"/>
                </a:solidFill>
                <a:latin typeface="Inter"/>
                <a:ea typeface="Inter"/>
                <a:cs typeface="Inter"/>
                <a:sym typeface="Inter"/>
              </a:rPr>
              <a:t>Hiểu rõ xu hướng tiêu dùng</a:t>
            </a:r>
          </a:p>
          <a:p>
            <a:pPr algn="just" marL="755651" indent="-377825" lvl="1">
              <a:lnSpc>
                <a:spcPts val="6685"/>
              </a:lnSpc>
              <a:buFont typeface="Arial"/>
              <a:buChar char="•"/>
            </a:pPr>
            <a:r>
              <a:rPr lang="en-US" sz="3500">
                <a:solidFill>
                  <a:srgbClr val="000000"/>
                </a:solidFill>
                <a:latin typeface="Inter"/>
                <a:ea typeface="Inter"/>
                <a:cs typeface="Inter"/>
                <a:sym typeface="Inter"/>
              </a:rPr>
              <a:t>Tối ưu hóa chiến lược định giá</a:t>
            </a:r>
          </a:p>
          <a:p>
            <a:pPr algn="just" marL="755651" indent="-377825" lvl="1">
              <a:lnSpc>
                <a:spcPts val="6685"/>
              </a:lnSpc>
              <a:buFont typeface="Arial"/>
              <a:buChar char="•"/>
            </a:pPr>
            <a:r>
              <a:rPr lang="en-US" sz="3500">
                <a:solidFill>
                  <a:srgbClr val="000000"/>
                </a:solidFill>
                <a:latin typeface="Inter"/>
                <a:ea typeface="Inter"/>
                <a:cs typeface="Inter"/>
                <a:sym typeface="Inter"/>
              </a:rPr>
              <a:t>Dự đoán xu hướng giá cả </a:t>
            </a:r>
          </a:p>
          <a:p>
            <a:pPr algn="just" marL="755651" indent="-377825" lvl="1">
              <a:lnSpc>
                <a:spcPts val="6685"/>
              </a:lnSpc>
              <a:buFont typeface="Arial"/>
              <a:buChar char="•"/>
            </a:pPr>
            <a:r>
              <a:rPr lang="en-US" sz="3500">
                <a:solidFill>
                  <a:srgbClr val="000000"/>
                </a:solidFill>
                <a:latin typeface="Inter"/>
                <a:ea typeface="Inter"/>
                <a:cs typeface="Inter"/>
                <a:sym typeface="Inter"/>
              </a:rPr>
              <a:t>Tăng cường các chiến dịch quảng cáo</a:t>
            </a:r>
          </a:p>
          <a:p>
            <a:pPr algn="just" marL="755651" indent="-377825" lvl="1">
              <a:lnSpc>
                <a:spcPts val="6685"/>
              </a:lnSpc>
              <a:buFont typeface="Arial"/>
              <a:buChar char="•"/>
            </a:pPr>
            <a:r>
              <a:rPr lang="en-US" sz="3500">
                <a:solidFill>
                  <a:srgbClr val="000000"/>
                </a:solidFill>
                <a:latin typeface="Inter"/>
                <a:ea typeface="Inter"/>
                <a:cs typeface="Inter"/>
                <a:sym typeface="Inter"/>
              </a:rPr>
              <a:t>Cân nhắc mức giá gốc hợp lý để tối ưu hóa lợi nhuận mà vẫn đảm bảo sức mua</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65</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085519" y="2307907"/>
            <a:ext cx="5561657" cy="5671186"/>
          </a:xfrm>
          <a:custGeom>
            <a:avLst/>
            <a:gdLst/>
            <a:ahLst/>
            <a:cxnLst/>
            <a:rect r="r" b="b" t="t" l="l"/>
            <a:pathLst>
              <a:path h="5671186" w="5561657">
                <a:moveTo>
                  <a:pt x="0" y="0"/>
                </a:moveTo>
                <a:lnTo>
                  <a:pt x="5561657" y="0"/>
                </a:lnTo>
                <a:lnTo>
                  <a:pt x="5561657" y="5671186"/>
                </a:lnTo>
                <a:lnTo>
                  <a:pt x="0" y="5671186"/>
                </a:lnTo>
                <a:lnTo>
                  <a:pt x="0" y="0"/>
                </a:lnTo>
                <a:close/>
              </a:path>
            </a:pathLst>
          </a:custGeom>
          <a:blipFill>
            <a:blip r:embed="rId6"/>
            <a:stretch>
              <a:fillRect l="0" t="0" r="0" b="0"/>
            </a:stretch>
          </a:blipFill>
        </p:spPr>
      </p:sp>
      <p:sp>
        <p:nvSpPr>
          <p:cNvPr name="TextBox 11" id="11"/>
          <p:cNvSpPr txBox="true"/>
          <p:nvPr/>
        </p:nvSpPr>
        <p:spPr>
          <a:xfrm rot="0">
            <a:off x="9361508" y="2328610"/>
            <a:ext cx="7192515" cy="923928"/>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Hạn chế</a:t>
            </a:r>
          </a:p>
        </p:txBody>
      </p:sp>
      <p:sp>
        <p:nvSpPr>
          <p:cNvPr name="TextBox 12" id="12"/>
          <p:cNvSpPr txBox="true"/>
          <p:nvPr/>
        </p:nvSpPr>
        <p:spPr>
          <a:xfrm rot="0">
            <a:off x="8955724" y="3330189"/>
            <a:ext cx="6557744" cy="4572704"/>
          </a:xfrm>
          <a:prstGeom prst="rect">
            <a:avLst/>
          </a:prstGeom>
        </p:spPr>
        <p:txBody>
          <a:bodyPr anchor="t" rtlCol="false" tIns="0" lIns="0" bIns="0" rIns="0">
            <a:spAutoFit/>
          </a:bodyPr>
          <a:lstStyle/>
          <a:p>
            <a:pPr algn="just" marL="755651" indent="-377825" lvl="1">
              <a:lnSpc>
                <a:spcPts val="7420"/>
              </a:lnSpc>
              <a:buFont typeface="Arial"/>
              <a:buChar char="•"/>
            </a:pPr>
            <a:r>
              <a:rPr lang="en-US" sz="3500">
                <a:solidFill>
                  <a:srgbClr val="000000"/>
                </a:solidFill>
                <a:latin typeface="Inter"/>
                <a:ea typeface="Inter"/>
                <a:cs typeface="Inter"/>
                <a:sym typeface="Inter"/>
              </a:rPr>
              <a:t>Giá trị ngoại lai có thể gây sai lệch khi phân tích và huấn luyện mô hình.</a:t>
            </a:r>
          </a:p>
          <a:p>
            <a:pPr algn="just" marL="755651" indent="-377825" lvl="1">
              <a:lnSpc>
                <a:spcPts val="7420"/>
              </a:lnSpc>
              <a:buFont typeface="Arial"/>
              <a:buChar char="•"/>
            </a:pPr>
            <a:r>
              <a:rPr lang="en-US" sz="3500">
                <a:solidFill>
                  <a:srgbClr val="000000"/>
                </a:solidFill>
                <a:latin typeface="Inter"/>
                <a:ea typeface="Inter"/>
                <a:cs typeface="Inter"/>
                <a:sym typeface="Inter"/>
              </a:rPr>
              <a:t>Dữ liệu hạn chế</a:t>
            </a:r>
          </a:p>
          <a:p>
            <a:pPr algn="just" marL="755651" indent="-377825" lvl="1">
              <a:lnSpc>
                <a:spcPts val="7420"/>
              </a:lnSpc>
              <a:buFont typeface="Arial"/>
              <a:buChar char="•"/>
            </a:pPr>
            <a:r>
              <a:rPr lang="en-US" sz="3500">
                <a:solidFill>
                  <a:srgbClr val="000000"/>
                </a:solidFill>
                <a:latin typeface="Inter"/>
                <a:ea typeface="Inter"/>
                <a:cs typeface="Inter"/>
                <a:sym typeface="Inter"/>
              </a:rPr>
              <a:t>Mô hình đơn giản</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66</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2014779" y="2109535"/>
            <a:ext cx="5963176" cy="5461466"/>
          </a:xfrm>
          <a:custGeom>
            <a:avLst/>
            <a:gdLst/>
            <a:ahLst/>
            <a:cxnLst/>
            <a:rect r="r" b="b" t="t" l="l"/>
            <a:pathLst>
              <a:path h="5461466" w="5963176">
                <a:moveTo>
                  <a:pt x="0" y="0"/>
                </a:moveTo>
                <a:lnTo>
                  <a:pt x="5963176" y="0"/>
                </a:lnTo>
                <a:lnTo>
                  <a:pt x="5963176" y="5461467"/>
                </a:lnTo>
                <a:lnTo>
                  <a:pt x="0" y="5461467"/>
                </a:lnTo>
                <a:lnTo>
                  <a:pt x="0" y="0"/>
                </a:lnTo>
                <a:close/>
              </a:path>
            </a:pathLst>
          </a:custGeom>
          <a:blipFill>
            <a:blip r:embed="rId6"/>
            <a:stretch>
              <a:fillRect l="0" t="0" r="0" b="0"/>
            </a:stretch>
          </a:blipFill>
        </p:spPr>
      </p:sp>
      <p:sp>
        <p:nvSpPr>
          <p:cNvPr name="TextBox 11" id="11"/>
          <p:cNvSpPr txBox="true"/>
          <p:nvPr/>
        </p:nvSpPr>
        <p:spPr>
          <a:xfrm rot="0">
            <a:off x="9144000" y="2537538"/>
            <a:ext cx="7192515" cy="923928"/>
          </a:xfrm>
          <a:prstGeom prst="rect">
            <a:avLst/>
          </a:prstGeom>
        </p:spPr>
        <p:txBody>
          <a:bodyPr anchor="t" rtlCol="false" tIns="0" lIns="0" bIns="0" rIns="0">
            <a:spAutoFit/>
          </a:bodyPr>
          <a:lstStyle/>
          <a:p>
            <a:pPr algn="l">
              <a:lnSpc>
                <a:spcPts val="6750"/>
              </a:lnSpc>
            </a:pPr>
            <a:r>
              <a:rPr lang="en-US" sz="7500" b="true">
                <a:solidFill>
                  <a:srgbClr val="2B7695"/>
                </a:solidFill>
                <a:latin typeface="Cormorant Garamond Bold"/>
                <a:ea typeface="Cormorant Garamond Bold"/>
                <a:cs typeface="Cormorant Garamond Bold"/>
                <a:sym typeface="Cormorant Garamond Bold"/>
              </a:rPr>
              <a:t>Hướng phát triển</a:t>
            </a:r>
          </a:p>
        </p:txBody>
      </p:sp>
      <p:sp>
        <p:nvSpPr>
          <p:cNvPr name="TextBox 12" id="12"/>
          <p:cNvSpPr txBox="true"/>
          <p:nvPr/>
        </p:nvSpPr>
        <p:spPr>
          <a:xfrm rot="0">
            <a:off x="9144000" y="3558263"/>
            <a:ext cx="6904568" cy="3639240"/>
          </a:xfrm>
          <a:prstGeom prst="rect">
            <a:avLst/>
          </a:prstGeom>
        </p:spPr>
        <p:txBody>
          <a:bodyPr anchor="t" rtlCol="false" tIns="0" lIns="0" bIns="0" rIns="0">
            <a:spAutoFit/>
          </a:bodyPr>
          <a:lstStyle/>
          <a:p>
            <a:pPr algn="just" marL="755651" indent="-377825" lvl="1">
              <a:lnSpc>
                <a:spcPts val="7420"/>
              </a:lnSpc>
              <a:buFont typeface="Arial"/>
              <a:buChar char="•"/>
            </a:pPr>
            <a:r>
              <a:rPr lang="en-US" sz="3500">
                <a:solidFill>
                  <a:srgbClr val="000000"/>
                </a:solidFill>
                <a:latin typeface="Inter"/>
                <a:ea typeface="Inter"/>
                <a:cs typeface="Inter"/>
                <a:sym typeface="Inter"/>
              </a:rPr>
              <a:t>Nâng cao chất lượng dữ liệu</a:t>
            </a:r>
          </a:p>
          <a:p>
            <a:pPr algn="just" marL="755651" indent="-377825" lvl="1">
              <a:lnSpc>
                <a:spcPts val="7420"/>
              </a:lnSpc>
              <a:buFont typeface="Arial"/>
              <a:buChar char="•"/>
            </a:pPr>
            <a:r>
              <a:rPr lang="en-US" sz="3500">
                <a:solidFill>
                  <a:srgbClr val="000000"/>
                </a:solidFill>
                <a:latin typeface="Inter"/>
                <a:ea typeface="Inter"/>
                <a:cs typeface="Inter"/>
                <a:sym typeface="Inter"/>
              </a:rPr>
              <a:t>Mở rộng ứng dụng</a:t>
            </a:r>
          </a:p>
          <a:p>
            <a:pPr algn="just" marL="755651" indent="-377825" lvl="1">
              <a:lnSpc>
                <a:spcPts val="7420"/>
              </a:lnSpc>
              <a:buFont typeface="Arial"/>
              <a:buChar char="•"/>
            </a:pPr>
            <a:r>
              <a:rPr lang="en-US" sz="3500">
                <a:solidFill>
                  <a:srgbClr val="000000"/>
                </a:solidFill>
                <a:latin typeface="Inter"/>
                <a:ea typeface="Inter"/>
                <a:cs typeface="Inter"/>
                <a:sym typeface="Inter"/>
              </a:rPr>
              <a:t>Cải tiến mô hình</a:t>
            </a:r>
          </a:p>
          <a:p>
            <a:pPr algn="just" marL="755651" indent="-377825" lvl="1">
              <a:lnSpc>
                <a:spcPts val="7420"/>
              </a:lnSpc>
              <a:buFont typeface="Arial"/>
              <a:buChar char="•"/>
            </a:pPr>
            <a:r>
              <a:rPr lang="en-US" sz="3500">
                <a:solidFill>
                  <a:srgbClr val="000000"/>
                </a:solidFill>
                <a:latin typeface="Inter"/>
                <a:ea typeface="Inter"/>
                <a:cs typeface="Inter"/>
                <a:sym typeface="Inter"/>
              </a:rPr>
              <a:t>Mở rộng phạm vi phân tích</a:t>
            </a:r>
          </a:p>
        </p:txBody>
      </p:sp>
      <p:sp>
        <p:nvSpPr>
          <p:cNvPr name="TextBox 13" id="13"/>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67</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BCE6E9"/>
        </a:solidFill>
      </p:bgPr>
    </p:bg>
    <p:spTree>
      <p:nvGrpSpPr>
        <p:cNvPr id="1" name=""/>
        <p:cNvGrpSpPr/>
        <p:nvPr/>
      </p:nvGrpSpPr>
      <p:grpSpPr>
        <a:xfrm>
          <a:off x="0" y="0"/>
          <a:ext cx="0" cy="0"/>
          <a:chOff x="0" y="0"/>
          <a:chExt cx="0" cy="0"/>
        </a:xfrm>
      </p:grpSpPr>
      <p:grpSp>
        <p:nvGrpSpPr>
          <p:cNvPr name="Group 2" id="2"/>
          <p:cNvGrpSpPr/>
          <p:nvPr/>
        </p:nvGrpSpPr>
        <p:grpSpPr>
          <a:xfrm rot="0">
            <a:off x="-803713" y="6825534"/>
            <a:ext cx="12004789" cy="4503088"/>
            <a:chOff x="0" y="0"/>
            <a:chExt cx="3161755" cy="1185998"/>
          </a:xfrm>
        </p:grpSpPr>
        <p:sp>
          <p:nvSpPr>
            <p:cNvPr name="Freeform 3" id="3"/>
            <p:cNvSpPr/>
            <p:nvPr/>
          </p:nvSpPr>
          <p:spPr>
            <a:xfrm flipH="false" flipV="false" rot="0">
              <a:off x="0" y="0"/>
              <a:ext cx="3161755" cy="1185998"/>
            </a:xfrm>
            <a:custGeom>
              <a:avLst/>
              <a:gdLst/>
              <a:ahLst/>
              <a:cxnLst/>
              <a:rect r="r" b="b" t="t" l="l"/>
              <a:pathLst>
                <a:path h="1185998" w="3161755">
                  <a:moveTo>
                    <a:pt x="0" y="0"/>
                  </a:moveTo>
                  <a:lnTo>
                    <a:pt x="3161755" y="0"/>
                  </a:lnTo>
                  <a:lnTo>
                    <a:pt x="3161755" y="1185998"/>
                  </a:lnTo>
                  <a:lnTo>
                    <a:pt x="0" y="1185998"/>
                  </a:lnTo>
                  <a:close/>
                </a:path>
              </a:pathLst>
            </a:custGeom>
            <a:solidFill>
              <a:srgbClr val="FBE099"/>
            </a:solidFill>
          </p:spPr>
        </p:sp>
        <p:sp>
          <p:nvSpPr>
            <p:cNvPr name="TextBox 4" id="4"/>
            <p:cNvSpPr txBox="true"/>
            <p:nvPr/>
          </p:nvSpPr>
          <p:spPr>
            <a:xfrm>
              <a:off x="0" y="-38100"/>
              <a:ext cx="3161755" cy="122409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9608413" y="1575404"/>
            <a:ext cx="11810110" cy="10500261"/>
          </a:xfrm>
          <a:custGeom>
            <a:avLst/>
            <a:gdLst/>
            <a:ahLst/>
            <a:cxnLst/>
            <a:rect r="r" b="b" t="t" l="l"/>
            <a:pathLst>
              <a:path h="10500261" w="11810110">
                <a:moveTo>
                  <a:pt x="0" y="0"/>
                </a:moveTo>
                <a:lnTo>
                  <a:pt x="11810110" y="0"/>
                </a:lnTo>
                <a:lnTo>
                  <a:pt x="11810110" y="10500261"/>
                </a:lnTo>
                <a:lnTo>
                  <a:pt x="0" y="10500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3130523" y="-1788665"/>
            <a:ext cx="11810110" cy="10500261"/>
          </a:xfrm>
          <a:custGeom>
            <a:avLst/>
            <a:gdLst/>
            <a:ahLst/>
            <a:cxnLst/>
            <a:rect r="r" b="b" t="t" l="l"/>
            <a:pathLst>
              <a:path h="10500261" w="11810110">
                <a:moveTo>
                  <a:pt x="11810110" y="10500261"/>
                </a:moveTo>
                <a:lnTo>
                  <a:pt x="0" y="10500261"/>
                </a:lnTo>
                <a:lnTo>
                  <a:pt x="0" y="0"/>
                </a:lnTo>
                <a:lnTo>
                  <a:pt x="11810110" y="0"/>
                </a:lnTo>
                <a:lnTo>
                  <a:pt x="11810110" y="10500261"/>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0859" y="1218259"/>
            <a:ext cx="17186281" cy="7850482"/>
            <a:chOff x="0" y="0"/>
            <a:chExt cx="4728203" cy="2159785"/>
          </a:xfrm>
        </p:grpSpPr>
        <p:sp>
          <p:nvSpPr>
            <p:cNvPr name="Freeform 8" id="8"/>
            <p:cNvSpPr/>
            <p:nvPr/>
          </p:nvSpPr>
          <p:spPr>
            <a:xfrm flipH="false" flipV="false" rot="0">
              <a:off x="0" y="0"/>
              <a:ext cx="4728203" cy="2159785"/>
            </a:xfrm>
            <a:custGeom>
              <a:avLst/>
              <a:gdLst/>
              <a:ahLst/>
              <a:cxnLst/>
              <a:rect r="r" b="b" t="t" l="l"/>
              <a:pathLst>
                <a:path h="2159785" w="4728203">
                  <a:moveTo>
                    <a:pt x="45047" y="0"/>
                  </a:moveTo>
                  <a:lnTo>
                    <a:pt x="4683156" y="0"/>
                  </a:lnTo>
                  <a:cubicBezTo>
                    <a:pt x="4708035" y="0"/>
                    <a:pt x="4728203" y="20168"/>
                    <a:pt x="4728203" y="45047"/>
                  </a:cubicBezTo>
                  <a:lnTo>
                    <a:pt x="4728203" y="2114738"/>
                  </a:lnTo>
                  <a:cubicBezTo>
                    <a:pt x="4728203" y="2126685"/>
                    <a:pt x="4723457" y="2138143"/>
                    <a:pt x="4715009" y="2146591"/>
                  </a:cubicBezTo>
                  <a:cubicBezTo>
                    <a:pt x="4706561" y="2155039"/>
                    <a:pt x="4695103" y="2159785"/>
                    <a:pt x="4683156" y="2159785"/>
                  </a:cubicBezTo>
                  <a:lnTo>
                    <a:pt x="45047" y="2159785"/>
                  </a:lnTo>
                  <a:cubicBezTo>
                    <a:pt x="33100" y="2159785"/>
                    <a:pt x="21642" y="2155039"/>
                    <a:pt x="13194" y="2146591"/>
                  </a:cubicBezTo>
                  <a:cubicBezTo>
                    <a:pt x="4746" y="2138143"/>
                    <a:pt x="0" y="2126685"/>
                    <a:pt x="0" y="2114738"/>
                  </a:cubicBezTo>
                  <a:lnTo>
                    <a:pt x="0" y="45047"/>
                  </a:lnTo>
                  <a:cubicBezTo>
                    <a:pt x="0" y="20168"/>
                    <a:pt x="20168" y="0"/>
                    <a:pt x="45047" y="0"/>
                  </a:cubicBezTo>
                  <a:close/>
                </a:path>
              </a:pathLst>
            </a:custGeom>
            <a:solidFill>
              <a:srgbClr val="FFFFFF"/>
            </a:solidFill>
            <a:ln cap="rnd">
              <a:noFill/>
              <a:prstDash val="solid"/>
              <a:round/>
            </a:ln>
          </p:spPr>
        </p:sp>
        <p:sp>
          <p:nvSpPr>
            <p:cNvPr name="TextBox 9" id="9"/>
            <p:cNvSpPr txBox="true"/>
            <p:nvPr/>
          </p:nvSpPr>
          <p:spPr>
            <a:xfrm>
              <a:off x="0" y="-38100"/>
              <a:ext cx="4728203" cy="21978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153145" y="4049888"/>
            <a:ext cx="13981710" cy="2851359"/>
          </a:xfrm>
          <a:prstGeom prst="rect">
            <a:avLst/>
          </a:prstGeom>
        </p:spPr>
        <p:txBody>
          <a:bodyPr anchor="t" rtlCol="false" tIns="0" lIns="0" bIns="0" rIns="0">
            <a:spAutoFit/>
          </a:bodyPr>
          <a:lstStyle/>
          <a:p>
            <a:pPr algn="ctr">
              <a:lnSpc>
                <a:spcPts val="20720"/>
              </a:lnSpc>
            </a:pPr>
            <a:r>
              <a:rPr lang="en-US" sz="23022" b="true">
                <a:solidFill>
                  <a:srgbClr val="2B7695"/>
                </a:solidFill>
                <a:latin typeface="Cormorant Garamond Bold"/>
                <a:ea typeface="Cormorant Garamond Bold"/>
                <a:cs typeface="Cormorant Garamond Bold"/>
                <a:sym typeface="Cormorant Garamond Bold"/>
              </a:rPr>
              <a:t>Thank You</a:t>
            </a:r>
          </a:p>
        </p:txBody>
      </p:sp>
      <p:grpSp>
        <p:nvGrpSpPr>
          <p:cNvPr name="Group 11" id="11"/>
          <p:cNvGrpSpPr/>
          <p:nvPr/>
        </p:nvGrpSpPr>
        <p:grpSpPr>
          <a:xfrm rot="0">
            <a:off x="5531519" y="6901267"/>
            <a:ext cx="7224962" cy="782714"/>
            <a:chOff x="0" y="0"/>
            <a:chExt cx="1707766" cy="185010"/>
          </a:xfrm>
        </p:grpSpPr>
        <p:sp>
          <p:nvSpPr>
            <p:cNvPr name="Freeform 12" id="12"/>
            <p:cNvSpPr/>
            <p:nvPr/>
          </p:nvSpPr>
          <p:spPr>
            <a:xfrm flipH="false" flipV="false" rot="0">
              <a:off x="0" y="0"/>
              <a:ext cx="1707766" cy="185010"/>
            </a:xfrm>
            <a:custGeom>
              <a:avLst/>
              <a:gdLst/>
              <a:ahLst/>
              <a:cxnLst/>
              <a:rect r="r" b="b" t="t" l="l"/>
              <a:pathLst>
                <a:path h="185010" w="1707766">
                  <a:moveTo>
                    <a:pt x="56792" y="0"/>
                  </a:moveTo>
                  <a:lnTo>
                    <a:pt x="1650974" y="0"/>
                  </a:lnTo>
                  <a:cubicBezTo>
                    <a:pt x="1682339" y="0"/>
                    <a:pt x="1707766" y="25427"/>
                    <a:pt x="1707766" y="56792"/>
                  </a:cubicBezTo>
                  <a:lnTo>
                    <a:pt x="1707766" y="128218"/>
                  </a:lnTo>
                  <a:cubicBezTo>
                    <a:pt x="1707766" y="143280"/>
                    <a:pt x="1701783" y="157726"/>
                    <a:pt x="1691132" y="168376"/>
                  </a:cubicBezTo>
                  <a:cubicBezTo>
                    <a:pt x="1680481" y="179027"/>
                    <a:pt x="1666036" y="185010"/>
                    <a:pt x="1650974" y="185010"/>
                  </a:cubicBezTo>
                  <a:lnTo>
                    <a:pt x="56792" y="185010"/>
                  </a:lnTo>
                  <a:cubicBezTo>
                    <a:pt x="25427" y="185010"/>
                    <a:pt x="0" y="159584"/>
                    <a:pt x="0" y="128218"/>
                  </a:cubicBezTo>
                  <a:lnTo>
                    <a:pt x="0" y="56792"/>
                  </a:lnTo>
                  <a:cubicBezTo>
                    <a:pt x="0" y="25427"/>
                    <a:pt x="25427" y="0"/>
                    <a:pt x="56792" y="0"/>
                  </a:cubicBezTo>
                  <a:close/>
                </a:path>
              </a:pathLst>
            </a:custGeom>
            <a:solidFill>
              <a:srgbClr val="FBE099"/>
            </a:solidFill>
          </p:spPr>
        </p:sp>
        <p:sp>
          <p:nvSpPr>
            <p:cNvPr name="TextBox 13" id="13"/>
            <p:cNvSpPr txBox="true"/>
            <p:nvPr/>
          </p:nvSpPr>
          <p:spPr>
            <a:xfrm>
              <a:off x="0" y="-38100"/>
              <a:ext cx="1707766" cy="22311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3176233" y="7189730"/>
            <a:ext cx="823155" cy="205789"/>
          </a:xfrm>
          <a:custGeom>
            <a:avLst/>
            <a:gdLst/>
            <a:ahLst/>
            <a:cxnLst/>
            <a:rect r="r" b="b" t="t" l="l"/>
            <a:pathLst>
              <a:path h="205789" w="823155">
                <a:moveTo>
                  <a:pt x="0" y="0"/>
                </a:moveTo>
                <a:lnTo>
                  <a:pt x="823154" y="0"/>
                </a:lnTo>
                <a:lnTo>
                  <a:pt x="823154" y="205788"/>
                </a:lnTo>
                <a:lnTo>
                  <a:pt x="0" y="2057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4288613" y="7189730"/>
            <a:ext cx="823155" cy="205789"/>
          </a:xfrm>
          <a:custGeom>
            <a:avLst/>
            <a:gdLst/>
            <a:ahLst/>
            <a:cxnLst/>
            <a:rect r="r" b="b" t="t" l="l"/>
            <a:pathLst>
              <a:path h="205789" w="823155">
                <a:moveTo>
                  <a:pt x="0" y="0"/>
                </a:moveTo>
                <a:lnTo>
                  <a:pt x="823154" y="0"/>
                </a:lnTo>
                <a:lnTo>
                  <a:pt x="823154" y="205788"/>
                </a:lnTo>
                <a:lnTo>
                  <a:pt x="0" y="2057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6915434" y="2644780"/>
            <a:ext cx="614649" cy="627193"/>
          </a:xfrm>
          <a:custGeom>
            <a:avLst/>
            <a:gdLst/>
            <a:ahLst/>
            <a:cxnLst/>
            <a:rect r="r" b="b" t="t" l="l"/>
            <a:pathLst>
              <a:path h="627193" w="614649">
                <a:moveTo>
                  <a:pt x="0" y="0"/>
                </a:moveTo>
                <a:lnTo>
                  <a:pt x="614649" y="0"/>
                </a:lnTo>
                <a:lnTo>
                  <a:pt x="614649" y="627193"/>
                </a:lnTo>
                <a:lnTo>
                  <a:pt x="0" y="6271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5531519" y="7088263"/>
            <a:ext cx="7224962" cy="424030"/>
          </a:xfrm>
          <a:prstGeom prst="rect">
            <a:avLst/>
          </a:prstGeom>
        </p:spPr>
        <p:txBody>
          <a:bodyPr anchor="t" rtlCol="false" tIns="0" lIns="0" bIns="0" rIns="0">
            <a:spAutoFit/>
          </a:bodyPr>
          <a:lstStyle/>
          <a:p>
            <a:pPr algn="ctr">
              <a:lnSpc>
                <a:spcPts val="3244"/>
              </a:lnSpc>
            </a:pPr>
            <a:r>
              <a:rPr lang="en-US" sz="3277" b="true">
                <a:solidFill>
                  <a:srgbClr val="161613"/>
                </a:solidFill>
                <a:latin typeface="Nunito Ultra-Bold"/>
                <a:ea typeface="Nunito Ultra-Bold"/>
                <a:cs typeface="Nunito Ultra-Bold"/>
                <a:sym typeface="Nunito Ultra-Bold"/>
              </a:rPr>
              <a:t>To everyone who is present here</a:t>
            </a:r>
          </a:p>
        </p:txBody>
      </p:sp>
      <p:sp>
        <p:nvSpPr>
          <p:cNvPr name="TextBox 18" id="18"/>
          <p:cNvSpPr txBox="true"/>
          <p:nvPr/>
        </p:nvSpPr>
        <p:spPr>
          <a:xfrm rot="0">
            <a:off x="7741546" y="2733641"/>
            <a:ext cx="3562639" cy="544738"/>
          </a:xfrm>
          <a:prstGeom prst="rect">
            <a:avLst/>
          </a:prstGeom>
        </p:spPr>
        <p:txBody>
          <a:bodyPr anchor="t" rtlCol="false" tIns="0" lIns="0" bIns="0" rIns="0">
            <a:spAutoFit/>
          </a:bodyPr>
          <a:lstStyle/>
          <a:p>
            <a:pPr algn="ctr">
              <a:lnSpc>
                <a:spcPts val="4219"/>
              </a:lnSpc>
            </a:pPr>
            <a:r>
              <a:rPr lang="en-US" sz="4262" b="true">
                <a:solidFill>
                  <a:srgbClr val="161613"/>
                </a:solidFill>
                <a:latin typeface="Nunito Ultra-Bold"/>
                <a:ea typeface="Nunito Ultra-Bold"/>
                <a:cs typeface="Nunito Ultra-Bold"/>
                <a:sym typeface="Nunito Ultra-Bold"/>
              </a:rPr>
              <a:t>Nhóm 8</a:t>
            </a:r>
          </a:p>
        </p:txBody>
      </p:sp>
      <p:sp>
        <p:nvSpPr>
          <p:cNvPr name="Freeform 19" id="19"/>
          <p:cNvSpPr/>
          <p:nvPr/>
        </p:nvSpPr>
        <p:spPr>
          <a:xfrm flipH="false" flipV="false" rot="0">
            <a:off x="12123546" y="2681722"/>
            <a:ext cx="1122953" cy="553309"/>
          </a:xfrm>
          <a:custGeom>
            <a:avLst/>
            <a:gdLst/>
            <a:ahLst/>
            <a:cxnLst/>
            <a:rect r="r" b="b" t="t" l="l"/>
            <a:pathLst>
              <a:path h="553309" w="1122953">
                <a:moveTo>
                  <a:pt x="0" y="0"/>
                </a:moveTo>
                <a:lnTo>
                  <a:pt x="1122953" y="0"/>
                </a:lnTo>
                <a:lnTo>
                  <a:pt x="1122953" y="553309"/>
                </a:lnTo>
                <a:lnTo>
                  <a:pt x="0" y="5533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true" flipV="false" rot="0">
            <a:off x="5041501" y="2681722"/>
            <a:ext cx="1122953" cy="553309"/>
          </a:xfrm>
          <a:custGeom>
            <a:avLst/>
            <a:gdLst/>
            <a:ahLst/>
            <a:cxnLst/>
            <a:rect r="r" b="b" t="t" l="l"/>
            <a:pathLst>
              <a:path h="553309" w="1122953">
                <a:moveTo>
                  <a:pt x="1122953" y="0"/>
                </a:moveTo>
                <a:lnTo>
                  <a:pt x="0" y="0"/>
                </a:lnTo>
                <a:lnTo>
                  <a:pt x="0" y="553309"/>
                </a:lnTo>
                <a:lnTo>
                  <a:pt x="1122953" y="553309"/>
                </a:lnTo>
                <a:lnTo>
                  <a:pt x="1122953"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17558057" y="9532633"/>
            <a:ext cx="152400" cy="228600"/>
          </a:xfrm>
          <a:prstGeom prst="rect">
            <a:avLst/>
          </a:prstGeom>
        </p:spPr>
        <p:txBody>
          <a:bodyPr anchor="t" rtlCol="false" tIns="0" lIns="0" bIns="0" rIns="0" wrap="none">
            <a:spAutoFit/>
          </a:bodyPr>
          <a:lstStyle/>
          <a:p>
            <a:pPr algn="ctr">
              <a:lnSpc>
                <a:spcPts val="5599"/>
              </a:lnSpc>
              <a:spcBef>
                <a:spcPct val="0"/>
              </a:spcBef>
            </a:pPr>
            <a:r>
              <a:rPr lang="en-US" sz="3999">
                <a:solidFill>
                  <a:srgbClr val="FFFFFF"/>
                </a:solidFill>
                <a:latin typeface="Noto Serif Display"/>
                <a:ea typeface="Noto Serif Display"/>
                <a:cs typeface="Noto Serif Display"/>
                <a:sym typeface="Noto Serif Display"/>
              </a:rPr>
              <a:t>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DAGZLxb3O-g</dc:identifier>
  <dcterms:modified xsi:type="dcterms:W3CDTF">2011-08-01T06:04:30Z</dcterms:modified>
  <cp:revision>1</cp:revision>
  <dc:title>Blue and Yellow Organic Illustration The Role of Foreign Investment Presentation</dc:title>
</cp:coreProperties>
</file>